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9" r:id="rId4"/>
    <p:sldId id="269" r:id="rId5"/>
    <p:sldId id="304" r:id="rId6"/>
    <p:sldId id="260" r:id="rId7"/>
    <p:sldId id="272" r:id="rId8"/>
    <p:sldId id="273" r:id="rId9"/>
    <p:sldId id="274" r:id="rId10"/>
    <p:sldId id="319" r:id="rId11"/>
    <p:sldId id="308" r:id="rId12"/>
    <p:sldId id="262" r:id="rId13"/>
    <p:sldId id="282" r:id="rId14"/>
    <p:sldId id="283" r:id="rId15"/>
    <p:sldId id="284" r:id="rId16"/>
    <p:sldId id="285" r:id="rId17"/>
    <p:sldId id="286" r:id="rId18"/>
    <p:sldId id="264" r:id="rId19"/>
    <p:sldId id="287" r:id="rId20"/>
    <p:sldId id="288" r:id="rId21"/>
    <p:sldId id="265" r:id="rId22"/>
    <p:sldId id="291" r:id="rId23"/>
    <p:sldId id="292" r:id="rId24"/>
    <p:sldId id="293" r:id="rId25"/>
    <p:sldId id="294" r:id="rId26"/>
    <p:sldId id="266" r:id="rId27"/>
    <p:sldId id="295" r:id="rId28"/>
    <p:sldId id="296" r:id="rId29"/>
    <p:sldId id="311" r:id="rId30"/>
    <p:sldId id="297" r:id="rId31"/>
    <p:sldId id="267" r:id="rId32"/>
    <p:sldId id="298" r:id="rId33"/>
    <p:sldId id="299" r:id="rId34"/>
    <p:sldId id="300" r:id="rId35"/>
    <p:sldId id="316" r:id="rId36"/>
    <p:sldId id="268" r:id="rId37"/>
    <p:sldId id="301" r:id="rId38"/>
    <p:sldId id="318" r:id="rId39"/>
    <p:sldId id="302" r:id="rId40"/>
    <p:sldId id="317" r:id="rId41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43"/>
    </p:embeddedFont>
    <p:embeddedFont>
      <p:font typeface="Helvetica Neue" panose="020B0604020202020204" charset="0"/>
      <p:regular r:id="rId44"/>
      <p:bold r:id="rId45"/>
      <p:italic r:id="rId46"/>
      <p:boldItalic r:id="rId47"/>
    </p:embeddedFont>
    <p:embeddedFont>
      <p:font typeface="Helvetica" panose="020B060402020202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66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F4EEB-9E3A-1D77-6BCB-361AF3733D39}" v="18" dt="2023-08-28T06:55:48.693"/>
  </p1510:revLst>
</p1510:revInfo>
</file>

<file path=ppt/tableStyles.xml><?xml version="1.0" encoding="utf-8"?>
<a:tblStyleLst xmlns:a="http://schemas.openxmlformats.org/drawingml/2006/main" def="{578D327A-D4A4-4160-9BAD-CE66B4452F15}">
  <a:tblStyle styleId="{578D327A-D4A4-4160-9BAD-CE66B4452F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7" autoAdjust="0"/>
    <p:restoredTop sz="77764" autoAdjust="0"/>
  </p:normalViewPr>
  <p:slideViewPr>
    <p:cSldViewPr snapToGrid="0">
      <p:cViewPr varScale="1">
        <p:scale>
          <a:sx n="86" d="100"/>
          <a:sy n="86" d="100"/>
        </p:scale>
        <p:origin x="119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ableStyles" Target="tableStyles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SPANJALI GHOSHAL" userId="S::g.puspanjali@iitg.ac.in::e1744c29-695f-45d9-84bb-2d92beeb5066" providerId="AD" clId="Web-{702F4EEB-9E3A-1D77-6BCB-361AF3733D39}"/>
    <pc:docChg chg="modSld">
      <pc:chgData name="PUSPANJALI GHOSHAL" userId="S::g.puspanjali@iitg.ac.in::e1744c29-695f-45d9-84bb-2d92beeb5066" providerId="AD" clId="Web-{702F4EEB-9E3A-1D77-6BCB-361AF3733D39}" dt="2023-08-28T06:55:48.693" v="7" actId="20577"/>
      <pc:docMkLst>
        <pc:docMk/>
      </pc:docMkLst>
      <pc:sldChg chg="modSp">
        <pc:chgData name="PUSPANJALI GHOSHAL" userId="S::g.puspanjali@iitg.ac.in::e1744c29-695f-45d9-84bb-2d92beeb5066" providerId="AD" clId="Web-{702F4EEB-9E3A-1D77-6BCB-361AF3733D39}" dt="2023-08-28T06:54:45.552" v="0" actId="20577"/>
        <pc:sldMkLst>
          <pc:docMk/>
          <pc:sldMk cId="1088370361" sldId="280"/>
        </pc:sldMkLst>
        <pc:spChg chg="mod">
          <ac:chgData name="PUSPANJALI GHOSHAL" userId="S::g.puspanjali@iitg.ac.in::e1744c29-695f-45d9-84bb-2d92beeb5066" providerId="AD" clId="Web-{702F4EEB-9E3A-1D77-6BCB-361AF3733D39}" dt="2023-08-28T06:54:45.552" v="0" actId="20577"/>
          <ac:spMkLst>
            <pc:docMk/>
            <pc:sldMk cId="1088370361" sldId="280"/>
            <ac:spMk id="3" creationId="{00000000-0000-0000-0000-000000000000}"/>
          </ac:spMkLst>
        </pc:spChg>
      </pc:sldChg>
      <pc:sldChg chg="modSp">
        <pc:chgData name="PUSPANJALI GHOSHAL" userId="S::g.puspanjali@iitg.ac.in::e1744c29-695f-45d9-84bb-2d92beeb5066" providerId="AD" clId="Web-{702F4EEB-9E3A-1D77-6BCB-361AF3733D39}" dt="2023-08-28T06:55:12.239" v="3" actId="20577"/>
        <pc:sldMkLst>
          <pc:docMk/>
          <pc:sldMk cId="2785843927" sldId="287"/>
        </pc:sldMkLst>
        <pc:spChg chg="mod">
          <ac:chgData name="PUSPANJALI GHOSHAL" userId="S::g.puspanjali@iitg.ac.in::e1744c29-695f-45d9-84bb-2d92beeb5066" providerId="AD" clId="Web-{702F4EEB-9E3A-1D77-6BCB-361AF3733D39}" dt="2023-08-28T06:55:12.239" v="3" actId="20577"/>
          <ac:spMkLst>
            <pc:docMk/>
            <pc:sldMk cId="2785843927" sldId="287"/>
            <ac:spMk id="2" creationId="{00000000-0000-0000-0000-000000000000}"/>
          </ac:spMkLst>
        </pc:spChg>
      </pc:sldChg>
      <pc:sldChg chg="modSp">
        <pc:chgData name="PUSPANJALI GHOSHAL" userId="S::g.puspanjali@iitg.ac.in::e1744c29-695f-45d9-84bb-2d92beeb5066" providerId="AD" clId="Web-{702F4EEB-9E3A-1D77-6BCB-361AF3733D39}" dt="2023-08-28T06:55:25.458" v="5" actId="20577"/>
        <pc:sldMkLst>
          <pc:docMk/>
          <pc:sldMk cId="3820318078" sldId="289"/>
        </pc:sldMkLst>
        <pc:spChg chg="mod">
          <ac:chgData name="PUSPANJALI GHOSHAL" userId="S::g.puspanjali@iitg.ac.in::e1744c29-695f-45d9-84bb-2d92beeb5066" providerId="AD" clId="Web-{702F4EEB-9E3A-1D77-6BCB-361AF3733D39}" dt="2023-08-28T06:55:25.458" v="5" actId="20577"/>
          <ac:spMkLst>
            <pc:docMk/>
            <pc:sldMk cId="3820318078" sldId="289"/>
            <ac:spMk id="2" creationId="{00000000-0000-0000-0000-000000000000}"/>
          </ac:spMkLst>
        </pc:spChg>
      </pc:sldChg>
      <pc:sldChg chg="modSp">
        <pc:chgData name="PUSPANJALI GHOSHAL" userId="S::g.puspanjali@iitg.ac.in::e1744c29-695f-45d9-84bb-2d92beeb5066" providerId="AD" clId="Web-{702F4EEB-9E3A-1D77-6BCB-361AF3733D39}" dt="2023-08-28T06:55:48.693" v="7" actId="20577"/>
        <pc:sldMkLst>
          <pc:docMk/>
          <pc:sldMk cId="2909213321" sldId="296"/>
        </pc:sldMkLst>
        <pc:spChg chg="mod">
          <ac:chgData name="PUSPANJALI GHOSHAL" userId="S::g.puspanjali@iitg.ac.in::e1744c29-695f-45d9-84bb-2d92beeb5066" providerId="AD" clId="Web-{702F4EEB-9E3A-1D77-6BCB-361AF3733D39}" dt="2023-08-28T06:55:48.693" v="7" actId="20577"/>
          <ac:spMkLst>
            <pc:docMk/>
            <pc:sldMk cId="2909213321" sldId="29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0747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39d9d1c90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39d9d1c90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136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39d9d1c90f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39d9d1c90f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110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eaLnBrk="1" hangingPunct="1">
              <a:buNone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6154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796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520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96919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57598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aseline="0" dirty="0" smtClean="0"/>
              <a:t>.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90527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657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3615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254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2927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929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210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4102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658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206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162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267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02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5460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308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870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0464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6020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93090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4384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US" sz="1200" b="1" dirty="0" smtClean="0"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58721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1066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eaLnBrk="1" hangingPunct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2586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9699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5767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48" charset="-128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8227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726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8053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99814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0831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39d9d1c90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39d9d1c90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4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30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8" name="Google Shape;58;p8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699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7" r:id="rId4"/>
    <p:sldLayoutId id="214748366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Bachelor of Science (Honours) in Data Science and Artificial Intelligence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 104, C programming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types and Macros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Fundamental data types</a:t>
            </a:r>
            <a:br>
              <a:rPr lang="en-IN" dirty="0"/>
            </a:br>
            <a:r>
              <a:rPr lang="en-IN" sz="1800" dirty="0"/>
              <a:t>Functionality of data types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33593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699" y="1208738"/>
            <a:ext cx="6864955" cy="2471722"/>
          </a:xfrm>
        </p:spPr>
        <p:txBody>
          <a:bodyPr>
            <a:normAutofit lnSpcReduction="10000"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Data type of an identifier defines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Space occupied in memory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How bit pattern is stored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</a:rPr>
              <a:t>Operations allowed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dirty="0" smtClean="0">
              <a:solidFill>
                <a:schemeClr val="bg2">
                  <a:lumMod val="75000"/>
                </a:schemeClr>
              </a:solidFill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+mn-ea"/>
                <a:cs typeface="+mn-cs"/>
              </a:rPr>
              <a:t>Data types can be broadly divided into two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+mn-ea"/>
                <a:cs typeface="+mn-cs"/>
              </a:rPr>
              <a:t>Fundamental data type</a:t>
            </a:r>
          </a:p>
          <a:p>
            <a:pPr marL="1257300" lvl="2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+mn-ea"/>
                <a:cs typeface="+mn-cs"/>
              </a:rPr>
              <a:t>char, </a:t>
            </a:r>
            <a:r>
              <a:rPr lang="en-IN" dirty="0" err="1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+mn-ea"/>
                <a:cs typeface="+mn-cs"/>
              </a:rPr>
              <a:t>int</a:t>
            </a:r>
            <a:r>
              <a:rPr lang="en-IN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+mn-ea"/>
                <a:cs typeface="+mn-cs"/>
              </a:rPr>
              <a:t>, float, double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dirty="0" smtClean="0">
                <a:solidFill>
                  <a:schemeClr val="bg2">
                    <a:lumMod val="75000"/>
                  </a:schemeClr>
                </a:solidFill>
                <a:latin typeface="Helvetica Neue" panose="020B0604020202020204" charset="0"/>
                <a:ea typeface="+mn-ea"/>
                <a:cs typeface="+mn-cs"/>
              </a:rPr>
              <a:t>User-defined data type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dirty="0">
              <a:solidFill>
                <a:schemeClr val="bg2">
                  <a:lumMod val="75000"/>
                </a:schemeClr>
              </a:solidFill>
              <a:latin typeface="Helvetica Neue" panose="020B0604020202020204" charset="0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Data Types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6411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types by functionality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819647"/>
              </p:ext>
            </p:extLst>
          </p:nvPr>
        </p:nvGraphicFramePr>
        <p:xfrm>
          <a:off x="410093" y="1208738"/>
          <a:ext cx="6905108" cy="2464102"/>
        </p:xfrm>
        <a:graphic>
          <a:graphicData uri="http://schemas.openxmlformats.org/drawingml/2006/table">
            <a:tbl>
              <a:tblPr firstRow="1" bandRow="1">
                <a:tableStyleId>{578D327A-D4A4-4160-9BAD-CE66B4452F15}</a:tableStyleId>
              </a:tblPr>
              <a:tblGrid>
                <a:gridCol w="910219">
                  <a:extLst>
                    <a:ext uri="{9D8B030D-6E8A-4147-A177-3AD203B41FA5}">
                      <a16:colId xmlns:a16="http://schemas.microsoft.com/office/drawing/2014/main" val="3441182105"/>
                    </a:ext>
                  </a:extLst>
                </a:gridCol>
                <a:gridCol w="2437041">
                  <a:extLst>
                    <a:ext uri="{9D8B030D-6E8A-4147-A177-3AD203B41FA5}">
                      <a16:colId xmlns:a16="http://schemas.microsoft.com/office/drawing/2014/main" val="920286828"/>
                    </a:ext>
                  </a:extLst>
                </a:gridCol>
                <a:gridCol w="1916315">
                  <a:extLst>
                    <a:ext uri="{9D8B030D-6E8A-4147-A177-3AD203B41FA5}">
                      <a16:colId xmlns:a16="http://schemas.microsoft.com/office/drawing/2014/main" val="1610052524"/>
                    </a:ext>
                  </a:extLst>
                </a:gridCol>
                <a:gridCol w="1641533">
                  <a:extLst>
                    <a:ext uri="{9D8B030D-6E8A-4147-A177-3AD203B41FA5}">
                      <a16:colId xmlns:a16="http://schemas.microsoft.com/office/drawing/2014/main" val="785927274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Fundamental data types</a:t>
                      </a:r>
                      <a:endParaRPr lang="en-IN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2908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u="sng" dirty="0" smtClean="0"/>
                        <a:t>Integral data type</a:t>
                      </a:r>
                      <a:endParaRPr lang="en-IN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u="sng" dirty="0" smtClean="0"/>
                        <a:t>Floating data type</a:t>
                      </a:r>
                      <a:endParaRPr lang="en-IN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809462"/>
                  </a:ext>
                </a:extLst>
              </a:tr>
              <a:tr h="609902">
                <a:tc>
                  <a:txBody>
                    <a:bodyPr/>
                    <a:lstStyle/>
                    <a:p>
                      <a:r>
                        <a:rPr lang="en-IN" dirty="0" smtClean="0"/>
                        <a:t>char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char(1), unsigned char(1), signed</a:t>
                      </a:r>
                      <a:r>
                        <a:rPr lang="en-IN" baseline="0" dirty="0" smtClean="0"/>
                        <a:t> char (1)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Single precision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float(4)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017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short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short(2), unsigned short(2)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double precision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double(8)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01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int</a:t>
                      </a:r>
                      <a:r>
                        <a:rPr lang="en-IN" dirty="0" smtClean="0"/>
                        <a:t>(4), unsigned(4)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enhanced precision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long double(16)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60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long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long(80</a:t>
                      </a:r>
                      <a:r>
                        <a:rPr lang="en-IN" baseline="0" dirty="0" smtClean="0"/>
                        <a:t>), unsigned long(8)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030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18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Fundamental data types</a:t>
            </a:r>
            <a:br>
              <a:rPr lang="en-IN" dirty="0"/>
            </a:br>
            <a:r>
              <a:rPr lang="en-IN" sz="1800" dirty="0"/>
              <a:t>Characters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7403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699" y="1208738"/>
            <a:ext cx="6864955" cy="1714571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1600" dirty="0"/>
              <a:t>Includes lower and upper case letters, digits, punctuation and special characters.</a:t>
            </a:r>
          </a:p>
          <a:p>
            <a:endParaRPr lang="en-US" altLang="en-US" sz="1600" dirty="0"/>
          </a:p>
          <a:p>
            <a:r>
              <a:rPr lang="en-US" altLang="en-US" sz="1600" dirty="0"/>
              <a:t>Size of a character is 1 byte.</a:t>
            </a:r>
          </a:p>
          <a:p>
            <a:endParaRPr lang="en-US" altLang="en-US" sz="1600" dirty="0"/>
          </a:p>
          <a:p>
            <a:r>
              <a:rPr lang="en-US" altLang="en-US" sz="1600" dirty="0"/>
              <a:t>There are no character constants, all character constants are integers.</a:t>
            </a:r>
          </a:p>
          <a:p>
            <a:endParaRPr lang="en-IN" dirty="0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dirty="0"/>
              <a:t>Character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38742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699" y="1208738"/>
            <a:ext cx="6864955" cy="3058462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6000" dirty="0">
                <a:latin typeface="Helvetica Neue" panose="020B0604020202020204" charset="0"/>
              </a:rPr>
              <a:t>Used to provide input to the program and receive output from it</a:t>
            </a: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6000" dirty="0">
                <a:latin typeface="Helvetica Neue" panose="020B0604020202020204" charset="0"/>
              </a:rPr>
              <a:t>Input statements: </a:t>
            </a:r>
            <a:r>
              <a:rPr lang="en-IN" sz="6000" dirty="0" err="1">
                <a:latin typeface="Helvetica Neue" panose="020B0604020202020204" charset="0"/>
              </a:rPr>
              <a:t>scanf</a:t>
            </a:r>
            <a:r>
              <a:rPr lang="en-IN" sz="6000" dirty="0">
                <a:latin typeface="Helvetica Neue" panose="020B0604020202020204" charset="0"/>
              </a:rPr>
              <a:t>(), </a:t>
            </a:r>
            <a:r>
              <a:rPr lang="en-IN" sz="6000" dirty="0" err="1">
                <a:latin typeface="Helvetica Neue" panose="020B0604020202020204" charset="0"/>
              </a:rPr>
              <a:t>fscanf</a:t>
            </a:r>
            <a:r>
              <a:rPr lang="en-IN" sz="6000" dirty="0">
                <a:latin typeface="Helvetica Neue" panose="020B0604020202020204" charset="0"/>
              </a:rPr>
              <a:t>(), </a:t>
            </a:r>
            <a:r>
              <a:rPr lang="en-IN" sz="6000" dirty="0" err="1">
                <a:latin typeface="Helvetica Neue" panose="020B0604020202020204" charset="0"/>
              </a:rPr>
              <a:t>getchar</a:t>
            </a:r>
            <a:r>
              <a:rPr lang="en-IN" sz="6000" dirty="0">
                <a:latin typeface="Helvetica Neue" panose="020B0604020202020204" charset="0"/>
              </a:rPr>
              <a:t>() and gets()</a:t>
            </a: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sz="6000" dirty="0">
              <a:latin typeface="Helvetica Neue" panose="020B0604020202020204" charset="0"/>
            </a:endParaRP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sz="6000" dirty="0">
              <a:latin typeface="Helvetica Neue" panose="020B0604020202020204" charset="0"/>
            </a:endParaRP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6000" dirty="0">
                <a:latin typeface="Helvetica Neue" panose="020B0604020202020204" charset="0"/>
              </a:rPr>
              <a:t>Output statements: </a:t>
            </a:r>
            <a:r>
              <a:rPr lang="en-IN" sz="6000" dirty="0" err="1">
                <a:latin typeface="Helvetica Neue" panose="020B0604020202020204" charset="0"/>
              </a:rPr>
              <a:t>printf</a:t>
            </a:r>
            <a:r>
              <a:rPr lang="en-IN" sz="6000" dirty="0">
                <a:latin typeface="Helvetica Neue" panose="020B0604020202020204" charset="0"/>
              </a:rPr>
              <a:t>(), </a:t>
            </a:r>
            <a:r>
              <a:rPr lang="en-IN" sz="6000" dirty="0" err="1">
                <a:latin typeface="Helvetica Neue" panose="020B0604020202020204" charset="0"/>
              </a:rPr>
              <a:t>fprintf</a:t>
            </a:r>
            <a:r>
              <a:rPr lang="en-IN" sz="6000" dirty="0">
                <a:latin typeface="Helvetica Neue" panose="020B0604020202020204" charset="0"/>
              </a:rPr>
              <a:t>(), </a:t>
            </a:r>
            <a:r>
              <a:rPr lang="en-IN" sz="6000" dirty="0" err="1">
                <a:latin typeface="Helvetica Neue" panose="020B0604020202020204" charset="0"/>
              </a:rPr>
              <a:t>putchar</a:t>
            </a:r>
            <a:r>
              <a:rPr lang="en-IN" sz="6000" dirty="0">
                <a:latin typeface="Helvetica Neue" panose="020B0604020202020204" charset="0"/>
              </a:rPr>
              <a:t>() and puts()</a:t>
            </a: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sz="6000" dirty="0">
              <a:latin typeface="Helvetica Neue" panose="020B0604020202020204" charset="0"/>
            </a:endParaRP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sz="6000" dirty="0">
              <a:latin typeface="Helvetica Neue" panose="020B0604020202020204" charset="0"/>
            </a:endParaRP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6000" dirty="0">
                <a:latin typeface="Helvetica Neue" panose="020B0604020202020204" charset="0"/>
              </a:rPr>
              <a:t>Need to include &lt;</a:t>
            </a:r>
            <a:r>
              <a:rPr lang="en-IN" sz="6000" dirty="0" err="1">
                <a:latin typeface="Helvetica Neue" panose="020B0604020202020204" charset="0"/>
              </a:rPr>
              <a:t>stdio.h</a:t>
            </a:r>
            <a:r>
              <a:rPr lang="en-IN" sz="6000" dirty="0">
                <a:latin typeface="Helvetica Neue" panose="020B0604020202020204" charset="0"/>
              </a:rPr>
              <a:t>&gt; </a:t>
            </a: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6000" dirty="0">
              <a:latin typeface="Helvetica Neue" panose="020B0604020202020204" charset="0"/>
            </a:endParaRPr>
          </a:p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altLang="en-US" sz="1600" dirty="0"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err="1"/>
              <a:t>Input/Output</a:t>
            </a:r>
            <a:r>
              <a:rPr lang="en-IN" dirty="0"/>
              <a:t> statement (Review)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00637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11699" y="1208738"/>
            <a:ext cx="6864955" cy="3058462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Helvetica Neue" panose="020B0604020202020204" charset="0"/>
              </a:rPr>
              <a:t>Read a single </a:t>
            </a:r>
            <a:r>
              <a:rPr lang="en-US" altLang="en-US" dirty="0" smtClean="0">
                <a:latin typeface="Helvetica Neue" panose="020B0604020202020204" charset="0"/>
              </a:rPr>
              <a:t>character</a:t>
            </a:r>
          </a:p>
          <a:p>
            <a:pPr lvl="1"/>
            <a:r>
              <a:rPr lang="en-US" altLang="en-US" dirty="0" smtClean="0">
                <a:latin typeface="Helvetica Neue" panose="020B0604020202020204" charset="0"/>
              </a:rPr>
              <a:t>char c;</a:t>
            </a:r>
            <a:endParaRPr lang="en-US" altLang="en-US" dirty="0">
              <a:latin typeface="Helvetica Neue" panose="020B0604020202020204" charset="0"/>
            </a:endParaRPr>
          </a:p>
          <a:p>
            <a:pPr marL="603250" lvl="1" indent="0">
              <a:buNone/>
            </a:pPr>
            <a:r>
              <a:rPr lang="en-US" altLang="en-US" sz="1500" b="1" dirty="0" smtClean="0">
                <a:latin typeface="Helvetica Neue" panose="020B0604020202020204" charset="0"/>
              </a:rPr>
              <a:t>      c </a:t>
            </a:r>
            <a:r>
              <a:rPr lang="en-US" altLang="en-US" sz="1500" b="1" dirty="0">
                <a:latin typeface="Helvetica Neue" panose="020B0604020202020204" charset="0"/>
              </a:rPr>
              <a:t>= </a:t>
            </a:r>
            <a:r>
              <a:rPr lang="en-US" altLang="en-US" sz="1500" b="1" dirty="0" err="1">
                <a:latin typeface="Helvetica Neue" panose="020B0604020202020204" charset="0"/>
              </a:rPr>
              <a:t>getchar</a:t>
            </a:r>
            <a:r>
              <a:rPr lang="en-US" altLang="en-US" sz="1500" b="1" dirty="0" smtClean="0">
                <a:latin typeface="Helvetica Neue" panose="020B0604020202020204" charset="0"/>
              </a:rPr>
              <a:t>();</a:t>
            </a:r>
          </a:p>
          <a:p>
            <a:pPr marL="603250" lvl="1" indent="0">
              <a:buNone/>
            </a:pPr>
            <a:endParaRPr lang="en-US" altLang="en-US" sz="1500" b="1" dirty="0">
              <a:latin typeface="Helvetica Neue" panose="020B0604020202020204" charset="0"/>
            </a:endParaRPr>
          </a:p>
          <a:p>
            <a:r>
              <a:rPr lang="en-US" altLang="en-US" dirty="0">
                <a:latin typeface="Helvetica Neue" panose="020B0604020202020204" charset="0"/>
              </a:rPr>
              <a:t>Write a single character</a:t>
            </a:r>
          </a:p>
          <a:p>
            <a:pPr lvl="1"/>
            <a:r>
              <a:rPr lang="en-US" altLang="en-US" sz="1500" b="1" dirty="0" err="1">
                <a:latin typeface="Helvetica Neue" panose="020B0604020202020204" charset="0"/>
              </a:rPr>
              <a:t>putchar</a:t>
            </a:r>
            <a:r>
              <a:rPr lang="en-US" altLang="en-US" sz="1500" b="1" dirty="0">
                <a:latin typeface="Helvetica Neue" panose="020B0604020202020204" charset="0"/>
              </a:rPr>
              <a:t>(c</a:t>
            </a:r>
            <a:r>
              <a:rPr lang="en-US" altLang="en-US" sz="1500" b="1" dirty="0" smtClean="0">
                <a:latin typeface="Helvetica Neue" panose="020B0604020202020204" charset="0"/>
              </a:rPr>
              <a:t>);</a:t>
            </a:r>
          </a:p>
          <a:p>
            <a:pPr lvl="1"/>
            <a:endParaRPr lang="en-US" altLang="en-US" sz="1500" b="1" dirty="0">
              <a:latin typeface="Helvetica Neue" panose="020B0604020202020204" charset="0"/>
            </a:endParaRPr>
          </a:p>
          <a:p>
            <a:r>
              <a:rPr lang="en-US" altLang="en-US" dirty="0" smtClean="0">
                <a:latin typeface="Helvetica Neue" panose="020B0604020202020204" charset="0"/>
              </a:rPr>
              <a:t>Their return types are </a:t>
            </a:r>
            <a:r>
              <a:rPr lang="en-US" altLang="en-US" dirty="0" err="1" smtClean="0">
                <a:latin typeface="Helvetica Neue" panose="020B0604020202020204" charset="0"/>
              </a:rPr>
              <a:t>int</a:t>
            </a:r>
            <a:endParaRPr lang="en-US" altLang="en-US" dirty="0">
              <a:latin typeface="Helvetica Neue" panose="020B0604020202020204" charset="0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Read/write character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39465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ASCII Table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948635"/>
            <a:ext cx="4909184" cy="391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27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 smtClean="0"/>
              <a:t>Summary: Different </a:t>
            </a:r>
            <a:r>
              <a:rPr lang="en-IN" dirty="0"/>
              <a:t>ways to say the same</a:t>
            </a:r>
            <a:endParaRPr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720436" y="983673"/>
            <a:ext cx="2903913" cy="846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>
                <a:latin typeface="Helvetica Neue" panose="020B0604020202020204" charset="0"/>
              </a:rPr>
              <a:t>while ((c=</a:t>
            </a:r>
            <a:r>
              <a:rPr lang="en-US" altLang="en-US" b="1" dirty="0" err="1">
                <a:latin typeface="Helvetica Neue" panose="020B0604020202020204" charset="0"/>
              </a:rPr>
              <a:t>getchar</a:t>
            </a:r>
            <a:r>
              <a:rPr lang="en-US" altLang="en-US" b="1" dirty="0">
                <a:latin typeface="Helvetica Neue" panose="020B0604020202020204" charset="0"/>
              </a:rPr>
              <a:t>())!=EOF)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Helvetica Neue" panose="020B0604020202020204" charset="0"/>
              </a:rPr>
              <a:t>   </a:t>
            </a:r>
            <a:r>
              <a:rPr lang="en-US" altLang="en-US" b="1" dirty="0" err="1">
                <a:latin typeface="Helvetica Neue" panose="020B0604020202020204" charset="0"/>
              </a:rPr>
              <a:t>putchar</a:t>
            </a:r>
            <a:r>
              <a:rPr lang="en-US" altLang="en-US" b="1" dirty="0">
                <a:latin typeface="Helvetica Neue" panose="020B0604020202020204" charset="0"/>
              </a:rPr>
              <a:t>(c);</a:t>
            </a:r>
            <a:endParaRPr lang="en-US" altLang="en-US" dirty="0">
              <a:latin typeface="Helvetica Neue" panose="020B0604020202020204" charset="0"/>
            </a:endParaRPr>
          </a:p>
          <a:p>
            <a:endParaRPr lang="en-IN" dirty="0">
              <a:latin typeface="Helvetica Neue" panose="020B0604020202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2029" y="969819"/>
            <a:ext cx="3751811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500" b="1" dirty="0">
                <a:latin typeface="Helvetica Neue" panose="020B0604020202020204" charset="0"/>
              </a:rPr>
              <a:t>for (c=</a:t>
            </a:r>
            <a:r>
              <a:rPr lang="en-US" altLang="en-US" sz="1500" b="1" dirty="0" err="1">
                <a:latin typeface="Helvetica Neue" panose="020B0604020202020204" charset="0"/>
              </a:rPr>
              <a:t>getchar</a:t>
            </a:r>
            <a:r>
              <a:rPr lang="en-US" altLang="en-US" sz="1500" b="1" dirty="0">
                <a:latin typeface="Helvetica Neue" panose="020B0604020202020204" charset="0"/>
              </a:rPr>
              <a:t>(); c!=EOF; c=</a:t>
            </a:r>
            <a:r>
              <a:rPr lang="en-US" altLang="en-US" sz="1500" b="1" dirty="0" err="1">
                <a:latin typeface="Helvetica Neue" panose="020B0604020202020204" charset="0"/>
              </a:rPr>
              <a:t>getchar</a:t>
            </a:r>
            <a:r>
              <a:rPr lang="en-US" altLang="en-US" sz="1500" b="1" dirty="0">
                <a:latin typeface="Helvetica Neue" panose="020B0604020202020204" charset="0"/>
              </a:rPr>
              <a:t>()) </a:t>
            </a:r>
          </a:p>
          <a:p>
            <a:pPr>
              <a:spcBef>
                <a:spcPct val="50000"/>
              </a:spcBef>
            </a:pPr>
            <a:r>
              <a:rPr lang="en-US" altLang="en-US" sz="1500" dirty="0">
                <a:latin typeface="Helvetica Neue" panose="020B0604020202020204" charset="0"/>
              </a:rPr>
              <a:t>  	  </a:t>
            </a:r>
            <a:r>
              <a:rPr lang="en-US" altLang="en-US" sz="1500" b="1" dirty="0" err="1">
                <a:latin typeface="Helvetica Neue" panose="020B0604020202020204" charset="0"/>
              </a:rPr>
              <a:t>putchar</a:t>
            </a:r>
            <a:r>
              <a:rPr lang="en-US" altLang="en-US" sz="1500" b="1" dirty="0">
                <a:latin typeface="Helvetica Neue" panose="020B0604020202020204" charset="0"/>
              </a:rPr>
              <a:t>(c);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5156" y="2013368"/>
            <a:ext cx="2341419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for (;;)  {</a:t>
            </a:r>
          </a:p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latin typeface="Helvetica Neue" panose="020B0604020202020204" charset="0"/>
              <a:ea typeface="ＭＳ Ｐゴシック" panose="020B0600070205080204" pitchFamily="34" charset="-128"/>
              <a:cs typeface="+mn-cs"/>
            </a:endParaRPr>
          </a:p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 c = </a:t>
            </a:r>
            <a:r>
              <a:rPr lang="en-US" altLang="en-US" sz="1500" b="1" dirty="0" err="1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getchar</a:t>
            </a:r>
            <a:r>
              <a:rPr lang="en-US" altLang="en-US" sz="1500" b="1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();</a:t>
            </a:r>
          </a:p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latin typeface="Helvetica Neue" panose="020B0604020202020204" charset="0"/>
              <a:ea typeface="ＭＳ Ｐゴシック" panose="020B0600070205080204" pitchFamily="34" charset="-128"/>
              <a:cs typeface="+mn-cs"/>
            </a:endParaRPr>
          </a:p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 if  (c == EOF)</a:t>
            </a:r>
          </a:p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latin typeface="Helvetica Neue" panose="020B0604020202020204" charset="0"/>
              <a:ea typeface="ＭＳ Ｐゴシック" panose="020B0600070205080204" pitchFamily="34" charset="-128"/>
              <a:cs typeface="+mn-cs"/>
            </a:endParaRPr>
          </a:p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       break;</a:t>
            </a:r>
          </a:p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500" b="1" dirty="0">
              <a:latin typeface="Helvetica Neue" panose="020B0604020202020204" charset="0"/>
              <a:ea typeface="ＭＳ Ｐゴシック" panose="020B0600070205080204" pitchFamily="34" charset="-128"/>
              <a:cs typeface="+mn-cs"/>
            </a:endParaRPr>
          </a:p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	</a:t>
            </a:r>
            <a:r>
              <a:rPr lang="en-US" altLang="en-US" sz="1500" b="1" dirty="0" err="1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putchar</a:t>
            </a:r>
            <a:r>
              <a:rPr lang="en-US" altLang="en-US" sz="1500" b="1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(c);</a:t>
            </a:r>
          </a:p>
          <a:p>
            <a:pPr lvl="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500" b="1" dirty="0">
                <a:latin typeface="Helvetica Neue" panose="020B0604020202020204" charset="0"/>
                <a:ea typeface="ＭＳ Ｐゴシック" panose="020B0600070205080204" pitchFamily="34" charset="-128"/>
                <a:cs typeface="+mn-cs"/>
              </a:rPr>
              <a:t>}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20436" y="2166851"/>
            <a:ext cx="2430087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1500" b="1" dirty="0">
                <a:latin typeface="Helvetica Neue" panose="020B0604020202020204" charset="0"/>
              </a:rPr>
              <a:t>c = </a:t>
            </a:r>
            <a:r>
              <a:rPr lang="en-US" altLang="en-US" sz="1500" b="1" dirty="0" err="1">
                <a:latin typeface="Helvetica Neue" panose="020B0604020202020204" charset="0"/>
              </a:rPr>
              <a:t>getchar</a:t>
            </a:r>
            <a:r>
              <a:rPr lang="en-US" altLang="en-US" sz="1500" b="1" dirty="0">
                <a:latin typeface="Helvetica Neue" panose="020B0604020202020204" charset="0"/>
              </a:rPr>
              <a:t>();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1500" b="1" dirty="0">
                <a:latin typeface="Helvetica Neue" panose="020B0604020202020204" charset="0"/>
              </a:rPr>
              <a:t>while (c!=EOF) {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1500" b="1" dirty="0">
                <a:latin typeface="Helvetica Neue" panose="020B0604020202020204" charset="0"/>
              </a:rPr>
              <a:t>	 </a:t>
            </a:r>
            <a:r>
              <a:rPr lang="en-US" altLang="en-US" sz="1500" b="1" dirty="0" err="1">
                <a:latin typeface="Helvetica Neue" panose="020B0604020202020204" charset="0"/>
              </a:rPr>
              <a:t>putchar</a:t>
            </a:r>
            <a:r>
              <a:rPr lang="en-US" altLang="en-US" sz="1500" b="1" dirty="0">
                <a:latin typeface="Helvetica Neue" panose="020B0604020202020204" charset="0"/>
              </a:rPr>
              <a:t>(c);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1500" b="1" dirty="0">
                <a:latin typeface="Helvetica Neue" panose="020B0604020202020204" charset="0"/>
              </a:rPr>
              <a:t>  </a:t>
            </a:r>
            <a:r>
              <a:rPr lang="en-US" altLang="en-US" sz="1500" b="1" dirty="0" smtClean="0">
                <a:latin typeface="Helvetica Neue" panose="020B0604020202020204" charset="0"/>
              </a:rPr>
              <a:t>	c </a:t>
            </a:r>
            <a:r>
              <a:rPr lang="en-US" altLang="en-US" sz="1500" b="1" dirty="0">
                <a:latin typeface="Helvetica Neue" panose="020B0604020202020204" charset="0"/>
              </a:rPr>
              <a:t>= </a:t>
            </a:r>
            <a:r>
              <a:rPr lang="en-US" altLang="en-US" sz="1500" b="1" dirty="0" err="1">
                <a:latin typeface="Helvetica Neue" panose="020B0604020202020204" charset="0"/>
              </a:rPr>
              <a:t>getchar</a:t>
            </a:r>
            <a:r>
              <a:rPr lang="en-US" altLang="en-US" sz="1500" b="1" dirty="0">
                <a:latin typeface="Helvetica Neue" panose="020B0604020202020204" charset="0"/>
              </a:rPr>
              <a:t>();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sz="1500" b="1" dirty="0">
                <a:latin typeface="Helvetica Neue" panose="020B0604020202020204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98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Fundamental data types</a:t>
            </a:r>
            <a:br>
              <a:rPr lang="en-IN" dirty="0"/>
            </a:br>
            <a:r>
              <a:rPr lang="en-IN" sz="1800" dirty="0"/>
              <a:t>Integers and floating points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80209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dirty="0"/>
              <a:t>Integers (</a:t>
            </a:r>
            <a:r>
              <a:rPr lang="en-US" altLang="en-US" dirty="0" err="1">
                <a:solidFill>
                  <a:srgbClr val="FF0000"/>
                </a:solidFill>
              </a:rPr>
              <a:t>int</a:t>
            </a:r>
            <a:r>
              <a:rPr lang="en-US" altLang="en-US" dirty="0"/>
              <a:t>)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Size of an integer is dependent on the machine but usually 4 bytes.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Integer overflow occurs when assigned value greater than space provided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We can also have octal and hexadecimal integers</a:t>
            </a:r>
            <a:endParaRPr lang="en-IN" altLang="en-US" sz="1500" dirty="0">
              <a:latin typeface="Helvetica Neue" panose="020B060402020202020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337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en-US" dirty="0"/>
              <a:t>Integral Types	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short, unsigned 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short 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: provides less storage, usually 2 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bytes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 err="1">
                <a:latin typeface="Helvetica Neue" panose="020B0604020202020204" charset="0"/>
                <a:ea typeface="+mn-ea"/>
                <a:cs typeface="+mn-cs"/>
              </a:rPr>
              <a:t>int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, unsigned : provide more storage than short, 4 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bytes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long, unsigned  long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</a:rPr>
              <a:t>provides more storage (than </a:t>
            </a:r>
            <a:r>
              <a:rPr lang="en-US" altLang="en-US" sz="1500" dirty="0" err="1">
                <a:latin typeface="Helvetica Neue" panose="020B0604020202020204" charset="0"/>
              </a:rPr>
              <a:t>int</a:t>
            </a:r>
            <a:r>
              <a:rPr lang="en-US" altLang="en-US" sz="1500" dirty="0">
                <a:latin typeface="Helvetica Neue" panose="020B0604020202020204" charset="0"/>
              </a:rPr>
              <a:t> but not necessary), usually 8 bytes.</a:t>
            </a:r>
          </a:p>
        </p:txBody>
      </p:sp>
    </p:spTree>
    <p:extLst>
      <p:ext uri="{BB962C8B-B14F-4D97-AF65-F5344CB8AC3E}">
        <p14:creationId xmlns:p14="http://schemas.microsoft.com/office/powerpoint/2010/main" val="108905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float vs double vs long double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#include&lt;</a:t>
            </a:r>
            <a:r>
              <a:rPr lang="en-IN" sz="1500" dirty="0" err="1">
                <a:latin typeface="Helvetica Neue" panose="020B0604020202020204" charset="0"/>
              </a:rPr>
              <a:t>stdio.h</a:t>
            </a:r>
            <a:r>
              <a:rPr lang="en-IN" sz="1500" dirty="0">
                <a:latin typeface="Helvetica Neue" panose="020B0604020202020204" charset="0"/>
              </a:rPr>
              <a:t>&gt;</a:t>
            </a:r>
          </a:p>
          <a:p>
            <a:pPr marL="0" indent="0">
              <a:buNone/>
            </a:pPr>
            <a:r>
              <a:rPr lang="en-IN" sz="1500" dirty="0" err="1">
                <a:latin typeface="Helvetica Neue" panose="020B0604020202020204" charset="0"/>
              </a:rPr>
              <a:t>int</a:t>
            </a:r>
            <a:r>
              <a:rPr lang="en-IN" sz="1500" dirty="0">
                <a:latin typeface="Helvetica Neue" panose="020B0604020202020204" charset="0"/>
              </a:rPr>
              <a:t> main(){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float </a:t>
            </a:r>
            <a:r>
              <a:rPr lang="en-IN" sz="1500" dirty="0" err="1">
                <a:latin typeface="Helvetica Neue" panose="020B0604020202020204" charset="0"/>
              </a:rPr>
              <a:t>pi_f</a:t>
            </a:r>
            <a:r>
              <a:rPr lang="en-IN" sz="1500" dirty="0">
                <a:latin typeface="Helvetica Neue" panose="020B0604020202020204" charset="0"/>
              </a:rPr>
              <a:t>=  3.14159265358979323846f;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double </a:t>
            </a:r>
            <a:r>
              <a:rPr lang="en-IN" sz="1500" dirty="0" err="1">
                <a:latin typeface="Helvetica Neue" panose="020B0604020202020204" charset="0"/>
              </a:rPr>
              <a:t>pi_F</a:t>
            </a:r>
            <a:r>
              <a:rPr lang="en-IN" sz="1500" dirty="0">
                <a:latin typeface="Helvetica Neue" panose="020B0604020202020204" charset="0"/>
              </a:rPr>
              <a:t> =  3.14159265358979323846;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long double </a:t>
            </a:r>
            <a:r>
              <a:rPr lang="en-IN" sz="1500" dirty="0" err="1">
                <a:latin typeface="Helvetica Neue" panose="020B0604020202020204" charset="0"/>
              </a:rPr>
              <a:t>pi_Lf</a:t>
            </a:r>
            <a:r>
              <a:rPr lang="en-IN" sz="1500" dirty="0">
                <a:latin typeface="Helvetica Neue" panose="020B0604020202020204" charset="0"/>
              </a:rPr>
              <a:t> = 3.14159265358979323846L;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</a:t>
            </a:r>
            <a:r>
              <a:rPr lang="en-IN" sz="1500" dirty="0" err="1">
                <a:latin typeface="Helvetica Neue" panose="020B0604020202020204" charset="0"/>
              </a:rPr>
              <a:t>printf</a:t>
            </a:r>
            <a:r>
              <a:rPr lang="en-IN" sz="1500" dirty="0">
                <a:latin typeface="Helvetica Neue" panose="020B0604020202020204" charset="0"/>
              </a:rPr>
              <a:t>("Float PI=%.15f\n", </a:t>
            </a:r>
            <a:r>
              <a:rPr lang="en-IN" sz="1500" dirty="0" err="1">
                <a:latin typeface="Helvetica Neue" panose="020B0604020202020204" charset="0"/>
              </a:rPr>
              <a:t>pi_f</a:t>
            </a:r>
            <a:r>
              <a:rPr lang="en-IN" sz="1500" dirty="0">
                <a:latin typeface="Helvetica Neue" panose="020B0604020202020204" charset="0"/>
              </a:rPr>
              <a:t>);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</a:t>
            </a:r>
            <a:r>
              <a:rPr lang="en-IN" sz="1500" dirty="0" err="1">
                <a:latin typeface="Helvetica Neue" panose="020B0604020202020204" charset="0"/>
              </a:rPr>
              <a:t>printf</a:t>
            </a:r>
            <a:r>
              <a:rPr lang="en-IN" sz="1500" dirty="0">
                <a:latin typeface="Helvetica Neue" panose="020B0604020202020204" charset="0"/>
              </a:rPr>
              <a:t>("Double PI=%.15lf\n", </a:t>
            </a:r>
            <a:r>
              <a:rPr lang="en-IN" sz="1500" dirty="0" err="1">
                <a:latin typeface="Helvetica Neue" panose="020B0604020202020204" charset="0"/>
              </a:rPr>
              <a:t>pi_F</a:t>
            </a:r>
            <a:r>
              <a:rPr lang="en-IN" sz="1500" dirty="0">
                <a:latin typeface="Helvetica Neue" panose="020B0604020202020204" charset="0"/>
              </a:rPr>
              <a:t>);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</a:t>
            </a:r>
            <a:r>
              <a:rPr lang="en-IN" sz="1500" dirty="0" err="1">
                <a:latin typeface="Helvetica Neue" panose="020B0604020202020204" charset="0"/>
              </a:rPr>
              <a:t>printf</a:t>
            </a:r>
            <a:r>
              <a:rPr lang="en-IN" sz="1500" dirty="0">
                <a:latin typeface="Helvetica Neue" panose="020B0604020202020204" charset="0"/>
              </a:rPr>
              <a:t>("Long double PI=%.15Lf\n", </a:t>
            </a:r>
            <a:r>
              <a:rPr lang="en-IN" sz="1500" dirty="0" err="1">
                <a:latin typeface="Helvetica Neue" panose="020B0604020202020204" charset="0"/>
              </a:rPr>
              <a:t>pi_Lf</a:t>
            </a:r>
            <a:r>
              <a:rPr lang="en-IN" sz="1500" dirty="0">
                <a:latin typeface="Helvetica Neue" panose="020B0604020202020204" charset="0"/>
              </a:rPr>
              <a:t>);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187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float vs double vs long double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#include&lt;</a:t>
            </a:r>
            <a:r>
              <a:rPr lang="en-IN" sz="1500" dirty="0" err="1">
                <a:latin typeface="Helvetica Neue" panose="020B0604020202020204" charset="0"/>
              </a:rPr>
              <a:t>stdio.h</a:t>
            </a:r>
            <a:r>
              <a:rPr lang="en-IN" sz="1500" dirty="0">
                <a:latin typeface="Helvetica Neue" panose="020B0604020202020204" charset="0"/>
              </a:rPr>
              <a:t>&gt;</a:t>
            </a:r>
          </a:p>
          <a:p>
            <a:pPr marL="0" indent="0">
              <a:buNone/>
            </a:pPr>
            <a:r>
              <a:rPr lang="en-IN" sz="1500" dirty="0" err="1">
                <a:latin typeface="Helvetica Neue" panose="020B0604020202020204" charset="0"/>
              </a:rPr>
              <a:t>int</a:t>
            </a:r>
            <a:r>
              <a:rPr lang="en-IN" sz="1500" dirty="0">
                <a:latin typeface="Helvetica Neue" panose="020B0604020202020204" charset="0"/>
              </a:rPr>
              <a:t> main(){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float </a:t>
            </a:r>
            <a:r>
              <a:rPr lang="en-IN" sz="1500" dirty="0" err="1">
                <a:latin typeface="Helvetica Neue" panose="020B0604020202020204" charset="0"/>
              </a:rPr>
              <a:t>pi_f</a:t>
            </a:r>
            <a:r>
              <a:rPr lang="en-IN" sz="1500" dirty="0">
                <a:latin typeface="Helvetica Neue" panose="020B0604020202020204" charset="0"/>
              </a:rPr>
              <a:t>=  3.14159265358979323846f;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double </a:t>
            </a:r>
            <a:r>
              <a:rPr lang="en-IN" sz="1500" dirty="0" err="1">
                <a:latin typeface="Helvetica Neue" panose="020B0604020202020204" charset="0"/>
              </a:rPr>
              <a:t>pi_F</a:t>
            </a:r>
            <a:r>
              <a:rPr lang="en-IN" sz="1500" dirty="0">
                <a:latin typeface="Helvetica Neue" panose="020B0604020202020204" charset="0"/>
              </a:rPr>
              <a:t> =  3.14159265358979323846;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long double </a:t>
            </a:r>
            <a:r>
              <a:rPr lang="en-IN" sz="1500" dirty="0" err="1">
                <a:latin typeface="Helvetica Neue" panose="020B0604020202020204" charset="0"/>
              </a:rPr>
              <a:t>pi_Lf</a:t>
            </a:r>
            <a:r>
              <a:rPr lang="en-IN" sz="1500" dirty="0">
                <a:latin typeface="Helvetica Neue" panose="020B0604020202020204" charset="0"/>
              </a:rPr>
              <a:t> = 3.14159265358979323846L;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</a:t>
            </a:r>
            <a:r>
              <a:rPr lang="en-IN" sz="1500" dirty="0" err="1">
                <a:latin typeface="Helvetica Neue" panose="020B0604020202020204" charset="0"/>
              </a:rPr>
              <a:t>printf</a:t>
            </a:r>
            <a:r>
              <a:rPr lang="en-IN" sz="1500" dirty="0">
                <a:latin typeface="Helvetica Neue" panose="020B0604020202020204" charset="0"/>
              </a:rPr>
              <a:t>("Float PI=%.15f\n", </a:t>
            </a:r>
            <a:r>
              <a:rPr lang="en-IN" sz="1500" dirty="0" err="1">
                <a:latin typeface="Helvetica Neue" panose="020B0604020202020204" charset="0"/>
              </a:rPr>
              <a:t>pi_f</a:t>
            </a:r>
            <a:r>
              <a:rPr lang="en-IN" sz="1500" dirty="0">
                <a:latin typeface="Helvetica Neue" panose="020B0604020202020204" charset="0"/>
              </a:rPr>
              <a:t>);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</a:t>
            </a:r>
            <a:r>
              <a:rPr lang="en-IN" sz="1500" dirty="0" err="1">
                <a:latin typeface="Helvetica Neue" panose="020B0604020202020204" charset="0"/>
              </a:rPr>
              <a:t>printf</a:t>
            </a:r>
            <a:r>
              <a:rPr lang="en-IN" sz="1500" dirty="0">
                <a:latin typeface="Helvetica Neue" panose="020B0604020202020204" charset="0"/>
              </a:rPr>
              <a:t>("Double PI=%.15lf\n", </a:t>
            </a:r>
            <a:r>
              <a:rPr lang="en-IN" sz="1500" dirty="0" err="1">
                <a:latin typeface="Helvetica Neue" panose="020B0604020202020204" charset="0"/>
              </a:rPr>
              <a:t>pi_F</a:t>
            </a:r>
            <a:r>
              <a:rPr lang="en-IN" sz="1500" dirty="0">
                <a:latin typeface="Helvetica Neue" panose="020B0604020202020204" charset="0"/>
              </a:rPr>
              <a:t>);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        </a:t>
            </a:r>
            <a:r>
              <a:rPr lang="en-IN" sz="1500" dirty="0" err="1">
                <a:latin typeface="Helvetica Neue" panose="020B0604020202020204" charset="0"/>
              </a:rPr>
              <a:t>printf</a:t>
            </a:r>
            <a:r>
              <a:rPr lang="en-IN" sz="1500" dirty="0">
                <a:latin typeface="Helvetica Neue" panose="020B0604020202020204" charset="0"/>
              </a:rPr>
              <a:t>("Long double PI=%.15Lf\n", </a:t>
            </a:r>
            <a:r>
              <a:rPr lang="en-IN" sz="1500" dirty="0" err="1">
                <a:latin typeface="Helvetica Neue" panose="020B0604020202020204" charset="0"/>
              </a:rPr>
              <a:t>pi_Lf</a:t>
            </a:r>
            <a:r>
              <a:rPr lang="en-IN" sz="1500" dirty="0">
                <a:latin typeface="Helvetica Neue" panose="020B0604020202020204" charset="0"/>
              </a:rPr>
              <a:t>);</a:t>
            </a:r>
          </a:p>
          <a:p>
            <a:pPr marL="0" indent="0">
              <a:buNone/>
            </a:pPr>
            <a:r>
              <a:rPr lang="en-IN" sz="1500" dirty="0">
                <a:latin typeface="Helvetica Neue" panose="020B0604020202020204" charset="0"/>
              </a:rPr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27" y="3448050"/>
            <a:ext cx="4994859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7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Data types, size, format</a:t>
            </a:r>
            <a:endParaRPr sz="1800" dirty="0"/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765242"/>
            <a:ext cx="5555673" cy="34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1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Fundamental data types</a:t>
            </a:r>
            <a:br>
              <a:rPr lang="en-IN" dirty="0"/>
            </a:br>
            <a:r>
              <a:rPr lang="en-IN" sz="1800" dirty="0"/>
              <a:t>Keywords</a:t>
            </a:r>
            <a:r>
              <a:rPr lang="en-IN" dirty="0"/>
              <a:t> </a:t>
            </a:r>
            <a:r>
              <a:rPr lang="en-IN" sz="1800" dirty="0" err="1"/>
              <a:t>typedef</a:t>
            </a:r>
            <a:r>
              <a:rPr lang="en-IN" sz="1800" dirty="0"/>
              <a:t> and </a:t>
            </a:r>
            <a:r>
              <a:rPr lang="en-IN" sz="1800" dirty="0" err="1"/>
              <a:t>sizeof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96585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</a:t>
            </a:r>
            <a:r>
              <a:rPr lang="en-US" altLang="en-US" dirty="0" err="1"/>
              <a:t>typedef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143116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  <a:ea typeface="+mn-ea"/>
                <a:cs typeface="+mn-cs"/>
              </a:rPr>
              <a:t>Explicitly</a:t>
            </a:r>
            <a:r>
              <a:rPr lang="en-US" altLang="en-US" sz="1500" dirty="0">
                <a:latin typeface="Helvetica Neue"/>
                <a:ea typeface="+mn-ea"/>
                <a:cs typeface="Helvetica"/>
              </a:rPr>
              <a:t> associate a type with an identifier </a:t>
            </a:r>
            <a:endParaRPr lang="en-US" altLang="en-US" sz="1500">
              <a:latin typeface="Helvetica Neue"/>
              <a:ea typeface="+mn-ea"/>
              <a:cs typeface="+mn-cs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</a:rPr>
              <a:t>typedef</a:t>
            </a:r>
            <a:r>
              <a:rPr lang="en-US" altLang="en-US" sz="1500" dirty="0">
                <a:solidFill>
                  <a:srgbClr val="FF0000"/>
                </a:solidFill>
                <a:latin typeface="Helvetica Neue"/>
              </a:rPr>
              <a:t> int </a:t>
            </a:r>
            <a:r>
              <a:rPr lang="en-US" altLang="en-US" sz="1500" dirty="0">
                <a:solidFill>
                  <a:srgbClr val="00B050"/>
                </a:solidFill>
                <a:latin typeface="Helvetica Neue"/>
              </a:rPr>
              <a:t>integer</a:t>
            </a:r>
            <a:r>
              <a:rPr lang="en-US" altLang="en-US" sz="1500" dirty="0">
                <a:latin typeface="Helvetica Neue"/>
              </a:rPr>
              <a:t>;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</a:rPr>
              <a:t>typedef</a:t>
            </a:r>
            <a:r>
              <a:rPr lang="en-US" altLang="en-US" sz="1500" dirty="0">
                <a:solidFill>
                  <a:srgbClr val="FF0000"/>
                </a:solidFill>
                <a:latin typeface="Helvetica Neue"/>
              </a:rPr>
              <a:t> unsigned long </a:t>
            </a:r>
            <a:r>
              <a:rPr lang="en-US" altLang="en-US" sz="1500" err="1">
                <a:solidFill>
                  <a:srgbClr val="00B050"/>
                </a:solidFill>
                <a:latin typeface="Helvetica Neue"/>
              </a:rPr>
              <a:t>size_t</a:t>
            </a:r>
            <a:r>
              <a:rPr lang="en-US" altLang="en-US" sz="1500" dirty="0">
                <a:latin typeface="Helvetica Neue"/>
              </a:rPr>
              <a:t>;</a:t>
            </a:r>
          </a:p>
          <a:p>
            <a:pPr marL="457200" lv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endParaRPr lang="en-US" altLang="en-US" sz="1500" dirty="0">
              <a:latin typeface="Helvetica Neue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  <a:ea typeface="+mn-ea"/>
                <a:cs typeface="+mn-cs"/>
              </a:rPr>
              <a:t>Allows abbreviating long declarations, provide meaningful type names</a:t>
            </a:r>
            <a:endParaRPr lang="en-IN" altLang="en-US" sz="1500">
              <a:latin typeface="Helvetica Ne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84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</a:t>
            </a:r>
            <a:r>
              <a:rPr lang="en-US" altLang="en-US" dirty="0" err="1"/>
              <a:t>sizeof</a:t>
            </a:r>
            <a:r>
              <a:rPr lang="en-US" altLang="en-US" dirty="0"/>
              <a:t> Operator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Syntax: </a:t>
            </a:r>
            <a:r>
              <a:rPr lang="en-US" altLang="en-US" sz="1500" dirty="0" err="1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sizeof</a:t>
            </a:r>
            <a:r>
              <a:rPr lang="en-US" altLang="en-US" sz="1500" dirty="0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(object)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</a:rPr>
              <a:t>object can be type (</a:t>
            </a:r>
            <a:r>
              <a:rPr lang="en-US" altLang="en-US" sz="1500" dirty="0" err="1">
                <a:latin typeface="Helvetica Neue" panose="020B0604020202020204" charset="0"/>
              </a:rPr>
              <a:t>int</a:t>
            </a:r>
            <a:r>
              <a:rPr lang="en-US" altLang="en-US" sz="1500" dirty="0">
                <a:latin typeface="Helvetica Neue" panose="020B0604020202020204" charset="0"/>
              </a:rPr>
              <a:t>, float </a:t>
            </a:r>
            <a:r>
              <a:rPr lang="en-US" altLang="en-US" sz="1500" dirty="0" err="1">
                <a:latin typeface="Helvetica Neue" panose="020B0604020202020204" charset="0"/>
              </a:rPr>
              <a:t>etc</a:t>
            </a:r>
            <a:r>
              <a:rPr lang="en-US" altLang="en-US" sz="1500" dirty="0">
                <a:latin typeface="Helvetica Neue" panose="020B0604020202020204" charset="0"/>
              </a:rPr>
              <a:t>) or an expression (</a:t>
            </a:r>
            <a:r>
              <a:rPr lang="en-US" altLang="en-US" sz="1500" dirty="0" err="1">
                <a:latin typeface="Helvetica Neue" panose="020B0604020202020204" charset="0"/>
              </a:rPr>
              <a:t>a+b</a:t>
            </a:r>
            <a:r>
              <a:rPr lang="en-US" altLang="en-US" sz="1500" dirty="0" smtClean="0">
                <a:latin typeface="Helvetica Neue" panose="020B0604020202020204" charset="0"/>
              </a:rPr>
              <a:t>)</a:t>
            </a:r>
          </a:p>
          <a:p>
            <a:pPr marL="457200" lv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endParaRPr lang="en-US" altLang="en-US" sz="1500" dirty="0">
              <a:latin typeface="Helvetica Neue" panose="020B0604020202020204" charset="0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Returns the number of bytes needed to store an 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object (unsigned long)</a:t>
            </a:r>
            <a:endParaRPr lang="en-US" altLang="en-US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    </a:t>
            </a:r>
            <a:r>
              <a:rPr lang="en-US" altLang="en-US" sz="1500" dirty="0" err="1">
                <a:latin typeface="Helvetica Neue" panose="020B0604020202020204" charset="0"/>
                <a:ea typeface="+mn-ea"/>
                <a:cs typeface="+mn-cs"/>
              </a:rPr>
              <a:t>printf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(“char: 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%</a:t>
            </a:r>
            <a:r>
              <a:rPr lang="en-US" altLang="en-US" sz="1500" dirty="0" err="1" smtClean="0">
                <a:latin typeface="Helvetica Neue" panose="020B0604020202020204" charset="0"/>
                <a:ea typeface="+mn-ea"/>
                <a:cs typeface="+mn-cs"/>
              </a:rPr>
              <a:t>lu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\n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”, </a:t>
            </a:r>
            <a:r>
              <a:rPr lang="en-US" altLang="en-US" sz="1500" dirty="0" err="1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sizeof</a:t>
            </a:r>
            <a:r>
              <a:rPr lang="en-US" altLang="en-US" sz="1500" dirty="0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(char)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);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    </a:t>
            </a:r>
            <a:r>
              <a:rPr lang="en-US" altLang="en-US" sz="1500" dirty="0" err="1">
                <a:latin typeface="Helvetica Neue" panose="020B0604020202020204" charset="0"/>
                <a:ea typeface="+mn-ea"/>
                <a:cs typeface="+mn-cs"/>
              </a:rPr>
              <a:t>printf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(“</a:t>
            </a:r>
            <a:r>
              <a:rPr lang="en-US" altLang="en-US" sz="1500" dirty="0" err="1">
                <a:latin typeface="Helvetica Neue" panose="020B0604020202020204" charset="0"/>
                <a:ea typeface="+mn-ea"/>
                <a:cs typeface="+mn-cs"/>
              </a:rPr>
              <a:t>Int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: 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%</a:t>
            </a:r>
            <a:r>
              <a:rPr lang="en-US" altLang="en-US" sz="1500" dirty="0" err="1" smtClean="0">
                <a:latin typeface="Helvetica Neue" panose="020B0604020202020204" charset="0"/>
                <a:ea typeface="+mn-ea"/>
                <a:cs typeface="+mn-cs"/>
              </a:rPr>
              <a:t>lu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\n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”, </a:t>
            </a:r>
            <a:r>
              <a:rPr lang="en-US" altLang="en-US" sz="1500" dirty="0" err="1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sizeof</a:t>
            </a:r>
            <a:r>
              <a:rPr lang="en-US" altLang="en-US" sz="1500" dirty="0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(</a:t>
            </a:r>
            <a:r>
              <a:rPr lang="en-US" altLang="en-US" sz="1500" dirty="0" err="1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int</a:t>
            </a:r>
            <a:r>
              <a:rPr lang="en-US" altLang="en-US" sz="1500" dirty="0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)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);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    </a:t>
            </a:r>
            <a:r>
              <a:rPr lang="en-US" altLang="en-US" sz="1500" dirty="0" err="1">
                <a:latin typeface="Helvetica Neue" panose="020B0604020202020204" charset="0"/>
                <a:ea typeface="+mn-ea"/>
                <a:cs typeface="+mn-cs"/>
              </a:rPr>
              <a:t>printf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(“char: 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%</a:t>
            </a:r>
            <a:r>
              <a:rPr lang="en-US" altLang="en-US" sz="1500" dirty="0" err="1" smtClean="0">
                <a:latin typeface="Helvetica Neue" panose="020B0604020202020204" charset="0"/>
                <a:ea typeface="+mn-ea"/>
                <a:cs typeface="+mn-cs"/>
              </a:rPr>
              <a:t>lu</a:t>
            </a:r>
            <a:r>
              <a:rPr lang="en-US" altLang="en-US" sz="1500" dirty="0" smtClean="0">
                <a:latin typeface="Helvetica Neue" panose="020B0604020202020204" charset="0"/>
                <a:ea typeface="+mn-ea"/>
                <a:cs typeface="+mn-cs"/>
              </a:rPr>
              <a:t>\n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”, </a:t>
            </a:r>
            <a:r>
              <a:rPr lang="en-US" altLang="en-US" sz="1500" dirty="0" err="1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sizeof</a:t>
            </a:r>
            <a:r>
              <a:rPr lang="en-US" altLang="en-US" sz="1500" dirty="0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(</a:t>
            </a:r>
            <a:r>
              <a:rPr lang="en-US" altLang="en-US" sz="1500" dirty="0" err="1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a+b</a:t>
            </a:r>
            <a:r>
              <a:rPr lang="en-US" altLang="en-US" sz="1500" dirty="0">
                <a:solidFill>
                  <a:srgbClr val="FF0000"/>
                </a:solidFill>
                <a:latin typeface="Helvetica Neue" panose="020B0604020202020204" charset="0"/>
                <a:ea typeface="+mn-ea"/>
                <a:cs typeface="+mn-cs"/>
              </a:rPr>
              <a:t>)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4333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Type conversion</a:t>
            </a:r>
            <a:br>
              <a:rPr lang="en-IN" dirty="0"/>
            </a:br>
            <a:r>
              <a:rPr lang="en-IN" sz="1800" dirty="0"/>
              <a:t>coercion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54328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</a:t>
            </a:r>
            <a:r>
              <a:rPr lang="en-US" altLang="en-US" dirty="0"/>
              <a:t>Conversion types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b="1" dirty="0">
                <a:latin typeface="Helvetica Neue" panose="020B0604020202020204" charset="0"/>
                <a:ea typeface="+mn-ea"/>
                <a:cs typeface="+mn-cs"/>
              </a:rPr>
              <a:t>Implicit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 type conversion also known as coercion is done by the compiler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500" b="1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1500" b="1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b="1" dirty="0">
                <a:latin typeface="Helvetica Neue" panose="020B0604020202020204" charset="0"/>
                <a:ea typeface="+mn-ea"/>
                <a:cs typeface="+mn-cs"/>
              </a:rPr>
              <a:t>Explicit</a:t>
            </a: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 type conversion is explicitly defined within a program called casting or casts</a:t>
            </a:r>
            <a:endParaRPr lang="en-IN" altLang="en-US" sz="1500" dirty="0">
              <a:latin typeface="Helvetica Neue" panose="020B060402020202020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27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</a:t>
            </a:r>
            <a:r>
              <a:rPr lang="en-US" altLang="en-US" dirty="0"/>
              <a:t>Implicit: Integral promotion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1902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  <a:ea typeface="+mn-ea"/>
                <a:cs typeface="+mn-cs"/>
              </a:rPr>
              <a:t>In an expression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</a:rPr>
              <a:t>if all the values of the original type can be represented by an </a:t>
            </a:r>
            <a:r>
              <a:rPr lang="en-US" altLang="en-US" sz="1500" dirty="0" err="1">
                <a:latin typeface="Helvetica Neue" panose="020B0604020202020204" charset="0"/>
              </a:rPr>
              <a:t>int</a:t>
            </a:r>
            <a:r>
              <a:rPr lang="en-US" altLang="en-US" sz="1500" dirty="0">
                <a:latin typeface="Helvetica Neue" panose="020B0604020202020204" charset="0"/>
              </a:rPr>
              <a:t>, then the value is converted to an int. Example: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r>
              <a:rPr lang="en-US" altLang="en-US" sz="1500" dirty="0">
                <a:latin typeface="Helvetica Neue" panose="020B0604020202020204" charset="0"/>
              </a:rPr>
              <a:t>   </a:t>
            </a:r>
            <a:r>
              <a:rPr lang="en-US" altLang="en-US" sz="1500" dirty="0">
                <a:solidFill>
                  <a:srgbClr val="FF0000"/>
                </a:solidFill>
                <a:latin typeface="Helvetica Neue" panose="020B0604020202020204" charset="0"/>
              </a:rPr>
              <a:t>char c = ‘A’;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</a:rPr>
              <a:t>Otherwise it is converted to an unsigned int.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r>
              <a:rPr lang="en-US" altLang="en-US" sz="2800" dirty="0"/>
              <a:t>    </a:t>
            </a:r>
            <a:endParaRPr lang="en-I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6751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</a:t>
            </a:r>
            <a:r>
              <a:rPr lang="en-US" altLang="en-US" dirty="0"/>
              <a:t>Arithmetic Conversion Rules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855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48" charset="2"/>
              <a:buChar char="n"/>
              <a:defRPr/>
            </a:pPr>
            <a:r>
              <a:rPr lang="en-US" sz="1600" dirty="0">
                <a:latin typeface="Helvetica Neue" panose="020B0604020202020204" charset="0"/>
              </a:rPr>
              <a:t>The rules are applied in the following order</a:t>
            </a:r>
            <a:r>
              <a:rPr lang="en-US" sz="1600" dirty="0">
                <a:latin typeface="Helvetica Neue" panose="020B0604020202020204" charset="0"/>
                <a:ea typeface="ＭＳ Ｐゴシック" pitchFamily="48" charset="-128"/>
              </a:rPr>
              <a:t>    </a:t>
            </a:r>
            <a:endParaRPr lang="en-IN" sz="1600" dirty="0">
              <a:latin typeface="Helvetica Neue" panose="020B0604020202020204" charset="0"/>
              <a:ea typeface="ＭＳ Ｐゴシック" pitchFamily="48" charset="-128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r>
              <a:rPr lang="en-US" altLang="en-US" sz="2800" dirty="0"/>
              <a:t>    </a:t>
            </a:r>
            <a:endParaRPr lang="en-IN" altLang="en-US" sz="2800" dirty="0"/>
          </a:p>
        </p:txBody>
      </p:sp>
      <p:pic>
        <p:nvPicPr>
          <p:cNvPr id="4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1560922"/>
            <a:ext cx="6328065" cy="274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7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</a:t>
            </a:r>
            <a:r>
              <a:rPr lang="en-US" altLang="en-US" dirty="0"/>
              <a:t>Conversion Example</a:t>
            </a:r>
            <a:endParaRPr sz="1800" dirty="0"/>
          </a:p>
        </p:txBody>
      </p:sp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14" y="706582"/>
            <a:ext cx="6940531" cy="34168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1699" y="4123459"/>
            <a:ext cx="34115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Courtesy: A book on C, AI Kelly, Ira Pohl</a:t>
            </a:r>
          </a:p>
        </p:txBody>
      </p:sp>
    </p:spTree>
    <p:extLst>
      <p:ext uri="{BB962C8B-B14F-4D97-AF65-F5344CB8AC3E}">
        <p14:creationId xmlns:p14="http://schemas.microsoft.com/office/powerpoint/2010/main" val="168968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Type conversion</a:t>
            </a:r>
            <a:br>
              <a:rPr lang="en-IN" dirty="0"/>
            </a:br>
            <a:r>
              <a:rPr lang="en-IN" sz="1800" dirty="0"/>
              <a:t>casting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90004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Why casting?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1486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Courier New" pitchFamily="49" charset="0"/>
              </a:rPr>
              <a:t>What is the output of this arithmetic expression?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US" sz="1500" dirty="0">
              <a:latin typeface="Helvetica Neue" panose="020B0604020202020204" charset="0"/>
              <a:ea typeface="+mn-ea"/>
              <a:cs typeface="Courier New" pitchFamily="49" charset="0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sz="1500" dirty="0">
                <a:latin typeface="Helvetica Neue" panose="020B0604020202020204" charset="0"/>
                <a:ea typeface="+mn-ea"/>
                <a:cs typeface="Courier New" pitchFamily="49" charset="0"/>
              </a:rPr>
              <a:t>		</a:t>
            </a:r>
            <a:r>
              <a:rPr lang="en-US" sz="1500" dirty="0" err="1">
                <a:latin typeface="Helvetica Neue" panose="020B0604020202020204" charset="0"/>
                <a:ea typeface="+mn-ea"/>
                <a:cs typeface="Courier New" pitchFamily="49" charset="0"/>
              </a:rPr>
              <a:t>int</a:t>
            </a:r>
            <a:r>
              <a:rPr lang="en-US" sz="1500" dirty="0">
                <a:latin typeface="Helvetica Neue" panose="020B0604020202020204" charset="0"/>
                <a:ea typeface="+mn-ea"/>
                <a:cs typeface="Courier New" pitchFamily="49" charset="0"/>
              </a:rPr>
              <a:t> num1 = 10, num2 = 4;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sz="1500" dirty="0">
                <a:latin typeface="Helvetica Neue" panose="020B0604020202020204" charset="0"/>
                <a:ea typeface="+mn-ea"/>
                <a:cs typeface="Courier New" pitchFamily="49" charset="0"/>
              </a:rPr>
              <a:t>		double num3 = num1 / num2;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800" dirty="0">
              <a:latin typeface="Helvetica" panose="020B0604020202020204" pitchFamily="34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763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</a:t>
            </a:r>
            <a:r>
              <a:rPr lang="en-US" altLang="en-US" dirty="0"/>
              <a:t>Casts	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23175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  <a:ea typeface="+mn-ea"/>
                <a:cs typeface="+mn-cs"/>
              </a:rPr>
              <a:t>Explicit conversion is called casting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</a:rPr>
              <a:t>Manually convert from one type to </a:t>
            </a:r>
            <a:r>
              <a:rPr lang="en-US" altLang="en-US" sz="1500" dirty="0" smtClean="0">
                <a:latin typeface="Helvetica Neue"/>
              </a:rPr>
              <a:t>another temporarily</a:t>
            </a:r>
            <a:endParaRPr lang="en-US" altLang="en-US" sz="1500" dirty="0">
              <a:latin typeface="Helvetica Neue"/>
            </a:endParaRPr>
          </a:p>
          <a:p>
            <a:pPr marL="457200" lv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endParaRPr lang="en-US" altLang="en-US" sz="1500" dirty="0">
              <a:latin typeface="Helvetica Neue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  <a:ea typeface="+mn-ea"/>
                <a:cs typeface="+mn-cs"/>
              </a:rPr>
              <a:t>Syntax: </a:t>
            </a:r>
            <a:r>
              <a:rPr lang="en-US" altLang="en-US" sz="1500" b="1" dirty="0">
                <a:latin typeface="Helvetica Neue"/>
                <a:ea typeface="+mn-ea"/>
                <a:cs typeface="+mn-cs"/>
              </a:rPr>
              <a:t>(type) identifier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  <a:ea typeface="+mn-ea"/>
                <a:cs typeface="+mn-cs"/>
              </a:rPr>
              <a:t>Examples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</a:rPr>
              <a:t>(double) </a:t>
            </a:r>
            <a:r>
              <a:rPr lang="en-US" altLang="en-US" sz="1500" dirty="0" err="1">
                <a:latin typeface="Helvetica Neue"/>
              </a:rPr>
              <a:t>i</a:t>
            </a:r>
            <a:r>
              <a:rPr lang="en-US" altLang="en-US" sz="1500" dirty="0">
                <a:latin typeface="Helvetica Neue"/>
              </a:rPr>
              <a:t>;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/>
              </a:rPr>
              <a:t>f = (float) ((int) d + 1);</a:t>
            </a:r>
            <a:endParaRPr lang="en-IN" altLang="en-US" sz="1500" dirty="0">
              <a:latin typeface="Helvetica Neue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800" dirty="0">
              <a:latin typeface="Helvetica Neue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213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Why casting?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Courier New" pitchFamily="49" charset="0"/>
              </a:rPr>
              <a:t>What is the output of this arithmetic expression?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US" sz="1500" dirty="0">
              <a:latin typeface="Helvetica Neue" panose="020B0604020202020204" charset="0"/>
              <a:ea typeface="+mn-ea"/>
              <a:cs typeface="Courier New" pitchFamily="49" charset="0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sz="1500" dirty="0">
                <a:latin typeface="Helvetica Neue" panose="020B0604020202020204" charset="0"/>
                <a:ea typeface="+mn-ea"/>
                <a:cs typeface="Courier New" pitchFamily="49" charset="0"/>
              </a:rPr>
              <a:t>		</a:t>
            </a:r>
            <a:r>
              <a:rPr lang="en-US" sz="1500" dirty="0" err="1">
                <a:latin typeface="Helvetica Neue" panose="020B0604020202020204" charset="0"/>
                <a:ea typeface="+mn-ea"/>
                <a:cs typeface="Courier New" pitchFamily="49" charset="0"/>
              </a:rPr>
              <a:t>int</a:t>
            </a:r>
            <a:r>
              <a:rPr lang="en-US" sz="1500" dirty="0">
                <a:latin typeface="Helvetica Neue" panose="020B0604020202020204" charset="0"/>
                <a:ea typeface="+mn-ea"/>
                <a:cs typeface="Courier New" pitchFamily="49" charset="0"/>
              </a:rPr>
              <a:t> num1 = 10, num2 = 4;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sz="1500" dirty="0">
                <a:latin typeface="Helvetica Neue" panose="020B0604020202020204" charset="0"/>
                <a:ea typeface="+mn-ea"/>
                <a:cs typeface="Courier New" pitchFamily="49" charset="0"/>
              </a:rPr>
              <a:t>		double num3 = num1 / num2</a:t>
            </a:r>
            <a:r>
              <a:rPr lang="en-US" sz="1500" dirty="0" smtClean="0">
                <a:latin typeface="Helvetica Neue" panose="020B0604020202020204" charset="0"/>
                <a:ea typeface="+mn-ea"/>
                <a:cs typeface="Courier New" pitchFamily="49" charset="0"/>
              </a:rPr>
              <a:t>;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US" sz="1500" dirty="0">
              <a:latin typeface="Helvetica Neue" panose="020B0604020202020204" charset="0"/>
              <a:ea typeface="+mn-ea"/>
              <a:cs typeface="Courier New" pitchFamily="49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 smtClean="0">
                <a:latin typeface="Helvetica Neue" panose="020B0604020202020204" charset="0"/>
                <a:ea typeface="+mn-ea"/>
                <a:cs typeface="Courier New" pitchFamily="49" charset="0"/>
              </a:rPr>
              <a:t>How can we change the expression to get the correct result?</a:t>
            </a:r>
            <a:endParaRPr lang="en-IN" sz="1500" dirty="0">
              <a:latin typeface="Helvetica Neue" panose="020B0604020202020204" charset="0"/>
              <a:ea typeface="+mn-ea"/>
              <a:cs typeface="Courier New" pitchFamily="49" charset="0"/>
            </a:endParaRP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Arial" panose="020B0604020202020204" pitchFamily="34" charset="0"/>
              <a:buChar char="•"/>
            </a:pPr>
            <a:endParaRPr lang="en-IN" sz="1800" dirty="0">
              <a:latin typeface="Helvetica Neue" panose="020B0604020202020204" charset="0"/>
              <a:cs typeface="Courier New" pitchFamily="49" charset="0"/>
            </a:endParaRP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Arial" panose="020B0604020202020204" pitchFamily="34" charset="0"/>
              <a:buChar char="•"/>
            </a:pPr>
            <a:endParaRPr lang="en-IN" sz="1500" dirty="0">
              <a:latin typeface="Helvetica Neue" panose="020B0604020202020204" charset="0"/>
              <a:ea typeface="+mn-ea"/>
              <a:cs typeface="Courier New" pitchFamily="49" charset="0"/>
            </a:endParaRP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Arial" panose="020B0604020202020204" pitchFamily="34" charset="0"/>
              <a:buChar char="•"/>
            </a:pPr>
            <a:endParaRPr lang="en-IN" sz="1800" dirty="0">
              <a:latin typeface="Helvetica Neue" panose="020B0604020202020204" charset="0"/>
              <a:cs typeface="Courier New" pitchFamily="49" charset="0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800" dirty="0">
              <a:latin typeface="Helvetica" panose="020B0604020202020204" pitchFamily="34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8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Widening versus Narrowing Conversions</a:t>
            </a:r>
            <a:r>
              <a:rPr lang="en-US" altLang="en-US" dirty="0"/>
              <a:t>	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222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Widening conversion – convert lower-ranked data type to higher-ranked types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</a:rPr>
              <a:t>No loss of information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Narrowing conversion – convert higher-ranked data type to lower ranked types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</a:rPr>
              <a:t>May result in loss of information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800" dirty="0">
              <a:latin typeface="Helvetica" panose="020B0604020202020204" pitchFamily="34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337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C </a:t>
            </a:r>
            <a:r>
              <a:rPr lang="en-IN" dirty="0" err="1"/>
              <a:t>preprocessor</a:t>
            </a:r>
            <a:r>
              <a:rPr lang="en-IN" dirty="0"/>
              <a:t/>
            </a:r>
            <a:br>
              <a:rPr lang="en-IN" dirty="0"/>
            </a:br>
            <a:r>
              <a:rPr lang="en-IN" sz="1800" dirty="0"/>
              <a:t>Macros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968766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C </a:t>
            </a:r>
            <a:r>
              <a:rPr lang="en-IN" dirty="0" err="1"/>
              <a:t>preprocessor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248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b="1" dirty="0">
                <a:latin typeface="Helvetica Neue" panose="020B0604020202020204" charset="0"/>
                <a:ea typeface="+mn-ea"/>
                <a:cs typeface="+mn-cs"/>
              </a:rPr>
              <a:t>C </a:t>
            </a:r>
            <a:r>
              <a:rPr lang="en-IN" sz="1500" b="1" dirty="0" err="1">
                <a:latin typeface="Helvetica Neue" panose="020B0604020202020204" charset="0"/>
                <a:ea typeface="+mn-ea"/>
                <a:cs typeface="+mn-cs"/>
              </a:rPr>
              <a:t>Preprocessor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 is not a part of the compiler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</a:rPr>
              <a:t>It is a separate step in the compilation </a:t>
            </a:r>
            <a:r>
              <a:rPr lang="en-IN" sz="1500" dirty="0" smtClean="0">
                <a:latin typeface="Helvetica Neue" panose="020B0604020202020204" charset="0"/>
              </a:rPr>
              <a:t>process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IN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</a:rPr>
              <a:t>It is just a text substitution </a:t>
            </a:r>
            <a:r>
              <a:rPr lang="en-IN" sz="1500" dirty="0" smtClean="0">
                <a:latin typeface="Helvetica Neue" panose="020B0604020202020204" charset="0"/>
              </a:rPr>
              <a:t>tool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IN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</a:rPr>
              <a:t>All pre-processor commands begin with a #</a:t>
            </a:r>
          </a:p>
          <a:p>
            <a:pPr marL="457200" lv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endParaRPr lang="en-IN" sz="2400" dirty="0">
              <a:solidFill>
                <a:srgbClr val="00B050"/>
              </a:solidFill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800" dirty="0">
              <a:latin typeface="Helvetica" panose="020B0604020202020204" pitchFamily="34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523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</a:t>
            </a:r>
            <a:r>
              <a:rPr lang="en-US" altLang="en-US" dirty="0"/>
              <a:t>Macros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314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Macro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IN" sz="1500" dirty="0">
              <a:latin typeface="Helvetica Neue" panose="020B0604020202020204" charset="0"/>
              <a:ea typeface="+mn-ea"/>
              <a:cs typeface="+mn-cs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</a:rPr>
              <a:t># </a:t>
            </a:r>
            <a:r>
              <a:rPr lang="en-GB" altLang="en-US" sz="1500" dirty="0">
                <a:latin typeface="Helvetica Neue" panose="020B0604020202020204" charset="0"/>
              </a:rPr>
              <a:t>define &lt;macro name&gt; [ (&lt;parameters&gt;) ] &lt;macro text&gt;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500" dirty="0" smtClean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1500" dirty="0">
                <a:latin typeface="Helvetica Neue" panose="020B0604020202020204" charset="0"/>
              </a:rPr>
              <a:t>Performs a text substitution </a:t>
            </a:r>
            <a:r>
              <a:rPr lang="en-US" altLang="en-US" sz="1500" dirty="0">
                <a:latin typeface="Helvetica Neue" panose="020B0604020202020204" charset="0"/>
                <a:cs typeface="Times New Roman" panose="02020603050405020304" pitchFamily="18" charset="0"/>
              </a:rPr>
              <a:t>–</a:t>
            </a:r>
            <a:r>
              <a:rPr lang="en-US" altLang="en-US" sz="1500" dirty="0">
                <a:latin typeface="Helvetica Neue" panose="020B0604020202020204" charset="0"/>
              </a:rPr>
              <a:t> no data type checking</a:t>
            </a:r>
          </a:p>
          <a:p>
            <a:pPr marL="457200" lv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endParaRPr lang="en-IN" sz="1500" dirty="0">
              <a:solidFill>
                <a:srgbClr val="00B050"/>
              </a:solidFill>
              <a:latin typeface="Helvetica Neue" panose="020B0604020202020204" charset="0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800" dirty="0">
              <a:latin typeface="Helvetica" panose="020B0604020202020204" pitchFamily="34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730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Predefined macro name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222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The __DATE__ Macro: current date (month </a:t>
            </a:r>
            <a:r>
              <a:rPr lang="en-IN" sz="1500" dirty="0" err="1">
                <a:latin typeface="Helvetica Neue" panose="020B0604020202020204" charset="0"/>
                <a:ea typeface="+mn-ea"/>
                <a:cs typeface="+mn-cs"/>
              </a:rPr>
              <a:t>dd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 </a:t>
            </a:r>
            <a:r>
              <a:rPr lang="en-IN" sz="1500" dirty="0" err="1">
                <a:latin typeface="Helvetica Neue" panose="020B0604020202020204" charset="0"/>
                <a:ea typeface="+mn-ea"/>
                <a:cs typeface="+mn-cs"/>
              </a:rPr>
              <a:t>yyyy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)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The __FILE__ Macro: current source file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The __LINE__ Macro: line number in source file containing the macro reference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The __TIME__ Macro: time compilation started (</a:t>
            </a:r>
            <a:r>
              <a:rPr lang="en-IN" sz="1500" dirty="0" err="1">
                <a:latin typeface="Helvetica Neue" panose="020B0604020202020204" charset="0"/>
                <a:ea typeface="+mn-ea"/>
                <a:cs typeface="+mn-cs"/>
              </a:rPr>
              <a:t>hh:mm:ss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)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The __STDC__ Macro: evaluates to integer constant 1, which indicates a conforming implementation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800" dirty="0">
              <a:latin typeface="Helvetica" panose="020B0604020202020204" pitchFamily="34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755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 Predefined macro </a:t>
            </a:r>
            <a:r>
              <a:rPr lang="en-IN" dirty="0" smtClean="0"/>
              <a:t>name: putting it together</a:t>
            </a:r>
            <a:endParaRPr sz="1800" dirty="0"/>
          </a:p>
        </p:txBody>
      </p:sp>
      <p:sp>
        <p:nvSpPr>
          <p:cNvPr id="3" name="Rectangle 2"/>
          <p:cNvSpPr/>
          <p:nvPr/>
        </p:nvSpPr>
        <p:spPr>
          <a:xfrm>
            <a:off x="831273" y="1415115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#include&lt;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#define PI 3.14</a:t>
            </a:r>
          </a:p>
          <a:p>
            <a:r>
              <a:rPr lang="en-IN" dirty="0" err="1"/>
              <a:t>int</a:t>
            </a:r>
            <a:r>
              <a:rPr lang="en-IN" dirty="0"/>
              <a:t> main(){</a:t>
            </a:r>
          </a:p>
          <a:p>
            <a:r>
              <a:rPr lang="en-IN" dirty="0"/>
              <a:t>       </a:t>
            </a:r>
            <a:r>
              <a:rPr lang="en-IN" dirty="0" err="1" smtClean="0"/>
              <a:t>printf</a:t>
            </a:r>
            <a:r>
              <a:rPr lang="en-IN" dirty="0" smtClean="0"/>
              <a:t>(“%f\n”, PI); </a:t>
            </a:r>
          </a:p>
          <a:p>
            <a:r>
              <a:rPr lang="en-IN" dirty="0"/>
              <a:t> </a:t>
            </a:r>
            <a:r>
              <a:rPr lang="en-IN" dirty="0" smtClean="0"/>
              <a:t>      </a:t>
            </a:r>
            <a:r>
              <a:rPr lang="en-IN" dirty="0" err="1" smtClean="0"/>
              <a:t>printf</a:t>
            </a:r>
            <a:r>
              <a:rPr lang="en-IN" dirty="0"/>
              <a:t>("%s\n", __TIME__);</a:t>
            </a:r>
          </a:p>
          <a:p>
            <a:r>
              <a:rPr lang="en-IN" dirty="0"/>
              <a:t>       </a:t>
            </a:r>
            <a:r>
              <a:rPr lang="en-IN" dirty="0" err="1"/>
              <a:t>printf</a:t>
            </a:r>
            <a:r>
              <a:rPr lang="en-IN" dirty="0"/>
              <a:t>("%s\n", __DATE__);</a:t>
            </a:r>
          </a:p>
          <a:p>
            <a:r>
              <a:rPr lang="en-IN" dirty="0"/>
              <a:t>       </a:t>
            </a:r>
            <a:r>
              <a:rPr lang="en-IN" dirty="0" err="1"/>
              <a:t>printf</a:t>
            </a:r>
            <a:r>
              <a:rPr lang="en-IN" dirty="0"/>
              <a:t>("%s\n", __FILE__);</a:t>
            </a:r>
          </a:p>
          <a:p>
            <a:r>
              <a:rPr lang="en-IN" dirty="0"/>
              <a:t>       </a:t>
            </a:r>
            <a:r>
              <a:rPr lang="en-IN" dirty="0" err="1"/>
              <a:t>printf</a:t>
            </a:r>
            <a:r>
              <a:rPr lang="en-IN" dirty="0"/>
              <a:t>("%d\n", __LINE__);</a:t>
            </a:r>
          </a:p>
          <a:p>
            <a:r>
              <a:rPr lang="en-IN" dirty="0"/>
              <a:t>       </a:t>
            </a:r>
            <a:r>
              <a:rPr lang="en-IN" dirty="0" err="1"/>
              <a:t>printf</a:t>
            </a:r>
            <a:r>
              <a:rPr lang="en-IN" dirty="0"/>
              <a:t>("%d\n", __STDC__);</a:t>
            </a:r>
          </a:p>
          <a:p>
            <a:r>
              <a:rPr lang="en-IN" dirty="0"/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22" y="2288505"/>
            <a:ext cx="1543265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162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C </a:t>
            </a:r>
            <a:r>
              <a:rPr lang="en-IN" dirty="0" err="1"/>
              <a:t>preprocessor</a:t>
            </a:r>
            <a:r>
              <a:rPr lang="en-IN" dirty="0"/>
              <a:t/>
            </a:r>
            <a:br>
              <a:rPr lang="en-IN" dirty="0"/>
            </a:br>
            <a:r>
              <a:rPr lang="en-IN" sz="1800" dirty="0"/>
              <a:t>Parameterized Macros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041744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Parameterized macros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284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Parameterized macros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IN" sz="1500" dirty="0">
                <a:latin typeface="Helvetica Neue" panose="020B0604020202020204" charset="0"/>
              </a:rPr>
              <a:t># </a:t>
            </a:r>
            <a:r>
              <a:rPr lang="en-GB" altLang="en-US" sz="1500" dirty="0">
                <a:latin typeface="Helvetica Neue" panose="020B0604020202020204" charset="0"/>
              </a:rPr>
              <a:t>define &lt;macro name&gt; [ (&lt;parameters&gt;) ] &lt;macro </a:t>
            </a:r>
            <a:r>
              <a:rPr lang="en-GB" altLang="en-US" sz="1500" dirty="0" smtClean="0">
                <a:latin typeface="Helvetica Neue" panose="020B0604020202020204" charset="0"/>
              </a:rPr>
              <a:t>text&gt;</a:t>
            </a:r>
          </a:p>
          <a:p>
            <a:pPr marL="457200" lv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r>
              <a:rPr lang="en-GB" altLang="en-US" sz="1500" dirty="0">
                <a:latin typeface="Helvetica Neue" panose="020B0604020202020204" charset="0"/>
              </a:rPr>
              <a:t> </a:t>
            </a:r>
            <a:r>
              <a:rPr lang="en-GB" altLang="en-US" sz="1500" dirty="0" smtClean="0">
                <a:latin typeface="Helvetica Neue" panose="020B0604020202020204" charset="0"/>
              </a:rPr>
              <a:t> Example:    </a:t>
            </a:r>
          </a:p>
          <a:p>
            <a:pPr marL="457200" lvl="1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</a:pPr>
            <a:r>
              <a:rPr lang="en-GB" altLang="en-US" sz="1500" dirty="0">
                <a:latin typeface="Helvetica Neue" panose="020B0604020202020204" charset="0"/>
              </a:rPr>
              <a:t> </a:t>
            </a:r>
            <a:r>
              <a:rPr lang="en-GB" altLang="en-US" sz="1500" dirty="0" smtClean="0">
                <a:latin typeface="Helvetica Neue" panose="020B0604020202020204" charset="0"/>
              </a:rPr>
              <a:t>     #define SQ(x)  x * x </a:t>
            </a:r>
            <a:endParaRPr lang="en-GB" altLang="en-US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GB" altLang="en-US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GB" altLang="en-US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GB" altLang="en-US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endParaRPr lang="en-US" sz="1500" dirty="0">
              <a:latin typeface="Helvetica Neue" panose="020B0604020202020204" charset="0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1500" dirty="0">
                <a:latin typeface="Helvetica Neue" panose="020B0604020202020204" charset="0"/>
              </a:rPr>
              <a:t>Advantage: code reusability</a:t>
            </a:r>
            <a:endParaRPr lang="en-IN" sz="1500" dirty="0">
              <a:latin typeface="Helvetica Neue" panose="020B0604020202020204" charset="0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800" dirty="0">
              <a:latin typeface="Helvetica" panose="020B0604020202020204" pitchFamily="34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31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r>
              <a:rPr lang="en-IN" dirty="0"/>
              <a:t>#include&lt;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133350" indent="0">
              <a:buNone/>
            </a:pPr>
            <a:r>
              <a:rPr lang="en-IN" dirty="0"/>
              <a:t>#define </a:t>
            </a:r>
            <a:r>
              <a:rPr lang="en-IN" dirty="0" err="1" smtClean="0"/>
              <a:t>cir</a:t>
            </a:r>
            <a:r>
              <a:rPr lang="en-IN" dirty="0" smtClean="0"/>
              <a:t>(r</a:t>
            </a:r>
            <a:r>
              <a:rPr lang="en-IN" dirty="0"/>
              <a:t>)       3.14*r*r</a:t>
            </a:r>
          </a:p>
          <a:p>
            <a:pPr marL="133350" indent="0">
              <a:buNone/>
            </a:pPr>
            <a:endParaRPr lang="en-IN" dirty="0"/>
          </a:p>
          <a:p>
            <a:pPr marL="133350" indent="0">
              <a:buNone/>
            </a:pPr>
            <a:r>
              <a:rPr lang="en-IN" dirty="0" err="1"/>
              <a:t>int</a:t>
            </a:r>
            <a:r>
              <a:rPr lang="en-IN" dirty="0"/>
              <a:t> main(){</a:t>
            </a:r>
          </a:p>
          <a:p>
            <a:pPr marL="133350" indent="0">
              <a:buNone/>
            </a:pPr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radius;</a:t>
            </a:r>
          </a:p>
          <a:p>
            <a:pPr marL="133350" indent="0">
              <a:buNone/>
            </a:pPr>
            <a:r>
              <a:rPr lang="en-IN" dirty="0"/>
              <a:t>        float area;</a:t>
            </a:r>
          </a:p>
          <a:p>
            <a:pPr marL="133350" indent="0">
              <a:buNone/>
            </a:pPr>
            <a:r>
              <a:rPr lang="en-IN" dirty="0"/>
              <a:t>        </a:t>
            </a:r>
            <a:r>
              <a:rPr lang="en-IN" dirty="0" err="1"/>
              <a:t>scanf</a:t>
            </a:r>
            <a:r>
              <a:rPr lang="en-IN" dirty="0"/>
              <a:t>("%</a:t>
            </a:r>
            <a:r>
              <a:rPr lang="en-IN" dirty="0" err="1"/>
              <a:t>d",&amp;radius</a:t>
            </a:r>
            <a:r>
              <a:rPr lang="en-IN" dirty="0"/>
              <a:t>);</a:t>
            </a:r>
          </a:p>
          <a:p>
            <a:pPr marL="133350" indent="0">
              <a:buNone/>
            </a:pPr>
            <a:r>
              <a:rPr lang="en-IN" dirty="0"/>
              <a:t>        area = </a:t>
            </a:r>
            <a:r>
              <a:rPr lang="en-IN" dirty="0" err="1" smtClean="0"/>
              <a:t>cir</a:t>
            </a:r>
            <a:r>
              <a:rPr lang="en-IN" dirty="0" smtClean="0"/>
              <a:t>(radius</a:t>
            </a:r>
            <a:r>
              <a:rPr lang="en-IN" dirty="0"/>
              <a:t>);</a:t>
            </a:r>
          </a:p>
          <a:p>
            <a:pPr marL="13335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("Area :%f\</a:t>
            </a:r>
            <a:r>
              <a:rPr lang="en-IN" dirty="0" err="1"/>
              <a:t>n",area</a:t>
            </a:r>
            <a:r>
              <a:rPr lang="en-IN" dirty="0"/>
              <a:t>);</a:t>
            </a:r>
          </a:p>
          <a:p>
            <a:pPr marL="133350" indent="0">
              <a:buNone/>
            </a:pPr>
            <a:r>
              <a:rPr lang="en-IN" dirty="0"/>
              <a:t>}</a:t>
            </a:r>
          </a:p>
          <a:p>
            <a:pPr marL="133350" indent="0">
              <a:buNone/>
            </a:pP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1699" y="88000"/>
            <a:ext cx="6355107" cy="793500"/>
          </a:xfrm>
        </p:spPr>
        <p:txBody>
          <a:bodyPr>
            <a:normAutofit/>
          </a:bodyPr>
          <a:lstStyle/>
          <a:p>
            <a:r>
              <a:rPr lang="en-IN" dirty="0" smtClean="0"/>
              <a:t>Using parameterized macros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0867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Improper use of </a:t>
            </a:r>
            <a:r>
              <a:rPr lang="en-IN" dirty="0" smtClean="0"/>
              <a:t>macro: an example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031209" cy="287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#include &lt;</a:t>
            </a:r>
            <a:r>
              <a:rPr lang="en-IN" sz="1500" dirty="0" err="1">
                <a:latin typeface="Helvetica Neue" panose="020B0604020202020204" charset="0"/>
                <a:ea typeface="+mn-ea"/>
                <a:cs typeface="+mn-cs"/>
              </a:rPr>
              <a:t>stdio.h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#define </a:t>
            </a:r>
            <a:r>
              <a:rPr lang="en-IN" sz="1500" dirty="0" err="1">
                <a:latin typeface="Helvetica Neue" panose="020B0604020202020204" charset="0"/>
                <a:ea typeface="+mn-ea"/>
                <a:cs typeface="+mn-cs"/>
              </a:rPr>
              <a:t>sq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(x) x*x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sz="1500" dirty="0" err="1">
                <a:latin typeface="Helvetica Neue" panose="020B0604020202020204" charset="0"/>
                <a:ea typeface="+mn-ea"/>
                <a:cs typeface="+mn-cs"/>
              </a:rPr>
              <a:t>int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 main()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{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  </a:t>
            </a:r>
            <a:r>
              <a:rPr lang="en-IN" sz="1500" dirty="0" err="1">
                <a:latin typeface="Helvetica Neue" panose="020B0604020202020204" charset="0"/>
                <a:ea typeface="+mn-ea"/>
                <a:cs typeface="+mn-cs"/>
              </a:rPr>
              <a:t>int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 x;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  x = 25/</a:t>
            </a:r>
            <a:r>
              <a:rPr lang="en-IN" sz="1500" dirty="0" err="1">
                <a:latin typeface="Helvetica Neue" panose="020B0604020202020204" charset="0"/>
                <a:ea typeface="+mn-ea"/>
                <a:cs typeface="+mn-cs"/>
              </a:rPr>
              <a:t>sq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(5);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  </a:t>
            </a:r>
            <a:r>
              <a:rPr lang="en-IN" sz="1500" dirty="0" err="1">
                <a:latin typeface="Helvetica Neue" panose="020B0604020202020204" charset="0"/>
                <a:ea typeface="+mn-ea"/>
                <a:cs typeface="+mn-cs"/>
              </a:rPr>
              <a:t>printf</a:t>
            </a: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("%d", x);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  return 0;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IN" sz="1500" dirty="0">
                <a:latin typeface="Helvetica Neue" panose="020B0604020202020204" charset="0"/>
                <a:ea typeface="+mn-ea"/>
                <a:cs typeface="+mn-cs"/>
              </a:rPr>
              <a:t>}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IN" sz="1800" dirty="0">
              <a:latin typeface="Helvetica" panose="020B0604020202020204" pitchFamily="34" charset="0"/>
              <a:ea typeface="+mn-ea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233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7197464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IN" dirty="0"/>
              <a:t>Improper use of </a:t>
            </a:r>
            <a:r>
              <a:rPr lang="en-IN" dirty="0" smtClean="0"/>
              <a:t>macro: Another example</a:t>
            </a:r>
            <a:endParaRPr sz="1800" dirty="0"/>
          </a:p>
        </p:txBody>
      </p:sp>
      <p:sp>
        <p:nvSpPr>
          <p:cNvPr id="2" name="Rectangle 1"/>
          <p:cNvSpPr/>
          <p:nvPr/>
        </p:nvSpPr>
        <p:spPr>
          <a:xfrm>
            <a:off x="394827" y="1177182"/>
            <a:ext cx="768514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#include &lt;</a:t>
            </a:r>
            <a:r>
              <a:rPr lang="en-IN" dirty="0" err="1">
                <a:latin typeface="Helvetica" panose="020B0604020202020204" pitchFamily="34" charset="0"/>
              </a:rPr>
              <a:t>stdio.h</a:t>
            </a:r>
            <a:r>
              <a:rPr lang="en-IN" dirty="0">
                <a:latin typeface="Helvetica" panose="020B0604020202020204" pitchFamily="34" charset="0"/>
              </a:rPr>
              <a:t>&gt;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#define WRITE(</a:t>
            </a:r>
            <a:r>
              <a:rPr lang="en-IN" dirty="0" err="1">
                <a:latin typeface="Helvetica" panose="020B0604020202020204" pitchFamily="34" charset="0"/>
              </a:rPr>
              <a:t>i</a:t>
            </a:r>
            <a:r>
              <a:rPr lang="en-IN" dirty="0">
                <a:latin typeface="Helvetica" panose="020B0604020202020204" pitchFamily="34" charset="0"/>
              </a:rPr>
              <a:t>, n) do 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                 </a:t>
            </a:r>
            <a:r>
              <a:rPr lang="en-IN" dirty="0" smtClean="0">
                <a:latin typeface="Helvetica" panose="020B0604020202020204" pitchFamily="34" charset="0"/>
              </a:rPr>
              <a:t>{ </a:t>
            </a:r>
            <a:endParaRPr lang="en-IN" dirty="0">
              <a:latin typeface="Helvetica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                     </a:t>
            </a:r>
            <a:r>
              <a:rPr lang="en-IN" dirty="0" smtClean="0">
                <a:latin typeface="Helvetica" panose="020B0604020202020204" pitchFamily="34" charset="0"/>
              </a:rPr>
              <a:t> </a:t>
            </a:r>
            <a:r>
              <a:rPr lang="en-IN" dirty="0">
                <a:latin typeface="Helvetica" panose="020B0604020202020204" pitchFamily="34" charset="0"/>
              </a:rPr>
              <a:t>if (</a:t>
            </a:r>
            <a:r>
              <a:rPr lang="en-IN" dirty="0" err="1">
                <a:latin typeface="Helvetica" panose="020B0604020202020204" pitchFamily="34" charset="0"/>
              </a:rPr>
              <a:t>i</a:t>
            </a:r>
            <a:r>
              <a:rPr lang="en-IN" dirty="0">
                <a:latin typeface="Helvetica" panose="020B0604020202020204" pitchFamily="34" charset="0"/>
              </a:rPr>
              <a:t>++ &lt; n) 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                       </a:t>
            </a:r>
            <a:r>
              <a:rPr lang="en-IN" dirty="0" smtClean="0">
                <a:latin typeface="Helvetica" panose="020B0604020202020204" pitchFamily="34" charset="0"/>
              </a:rPr>
              <a:t>  </a:t>
            </a:r>
            <a:r>
              <a:rPr lang="en-IN" dirty="0">
                <a:latin typeface="Helvetica" panose="020B0604020202020204" pitchFamily="34" charset="0"/>
              </a:rPr>
              <a:t>{ 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                          </a:t>
            </a:r>
            <a:r>
              <a:rPr lang="en-IN" dirty="0" smtClean="0">
                <a:latin typeface="Helvetica" panose="020B0604020202020204" pitchFamily="34" charset="0"/>
              </a:rPr>
              <a:t>  </a:t>
            </a:r>
            <a:r>
              <a:rPr lang="en-IN" dirty="0" err="1">
                <a:latin typeface="Helvetica" panose="020B0604020202020204" pitchFamily="34" charset="0"/>
              </a:rPr>
              <a:t>printf</a:t>
            </a:r>
            <a:r>
              <a:rPr lang="en-IN" dirty="0">
                <a:latin typeface="Helvetica" panose="020B0604020202020204" pitchFamily="34" charset="0"/>
              </a:rPr>
              <a:t>(“Hello world\n"); 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                          </a:t>
            </a:r>
            <a:r>
              <a:rPr lang="en-IN" dirty="0" smtClean="0">
                <a:latin typeface="Helvetica" panose="020B0604020202020204" pitchFamily="34" charset="0"/>
              </a:rPr>
              <a:t>  </a:t>
            </a:r>
            <a:r>
              <a:rPr lang="en-IN" dirty="0">
                <a:latin typeface="Helvetica" panose="020B0604020202020204" pitchFamily="34" charset="0"/>
              </a:rPr>
              <a:t>continue; 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                          </a:t>
            </a:r>
            <a:r>
              <a:rPr lang="en-IN" dirty="0" smtClean="0">
                <a:latin typeface="Helvetica" panose="020B0604020202020204" pitchFamily="34" charset="0"/>
              </a:rPr>
              <a:t>} </a:t>
            </a:r>
            <a:endParaRPr lang="en-IN" dirty="0">
              <a:latin typeface="Helvetica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                       }while(1)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IN" dirty="0" err="1">
                <a:latin typeface="Helvetica" panose="020B0604020202020204" pitchFamily="34" charset="0"/>
              </a:rPr>
              <a:t>int</a:t>
            </a:r>
            <a:r>
              <a:rPr lang="en-IN" dirty="0">
                <a:latin typeface="Helvetica" panose="020B0604020202020204" pitchFamily="34" charset="0"/>
              </a:rPr>
              <a:t> main()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   WRITE(0, 3);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</a:rPr>
              <a:t>    return 0;</a:t>
            </a:r>
          </a:p>
          <a:p>
            <a:pPr marL="0" indent="0">
              <a:buNone/>
            </a:pPr>
            <a:r>
              <a:rPr lang="en-IN" dirty="0" smtClean="0">
                <a:latin typeface="Helvetica" panose="020B0604020202020204" pitchFamily="34" charset="0"/>
              </a:rPr>
              <a:t>}</a:t>
            </a:r>
            <a:endParaRPr lang="en-IN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00400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1185</Words>
  <Application>Microsoft Office PowerPoint</Application>
  <PresentationFormat>On-screen Show (16:9)</PresentationFormat>
  <Paragraphs>267</Paragraphs>
  <Slides>40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Wingdings</vt:lpstr>
      <vt:lpstr>ＭＳ Ｐゴシック</vt:lpstr>
      <vt:lpstr>Helvetica Neue</vt:lpstr>
      <vt:lpstr>Times New Roman</vt:lpstr>
      <vt:lpstr>Courier New</vt:lpstr>
      <vt:lpstr>Helvetica</vt:lpstr>
      <vt:lpstr>Arial</vt:lpstr>
      <vt:lpstr>Simple Light</vt:lpstr>
      <vt:lpstr>Bachelor of Science (Honours) in Data Science and Artificial Intelligence</vt:lpstr>
      <vt:lpstr>Data types and Macros</vt:lpstr>
      <vt:lpstr>Fundamental data types Functionality of data types</vt:lpstr>
      <vt:lpstr>Data Types</vt:lpstr>
      <vt:lpstr>Data types by functionality</vt:lpstr>
      <vt:lpstr>Fundamental data types Characters</vt:lpstr>
      <vt:lpstr>Character</vt:lpstr>
      <vt:lpstr>Input/Output statement (Review)</vt:lpstr>
      <vt:lpstr>Read/write character</vt:lpstr>
      <vt:lpstr>ASCII Table</vt:lpstr>
      <vt:lpstr>Summary: Different ways to say the same</vt:lpstr>
      <vt:lpstr>Fundamental data types Integers and floating points</vt:lpstr>
      <vt:lpstr>Integers (int)</vt:lpstr>
      <vt:lpstr>Integral Types </vt:lpstr>
      <vt:lpstr> float vs double vs long double</vt:lpstr>
      <vt:lpstr> float vs double vs long double</vt:lpstr>
      <vt:lpstr> Data types, size, format</vt:lpstr>
      <vt:lpstr>Fundamental data types Keywords typedef and sizeof</vt:lpstr>
      <vt:lpstr> typedef</vt:lpstr>
      <vt:lpstr> sizeof Operator</vt:lpstr>
      <vt:lpstr>Type conversion coercion</vt:lpstr>
      <vt:lpstr> Conversion types</vt:lpstr>
      <vt:lpstr> Implicit: Integral promotion</vt:lpstr>
      <vt:lpstr> Arithmetic Conversion Rules</vt:lpstr>
      <vt:lpstr> Conversion Example</vt:lpstr>
      <vt:lpstr>Type conversion casting</vt:lpstr>
      <vt:lpstr> Why casting?</vt:lpstr>
      <vt:lpstr> Casts </vt:lpstr>
      <vt:lpstr> Why casting?</vt:lpstr>
      <vt:lpstr> Widening versus Narrowing Conversions </vt:lpstr>
      <vt:lpstr>C preprocessor Macros</vt:lpstr>
      <vt:lpstr> C preprocessor</vt:lpstr>
      <vt:lpstr> Macros</vt:lpstr>
      <vt:lpstr> Predefined macro name</vt:lpstr>
      <vt:lpstr> Predefined macro name: putting it together</vt:lpstr>
      <vt:lpstr>C preprocessor Parameterized Macros</vt:lpstr>
      <vt:lpstr>Parameterized macros</vt:lpstr>
      <vt:lpstr>Using parameterized macros</vt:lpstr>
      <vt:lpstr>Improper use of macro: an example</vt:lpstr>
      <vt:lpstr>Improper use of macro: Another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Ashok Singh</dc:creator>
  <cp:lastModifiedBy>Ashok Singh Sairam</cp:lastModifiedBy>
  <cp:revision>51</cp:revision>
  <dcterms:modified xsi:type="dcterms:W3CDTF">2024-09-20T04:13:08Z</dcterms:modified>
</cp:coreProperties>
</file>