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60"/>
  </p:notesMasterIdLst>
  <p:sldIdLst>
    <p:sldId id="256" r:id="rId2"/>
    <p:sldId id="257" r:id="rId3"/>
    <p:sldId id="259" r:id="rId4"/>
    <p:sldId id="260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6" r:id="rId24"/>
    <p:sldId id="287" r:id="rId25"/>
    <p:sldId id="288" r:id="rId26"/>
    <p:sldId id="289" r:id="rId27"/>
    <p:sldId id="282" r:id="rId28"/>
    <p:sldId id="283" r:id="rId29"/>
    <p:sldId id="284" r:id="rId30"/>
    <p:sldId id="285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02" r:id="rId57"/>
    <p:sldId id="303" r:id="rId58"/>
    <p:sldId id="304" r:id="rId59"/>
  </p:sldIdLst>
  <p:sldSz cx="9144000" cy="5143500" type="screen16x9"/>
  <p:notesSz cx="6858000" cy="9144000"/>
  <p:embeddedFontLst>
    <p:embeddedFont>
      <p:font typeface="Helvetica Neue" panose="020B0604020202020204" charset="0"/>
      <p:regular r:id="rId61"/>
      <p:bold r:id="rId62"/>
      <p:italic r:id="rId63"/>
      <p:boldItalic r:id="rId64"/>
    </p:embeddedFont>
    <p:embeddedFont>
      <p:font typeface="ＭＳ Ｐゴシック" panose="020B0600070205080204" pitchFamily="34" charset="-128"/>
      <p:regular r:id="rId65"/>
    </p:embeddedFont>
    <p:embeddedFont>
      <p:font typeface="Helvetica" panose="020B0604020202020204" pitchFamily="34" charset="0"/>
      <p:regular r:id="rId66"/>
      <p:bold r:id="rId67"/>
      <p:italic r:id="rId68"/>
      <p:boldItalic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6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CA20D-96FC-B1C4-54B9-E28BA9CDE1E7}" v="5" dt="2023-08-14T05:17:35.356"/>
  </p1510:revLst>
</p1510:revInfo>
</file>

<file path=ppt/tableStyles.xml><?xml version="1.0" encoding="utf-8"?>
<a:tblStyleLst xmlns:a="http://schemas.openxmlformats.org/drawingml/2006/main" def="{578D327A-D4A4-4160-9BAD-CE66B4452F15}">
  <a:tblStyle styleId="{578D327A-D4A4-4160-9BAD-CE66B4452F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15" autoAdjust="0"/>
  </p:normalViewPr>
  <p:slideViewPr>
    <p:cSldViewPr snapToGrid="0">
      <p:cViewPr varScale="1">
        <p:scale>
          <a:sx n="92" d="100"/>
          <a:sy n="92" d="100"/>
        </p:scale>
        <p:origin x="11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ableStyles" Target="tableStyle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SPANJALI GHOSHAL" userId="S::g.puspanjali@iitg.ac.in::e1744c29-695f-45d9-84bb-2d92beeb5066" providerId="AD" clId="Web-{418CA20D-96FC-B1C4-54B9-E28BA9CDE1E7}"/>
    <pc:docChg chg="modSld">
      <pc:chgData name="PUSPANJALI GHOSHAL" userId="S::g.puspanjali@iitg.ac.in::e1744c29-695f-45d9-84bb-2d92beeb5066" providerId="AD" clId="Web-{418CA20D-96FC-B1C4-54B9-E28BA9CDE1E7}" dt="2023-08-14T05:17:35.356" v="3"/>
      <pc:docMkLst>
        <pc:docMk/>
      </pc:docMkLst>
      <pc:sldChg chg="modSp">
        <pc:chgData name="PUSPANJALI GHOSHAL" userId="S::g.puspanjali@iitg.ac.in::e1744c29-695f-45d9-84bb-2d92beeb5066" providerId="AD" clId="Web-{418CA20D-96FC-B1C4-54B9-E28BA9CDE1E7}" dt="2023-08-14T05:17:18.543" v="1" actId="20577"/>
        <pc:sldMkLst>
          <pc:docMk/>
          <pc:sldMk cId="0" sldId="258"/>
        </pc:sldMkLst>
        <pc:spChg chg="mod">
          <ac:chgData name="PUSPANJALI GHOSHAL" userId="S::g.puspanjali@iitg.ac.in::e1744c29-695f-45d9-84bb-2d92beeb5066" providerId="AD" clId="Web-{418CA20D-96FC-B1C4-54B9-E28BA9CDE1E7}" dt="2023-08-14T05:17:05.995" v="0" actId="20577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PUSPANJALI GHOSHAL" userId="S::g.puspanjali@iitg.ac.in::e1744c29-695f-45d9-84bb-2d92beeb5066" providerId="AD" clId="Web-{418CA20D-96FC-B1C4-54B9-E28BA9CDE1E7}" dt="2023-08-14T05:17:18.543" v="1" actId="20577"/>
          <ac:spMkLst>
            <pc:docMk/>
            <pc:sldMk cId="0" sldId="258"/>
            <ac:spMk id="113" creationId="{00000000-0000-0000-0000-000000000000}"/>
          </ac:spMkLst>
        </pc:spChg>
      </pc:sldChg>
      <pc:sldChg chg="delSp modSp">
        <pc:chgData name="PUSPANJALI GHOSHAL" userId="S::g.puspanjali@iitg.ac.in::e1744c29-695f-45d9-84bb-2d92beeb5066" providerId="AD" clId="Web-{418CA20D-96FC-B1C4-54B9-E28BA9CDE1E7}" dt="2023-08-14T05:17:35.356" v="3"/>
        <pc:sldMkLst>
          <pc:docMk/>
          <pc:sldMk cId="1932165704" sldId="260"/>
        </pc:sldMkLst>
        <pc:spChg chg="del mod">
          <ac:chgData name="PUSPANJALI GHOSHAL" userId="S::g.puspanjali@iitg.ac.in::e1744c29-695f-45d9-84bb-2d92beeb5066" providerId="AD" clId="Web-{418CA20D-96FC-B1C4-54B9-E28BA9CDE1E7}" dt="2023-08-14T05:17:35.356" v="3"/>
          <ac:spMkLst>
            <pc:docMk/>
            <pc:sldMk cId="1932165704" sldId="26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39d9d1c9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39d9d1c9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39d9d1c90f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39d9d1c90f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67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82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536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182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N" baseline="0" dirty="0" smtClean="0"/>
          </a:p>
        </p:txBody>
      </p:sp>
    </p:spTree>
    <p:extLst>
      <p:ext uri="{BB962C8B-B14F-4D97-AF65-F5344CB8AC3E}">
        <p14:creationId xmlns:p14="http://schemas.microsoft.com/office/powerpoint/2010/main" val="250722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50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48" charset="-128"/>
                <a:cs typeface="+mn-cs"/>
              </a:rPr>
              <a:t>.</a:t>
            </a:r>
            <a:endParaRPr kumimoji="0" lang="en-IN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125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506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396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151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96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444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452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182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462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540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4889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88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3568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0690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57447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877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112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46647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7236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1214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6013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05221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9279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8606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915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7656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286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0591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8842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60129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6908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07842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61363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0109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506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7494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21832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308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2394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31009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3848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46632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7103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58196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71933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50168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3973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N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6505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N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709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8" name="Google Shape;58;p8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075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7" r:id="rId4"/>
    <p:sldLayoutId id="214748366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Bachelor of Science (Honours) in Data Science and Artificial Intelligence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 104, C programming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Lexical elements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" dirty="0" smtClean="0"/>
              <a:t>Tokens</a:t>
            </a:r>
            <a:r>
              <a:rPr lang="en" dirty="0"/>
              <a:t/>
            </a:r>
            <a:br>
              <a:rPr lang="en" dirty="0"/>
            </a:br>
            <a:r>
              <a:rPr lang="en-IN" sz="1800" dirty="0"/>
              <a:t>Types of </a:t>
            </a:r>
            <a:r>
              <a:rPr lang="en-IN" sz="1800" dirty="0" smtClean="0"/>
              <a:t>tokens</a:t>
            </a: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Compilation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311700" y="2348509"/>
            <a:ext cx="1625138" cy="46274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Source Code</a:t>
            </a:r>
            <a:endParaRPr lang="en-IN" altLang="en-US" sz="1800" dirty="0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2506260" y="2372164"/>
            <a:ext cx="1137485" cy="4390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Tokens</a:t>
            </a:r>
            <a:endParaRPr lang="en-IN" altLang="en-US" sz="1800" dirty="0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4249895" y="2348509"/>
            <a:ext cx="1981200" cy="46274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Object Code</a:t>
            </a:r>
            <a:endParaRPr lang="en-IN" altLang="en-US" sz="1800" dirty="0"/>
          </a:p>
        </p:txBody>
      </p:sp>
      <p:cxnSp>
        <p:nvCxnSpPr>
          <p:cNvPr id="39" name="Straight Arrow Connector 9"/>
          <p:cNvCxnSpPr>
            <a:cxnSpLocks noChangeShapeType="1"/>
          </p:cNvCxnSpPr>
          <p:nvPr/>
        </p:nvCxnSpPr>
        <p:spPr bwMode="auto">
          <a:xfrm>
            <a:off x="1936838" y="2555906"/>
            <a:ext cx="569422" cy="1690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10"/>
          <p:cNvCxnSpPr>
            <a:cxnSpLocks noChangeShapeType="1"/>
            <a:stCxn id="37" idx="3"/>
            <a:endCxn id="38" idx="1"/>
          </p:cNvCxnSpPr>
          <p:nvPr/>
        </p:nvCxnSpPr>
        <p:spPr bwMode="auto">
          <a:xfrm flipV="1">
            <a:off x="3643745" y="2579880"/>
            <a:ext cx="606150" cy="1182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Rounded Rectangular Callout 40"/>
          <p:cNvSpPr>
            <a:spLocks noChangeArrowheads="1"/>
          </p:cNvSpPr>
          <p:nvPr/>
        </p:nvSpPr>
        <p:spPr bwMode="auto">
          <a:xfrm>
            <a:off x="753687" y="1132560"/>
            <a:ext cx="2770909" cy="650762"/>
          </a:xfrm>
          <a:prstGeom prst="wedgeRoundRectCallout">
            <a:avLst>
              <a:gd name="adj1" fmla="val 1580"/>
              <a:gd name="adj2" fmla="val 153576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/>
              <a:t>Groups character into tokens</a:t>
            </a:r>
            <a:endParaRPr lang="en-IN" altLang="en-US" sz="1800" dirty="0"/>
          </a:p>
        </p:txBody>
      </p:sp>
      <p:sp>
        <p:nvSpPr>
          <p:cNvPr id="42" name="Rounded Rectangular Callout 41"/>
          <p:cNvSpPr>
            <a:spLocks noChangeArrowheads="1"/>
          </p:cNvSpPr>
          <p:nvPr/>
        </p:nvSpPr>
        <p:spPr bwMode="auto">
          <a:xfrm>
            <a:off x="2139142" y="3264420"/>
            <a:ext cx="2419003" cy="755336"/>
          </a:xfrm>
          <a:prstGeom prst="wedgeRoundRectCallout">
            <a:avLst>
              <a:gd name="adj1" fmla="val 20380"/>
              <a:gd name="adj2" fmla="val -134083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/>
              <a:t>Translate tokens into object code</a:t>
            </a:r>
            <a:endParaRPr lang="en-I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3216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1" grpId="0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Tokens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Syntactic units of the language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Six kind of tokens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Keywords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Punctuators</a:t>
            </a:r>
            <a:endParaRPr lang="en-IN" altLang="en-US" sz="1600" dirty="0">
              <a:solidFill>
                <a:srgbClr val="000000"/>
              </a:solidFill>
              <a:latin typeface="Helvetica" panose="020B0604020202020204" pitchFamily="34" charset="0"/>
              <a:ea typeface="+mn-ea"/>
              <a:cs typeface="+mn-cs"/>
              <a:sym typeface="Arial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Identifiers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Constants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String constants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Operators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8813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eaLnBrk="1" hangingPunct="1"/>
            <a:r>
              <a:rPr lang="en" dirty="0" smtClean="0"/>
              <a:t>Tokens</a:t>
            </a:r>
            <a:r>
              <a:rPr lang="en" dirty="0"/>
              <a:t/>
            </a:r>
            <a:br>
              <a:rPr lang="en" dirty="0"/>
            </a:br>
            <a:r>
              <a:rPr lang="en-US" altLang="en-US" sz="1800" dirty="0" smtClean="0"/>
              <a:t>Keywords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8973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Keywords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5168" y="962526"/>
            <a:ext cx="7820527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latin typeface="Helvetica" panose="020B0604020202020204" pitchFamily="34" charset="0"/>
                <a:ea typeface="+mn-ea"/>
                <a:cs typeface="+mn-cs"/>
              </a:rPr>
              <a:t>Reserved words have a strict meaning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latin typeface="Helvetica" panose="020B0604020202020204" pitchFamily="34" charset="0"/>
                <a:ea typeface="+mn-ea"/>
                <a:cs typeface="+mn-cs"/>
              </a:rPr>
              <a:t>Cannot be redefined.</a:t>
            </a:r>
            <a:endParaRPr lang="en-IN" altLang="en-US" sz="1800" dirty="0">
              <a:latin typeface="Helvetica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822523" y="1729911"/>
          <a:ext cx="3532908" cy="2509580"/>
        </p:xfrm>
        <a:graphic>
          <a:graphicData uri="http://schemas.openxmlformats.org/drawingml/2006/table">
            <a:tbl>
              <a:tblPr firstRow="1" bandRow="1">
                <a:tableStyleId>{578D327A-D4A4-4160-9BAD-CE66B4452F15}</a:tableStyleId>
              </a:tblPr>
              <a:tblGrid>
                <a:gridCol w="764449">
                  <a:extLst>
                    <a:ext uri="{9D8B030D-6E8A-4147-A177-3AD203B41FA5}">
                      <a16:colId xmlns:a16="http://schemas.microsoft.com/office/drawing/2014/main" val="2007610080"/>
                    </a:ext>
                  </a:extLst>
                </a:gridCol>
                <a:gridCol w="913684">
                  <a:extLst>
                    <a:ext uri="{9D8B030D-6E8A-4147-A177-3AD203B41FA5}">
                      <a16:colId xmlns:a16="http://schemas.microsoft.com/office/drawing/2014/main" val="287690825"/>
                    </a:ext>
                  </a:extLst>
                </a:gridCol>
                <a:gridCol w="940376">
                  <a:extLst>
                    <a:ext uri="{9D8B030D-6E8A-4147-A177-3AD203B41FA5}">
                      <a16:colId xmlns:a16="http://schemas.microsoft.com/office/drawing/2014/main" val="2128411201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882951580"/>
                    </a:ext>
                  </a:extLst>
                </a:gridCol>
              </a:tblGrid>
              <a:tr h="262585">
                <a:tc gridSpan="4"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Keywords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1836"/>
                  </a:ext>
                </a:extLst>
              </a:tr>
              <a:tr h="274221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auto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double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Helvetica" panose="020B0604020202020204" pitchFamily="34" charset="0"/>
                        </a:rPr>
                        <a:t>int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Helvetica" panose="020B0604020202020204" pitchFamily="34" charset="0"/>
                        </a:rPr>
                        <a:t>struct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046054"/>
                  </a:ext>
                </a:extLst>
              </a:tr>
              <a:tr h="290549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break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else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long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switch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11695"/>
                  </a:ext>
                </a:extLst>
              </a:tr>
              <a:tr h="282477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case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Helvetica" panose="020B0604020202020204" pitchFamily="34" charset="0"/>
                        </a:rPr>
                        <a:t>enum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register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Helvetica" panose="020B0604020202020204" pitchFamily="34" charset="0"/>
                        </a:rPr>
                        <a:t>typedef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237210"/>
                  </a:ext>
                </a:extLst>
              </a:tr>
              <a:tr h="266335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char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extern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return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union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4080"/>
                  </a:ext>
                </a:extLst>
              </a:tr>
              <a:tr h="266335"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Helvetica" panose="020B0604020202020204" pitchFamily="34" charset="0"/>
                        </a:rPr>
                        <a:t>const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float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short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unsigned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82993"/>
                  </a:ext>
                </a:extLst>
              </a:tr>
              <a:tr h="274406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continue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for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signed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void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42774"/>
                  </a:ext>
                </a:extLst>
              </a:tr>
              <a:tr h="290548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default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Helvetica" panose="020B0604020202020204" pitchFamily="34" charset="0"/>
                        </a:rPr>
                        <a:t>goto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Helvetica" panose="020B0604020202020204" pitchFamily="34" charset="0"/>
                        </a:rPr>
                        <a:t>sizeof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volatile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949024"/>
                  </a:ext>
                </a:extLst>
              </a:tr>
              <a:tr h="271761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do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if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static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while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38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253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Categorizing Keywords: related to data types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keywords related to data types of variables/functions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822523" y="1729911"/>
          <a:ext cx="3532908" cy="2509580"/>
        </p:xfrm>
        <a:graphic>
          <a:graphicData uri="http://schemas.openxmlformats.org/drawingml/2006/table">
            <a:tbl>
              <a:tblPr firstRow="1" bandRow="1">
                <a:tableStyleId>{578D327A-D4A4-4160-9BAD-CE66B4452F15}</a:tableStyleId>
              </a:tblPr>
              <a:tblGrid>
                <a:gridCol w="764449">
                  <a:extLst>
                    <a:ext uri="{9D8B030D-6E8A-4147-A177-3AD203B41FA5}">
                      <a16:colId xmlns:a16="http://schemas.microsoft.com/office/drawing/2014/main" val="2007610080"/>
                    </a:ext>
                  </a:extLst>
                </a:gridCol>
                <a:gridCol w="913684">
                  <a:extLst>
                    <a:ext uri="{9D8B030D-6E8A-4147-A177-3AD203B41FA5}">
                      <a16:colId xmlns:a16="http://schemas.microsoft.com/office/drawing/2014/main" val="287690825"/>
                    </a:ext>
                  </a:extLst>
                </a:gridCol>
                <a:gridCol w="940376">
                  <a:extLst>
                    <a:ext uri="{9D8B030D-6E8A-4147-A177-3AD203B41FA5}">
                      <a16:colId xmlns:a16="http://schemas.microsoft.com/office/drawing/2014/main" val="2128411201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882951580"/>
                    </a:ext>
                  </a:extLst>
                </a:gridCol>
              </a:tblGrid>
              <a:tr h="262585">
                <a:tc gridSpan="4"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Keywords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1836"/>
                  </a:ext>
                </a:extLst>
              </a:tr>
              <a:tr h="274221"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auto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double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int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struct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046054"/>
                  </a:ext>
                </a:extLst>
              </a:tr>
              <a:tr h="290549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break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else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long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switch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11695"/>
                  </a:ext>
                </a:extLst>
              </a:tr>
              <a:tr h="282477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case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enum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register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typedef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237210"/>
                  </a:ext>
                </a:extLst>
              </a:tr>
              <a:tr h="266335"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char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extern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return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union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4080"/>
                  </a:ext>
                </a:extLst>
              </a:tr>
              <a:tr h="266335"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const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float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short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unsigned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82993"/>
                  </a:ext>
                </a:extLst>
              </a:tr>
              <a:tr h="274406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continue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for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signed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void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42774"/>
                  </a:ext>
                </a:extLst>
              </a:tr>
              <a:tr h="290548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default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Helvetica" panose="020B0604020202020204" pitchFamily="34" charset="0"/>
                        </a:rPr>
                        <a:t>goto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sizeof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volatile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949024"/>
                  </a:ext>
                </a:extLst>
              </a:tr>
              <a:tr h="271761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do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if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static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while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38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34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Categorizing Keywords: related to control statements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  <a:sym typeface="Arial"/>
              </a:rPr>
              <a:t>keywords related to control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822523" y="1729911"/>
          <a:ext cx="3532908" cy="2509580"/>
        </p:xfrm>
        <a:graphic>
          <a:graphicData uri="http://schemas.openxmlformats.org/drawingml/2006/table">
            <a:tbl>
              <a:tblPr firstRow="1" bandRow="1">
                <a:tableStyleId>{578D327A-D4A4-4160-9BAD-CE66B4452F15}</a:tableStyleId>
              </a:tblPr>
              <a:tblGrid>
                <a:gridCol w="764449">
                  <a:extLst>
                    <a:ext uri="{9D8B030D-6E8A-4147-A177-3AD203B41FA5}">
                      <a16:colId xmlns:a16="http://schemas.microsoft.com/office/drawing/2014/main" val="2007610080"/>
                    </a:ext>
                  </a:extLst>
                </a:gridCol>
                <a:gridCol w="913684">
                  <a:extLst>
                    <a:ext uri="{9D8B030D-6E8A-4147-A177-3AD203B41FA5}">
                      <a16:colId xmlns:a16="http://schemas.microsoft.com/office/drawing/2014/main" val="287690825"/>
                    </a:ext>
                  </a:extLst>
                </a:gridCol>
                <a:gridCol w="940376">
                  <a:extLst>
                    <a:ext uri="{9D8B030D-6E8A-4147-A177-3AD203B41FA5}">
                      <a16:colId xmlns:a16="http://schemas.microsoft.com/office/drawing/2014/main" val="2128411201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882951580"/>
                    </a:ext>
                  </a:extLst>
                </a:gridCol>
              </a:tblGrid>
              <a:tr h="262585">
                <a:tc gridSpan="4"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Keywords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1836"/>
                  </a:ext>
                </a:extLst>
              </a:tr>
              <a:tr h="274221"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auto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double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int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struct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046054"/>
                  </a:ext>
                </a:extLst>
              </a:tr>
              <a:tr h="290549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break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else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long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switch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11695"/>
                  </a:ext>
                </a:extLst>
              </a:tr>
              <a:tr h="282477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case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enum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register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typedef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237210"/>
                  </a:ext>
                </a:extLst>
              </a:tr>
              <a:tr h="266335"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char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extern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Helvetica" panose="020B0604020202020204" pitchFamily="34" charset="0"/>
                        </a:rPr>
                        <a:t>return</a:t>
                      </a:r>
                      <a:endParaRPr lang="en-IN" sz="1200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union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4080"/>
                  </a:ext>
                </a:extLst>
              </a:tr>
              <a:tr h="266335"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const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float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short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unsigned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82993"/>
                  </a:ext>
                </a:extLst>
              </a:tr>
              <a:tr h="274406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continue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for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signed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void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42774"/>
                  </a:ext>
                </a:extLst>
              </a:tr>
              <a:tr h="290548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default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goto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err="1" smtClean="0">
                          <a:latin typeface="Helvetica" panose="020B0604020202020204" pitchFamily="34" charset="0"/>
                        </a:rPr>
                        <a:t>sizeof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volatile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949024"/>
                  </a:ext>
                </a:extLst>
              </a:tr>
              <a:tr h="271761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do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if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 smtClean="0">
                          <a:latin typeface="Helvetica" panose="020B0604020202020204" pitchFamily="34" charset="0"/>
                        </a:rPr>
                        <a:t>static</a:t>
                      </a:r>
                      <a:endParaRPr lang="en-IN" sz="1200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solidFill>
                            <a:srgbClr val="FF0000"/>
                          </a:solidFill>
                          <a:latin typeface="Helvetica" panose="020B0604020202020204" pitchFamily="34" charset="0"/>
                        </a:rPr>
                        <a:t>while</a:t>
                      </a:r>
                      <a:endParaRPr lang="en-IN" sz="1200" dirty="0">
                        <a:solidFill>
                          <a:srgbClr val="FF0000"/>
                        </a:solidFill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38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575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Area of a circle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147" y="956608"/>
            <a:ext cx="5016758" cy="3512400"/>
          </a:xfrm>
        </p:spPr>
        <p:txBody>
          <a:bodyPr>
            <a:normAutofit fontScale="775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/* Compute area of a circle */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main(void)  {   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 err="1">
                <a:solidFill>
                  <a:schemeClr val="tx1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radius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		float area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, pi;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		radius = 5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		pi = 3.14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 	    area = pi * radius * radius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 err="1">
                <a:solidFill>
                  <a:schemeClr val="tx1"/>
                </a:solidFill>
                <a:latin typeface="Arial"/>
                <a:ea typeface="+mn-ea"/>
                <a:cs typeface="+mn-cs"/>
              </a:rPr>
              <a:t>printf</a:t>
            </a: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(“\n Area is %f.\n\n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”,</a:t>
            </a: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area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);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         return 0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 }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0929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800" dirty="0" smtClean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80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800" dirty="0" smtClean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Anything </a:t>
            </a:r>
            <a:r>
              <a:rPr lang="en-US" altLang="en-US" sz="18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written between /* … */ is a comment and is ignored by the compiler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800" dirty="0" smtClean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Lines </a:t>
            </a:r>
            <a:r>
              <a:rPr lang="en-US" altLang="en-US" sz="18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starting with // are also comments and ignored by the compiler.</a:t>
            </a:r>
            <a:endParaRPr lang="en-IN" altLang="en-US" sz="180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528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Area of a circle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147" y="956608"/>
            <a:ext cx="5016758" cy="3512400"/>
          </a:xfrm>
        </p:spPr>
        <p:txBody>
          <a:bodyPr>
            <a:normAutofit fontScale="775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/* Compute area of a circle */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main(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  </a:t>
            </a: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{ 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radius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area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, pi;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radius = 5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pi = 3.14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	    area = pi * radius * radius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printf</a:t>
            </a: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“\n Area is %f.\n\n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”,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area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);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0</a:t>
            </a:r>
            <a:r>
              <a:rPr lang="en-US" sz="25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  }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428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eaLnBrk="1" hangingPunct="1"/>
            <a:r>
              <a:rPr lang="en" dirty="0" smtClean="0"/>
              <a:t>Tokens</a:t>
            </a:r>
            <a:r>
              <a:rPr lang="en" dirty="0"/>
              <a:t/>
            </a:r>
            <a:br>
              <a:rPr lang="en" dirty="0"/>
            </a:br>
            <a:r>
              <a:rPr lang="en" dirty="0" smtClean="0"/>
              <a:t>P</a:t>
            </a:r>
            <a:r>
              <a:rPr lang="en-US" altLang="en-US" sz="1800" dirty="0" err="1" smtClean="0"/>
              <a:t>unctuators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65526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Punctuators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 symbol that has a semantic significance but does not specify an operation to be performed</a:t>
            </a: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braces {} - indicate start and end of a compound statement</a:t>
            </a:r>
          </a:p>
          <a:p>
            <a:endParaRPr lang="en-US" altLang="en-US" dirty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9660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Punctuators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 symbol that has a semantic significance but does not specify an operation to be performed</a:t>
            </a: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braces {} - indicate start and end of a compound statement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semicolon ; - terminate statements</a:t>
            </a:r>
          </a:p>
          <a:p>
            <a:endParaRPr lang="en-US" altLang="en-US" dirty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639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Punctuators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 symbol that has a semantic significance but does not specify an operation to be performed</a:t>
            </a: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braces {} - indicate start and end of a compound statement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semicolon ; - terminate statements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comma , - separate expression or variables</a:t>
            </a:r>
          </a:p>
          <a:p>
            <a:endParaRPr lang="en-US" altLang="en-US" dirty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0674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Punctuators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 symbol that has a semantic significance but does not specify an operation to be performed</a:t>
            </a: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braces {} - indicate start and end of a compound statement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semicolon ; - terminate statements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comma , - separate expression or variables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colon : - used in conditional statements, labelled statements</a:t>
            </a:r>
          </a:p>
          <a:p>
            <a:endParaRPr lang="en-US" altLang="en-US" dirty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615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Punctuators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 symbol that has a semantic significance but does not specify an operation to be performed</a:t>
            </a: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braces {} - indicate start and end of a compound statement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semicolon ; - terminate statements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comma , - separate expression or variables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colon : - used in conditional statements, labelled statements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hash #: preprocessing directive</a:t>
            </a:r>
          </a:p>
          <a:p>
            <a:endParaRPr lang="en-US" altLang="en-US" dirty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123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Punctuators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 symbol that has a semantic significance but does not specify an operation to be performed</a:t>
            </a: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braces {} - indicate start and end of a compound statement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semicolon ; - terminate statements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comma , - separate expression or variables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colon : - used in conditional statements, labelled statements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hash #: preprocessing directive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Angle brackets &lt;&gt;: used to include files</a:t>
            </a:r>
          </a:p>
          <a:p>
            <a:endParaRPr lang="en-US" altLang="en-US" dirty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1866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Punctuators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 symbol that has a semantic significance but does not specify an operation to be performed</a:t>
            </a: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braces {} - indicate start and end of a compound statement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semicolon ; - terminate statements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comma , - separate expression or variables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colon : - used in conditional statements, labelled statements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hash #: preprocessing directive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Angle brackets &lt;&gt;: used to include files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parenthesis () : group expression, specify function parameters</a:t>
            </a:r>
          </a:p>
          <a:p>
            <a:endParaRPr lang="en-US" altLang="en-US" dirty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360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Not Punctuators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Not punctuators but operators.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braces {} – used to initialize arrays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comma , - can also be used as an operator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question mark  ? : – ternary operator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square brackets [] – subscript operator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period . – used to access the member of a structure/union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arrow -&gt; - </a:t>
            </a:r>
            <a:r>
              <a:rPr lang="en-US" altLang="en-US" sz="1600" dirty="0">
                <a:solidFill>
                  <a:srgbClr val="000000"/>
                </a:solidFill>
                <a:latin typeface="Helvetica" panose="020B0604020202020204" pitchFamily="34" charset="0"/>
              </a:rPr>
              <a:t>used to access the member of a structure/union</a:t>
            </a:r>
            <a:endParaRPr lang="en-US" altLang="en-US" sz="1600" dirty="0" smtClean="0">
              <a:solidFill>
                <a:srgbClr val="000000"/>
              </a:solidFill>
              <a:latin typeface="Helvetica" panose="020B0604020202020204" pitchFamily="34" charset="0"/>
              <a:ea typeface="+mn-ea"/>
              <a:cs typeface="+mn-cs"/>
            </a:endParaRPr>
          </a:p>
          <a:p>
            <a:endParaRPr lang="en-US" altLang="en-US" dirty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8467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Area of a circle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147" y="956608"/>
            <a:ext cx="5016758" cy="3512400"/>
          </a:xfrm>
        </p:spPr>
        <p:txBody>
          <a:bodyPr>
            <a:normAutofit fontScale="775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/* Compute area of a circle */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main(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area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pi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radius = 5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pi = 3.14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	    area = pi * radius * 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printf</a:t>
            </a: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“\n Area is %f.\n\n”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area</a:t>
            </a:r>
            <a:r>
              <a:rPr lang="en-US" sz="240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)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0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}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820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eaLnBrk="1" hangingPunct="1"/>
            <a:r>
              <a:rPr lang="en" dirty="0" smtClean="0"/>
              <a:t>Tokens</a:t>
            </a:r>
            <a:r>
              <a:rPr lang="en" dirty="0"/>
              <a:t/>
            </a:r>
            <a:br>
              <a:rPr lang="en" dirty="0"/>
            </a:br>
            <a:r>
              <a:rPr lang="en-US" altLang="en-US" sz="1800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557934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Identifiers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5168" y="962526"/>
            <a:ext cx="7820527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Give unique names to objects in a program.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Composed of sequence of letters, digits and the special character _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Letter or _ should be the first character</a:t>
            </a:r>
            <a:r>
              <a:rPr lang="en-US" altLang="en-US" sz="1800" dirty="0" smtClean="0">
                <a:ea typeface="+mn-ea"/>
                <a:cs typeface="+mn-cs"/>
              </a:rPr>
              <a:t>.</a:t>
            </a:r>
            <a:endParaRPr lang="en-US" altLang="en-US" sz="18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756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Area of a circle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/* Compute area of a circle */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main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5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3.14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	   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*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*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 err="1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(“\n Area is %f.\n\n”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0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}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50970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Programming Tip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Choose name of the identifiers that are meaningful to enhance readability and documentation of the program. 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1162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eaLnBrk="1" hangingPunct="1"/>
            <a:r>
              <a:rPr lang="en" dirty="0" smtClean="0"/>
              <a:t>Tokens</a:t>
            </a:r>
            <a:r>
              <a:rPr lang="en" dirty="0"/>
              <a:t/>
            </a:r>
            <a:br>
              <a:rPr lang="en" dirty="0"/>
            </a:br>
            <a:r>
              <a:rPr lang="en-US" altLang="en-US" sz="1800" dirty="0" smtClean="0"/>
              <a:t>Constants </a:t>
            </a:r>
            <a:r>
              <a:rPr lang="en-US" altLang="en-US" sz="1800" smtClean="0"/>
              <a:t>and </a:t>
            </a:r>
            <a:r>
              <a:rPr lang="en-US" altLang="en-US" sz="1800"/>
              <a:t>S</a:t>
            </a:r>
            <a:r>
              <a:rPr lang="en-US" altLang="en-US" sz="1800" smtClean="0"/>
              <a:t>tring </a:t>
            </a:r>
            <a:r>
              <a:rPr lang="en-US" altLang="en-US" sz="1800" dirty="0" smtClean="0"/>
              <a:t>constants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54603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5168" y="962526"/>
            <a:ext cx="7820527" cy="297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Several types of constants 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/>
              <a:t>Integer Constant: </a:t>
            </a:r>
            <a:r>
              <a:rPr lang="en-US" altLang="en-US" sz="1600" dirty="0" smtClean="0"/>
              <a:t>represents </a:t>
            </a:r>
            <a:r>
              <a:rPr lang="en-US" altLang="en-US" sz="1600" dirty="0"/>
              <a:t>whole numbers. Can be written with different </a:t>
            </a:r>
            <a:r>
              <a:rPr lang="en-US" altLang="en-US" sz="1600" dirty="0" smtClean="0"/>
              <a:t>bases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600" dirty="0"/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600" dirty="0" smtClean="0"/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600" dirty="0"/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 smtClean="0"/>
              <a:t>Floating </a:t>
            </a:r>
            <a:r>
              <a:rPr lang="en-US" altLang="en-US" sz="1600" dirty="0"/>
              <a:t>point constant: </a:t>
            </a:r>
            <a:endParaRPr lang="en-US" altLang="en-US" sz="1600" dirty="0" smtClean="0"/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600" dirty="0" smtClean="0"/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600" dirty="0"/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/>
              <a:t>Character constants</a:t>
            </a:r>
            <a:r>
              <a:rPr lang="en-US" altLang="en-US" sz="1600" dirty="0" smtClean="0"/>
              <a:t>: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78597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Constants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Sequence of characters enclosed in a pair of double quotes.</a:t>
            </a:r>
          </a:p>
          <a:p>
            <a:r>
              <a:rPr lang="en-US" altLang="en-US" dirty="0" smtClean="0"/>
              <a:t>Example</a:t>
            </a:r>
          </a:p>
          <a:p>
            <a:pPr lvl="1"/>
            <a:r>
              <a:rPr lang="en-US" altLang="en-US" dirty="0" smtClean="0"/>
              <a:t>“” (Null String)</a:t>
            </a:r>
          </a:p>
          <a:p>
            <a:pPr lvl="1"/>
            <a:r>
              <a:rPr lang="en-US" altLang="en-US" dirty="0" smtClean="0"/>
              <a:t>“A String Constant”</a:t>
            </a:r>
          </a:p>
          <a:p>
            <a:pPr lvl="1"/>
            <a:r>
              <a:rPr lang="en-US" altLang="en-US" dirty="0" smtClean="0"/>
              <a:t>“a = b + c”</a:t>
            </a:r>
          </a:p>
          <a:p>
            <a:pPr lvl="1"/>
            <a:r>
              <a:rPr lang="en-US" altLang="en-US" dirty="0" smtClean="0"/>
              <a:t>“</a:t>
            </a:r>
            <a:r>
              <a:rPr lang="en-US" altLang="en-US" dirty="0" err="1" smtClean="0"/>
              <a:t>abc</a:t>
            </a:r>
            <a:r>
              <a:rPr lang="en-US" altLang="en-US" dirty="0" smtClean="0"/>
              <a:t>” “</a:t>
            </a:r>
            <a:r>
              <a:rPr lang="en-US" altLang="en-US" dirty="0" err="1" smtClean="0"/>
              <a:t>def</a:t>
            </a:r>
            <a:r>
              <a:rPr lang="en-US" altLang="en-US" dirty="0" smtClean="0"/>
              <a:t>” equivalent to “</a:t>
            </a:r>
            <a:r>
              <a:rPr lang="en-US" altLang="en-US" dirty="0" err="1" smtClean="0"/>
              <a:t>abcdef</a:t>
            </a:r>
            <a:r>
              <a:rPr lang="en-US" altLang="en-US" dirty="0" smtClean="0"/>
              <a:t>”</a:t>
            </a:r>
          </a:p>
          <a:p>
            <a:pPr lvl="1"/>
            <a:r>
              <a:rPr lang="en-US" altLang="en-US" dirty="0" smtClean="0"/>
              <a:t>“The boy said \”Hello\””</a:t>
            </a:r>
            <a:endParaRPr lang="en-IN" altLang="en-US" dirty="0" smtClean="0"/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5718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Area of a circle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/* Compute area of a circle */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main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5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3.14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	   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*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*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 err="1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“\n Area is %f.\n\n”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0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}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04100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eaLnBrk="1" hangingPunct="1"/>
            <a:r>
              <a:rPr lang="en" dirty="0"/>
              <a:t>Token</a:t>
            </a:r>
            <a:br>
              <a:rPr lang="en" dirty="0"/>
            </a:br>
            <a:r>
              <a:rPr lang="en-US" altLang="en-US" sz="1800" dirty="0" smtClean="0"/>
              <a:t>Operators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02974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dirty="0"/>
              <a:t>Operators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5168" y="962526"/>
            <a:ext cx="78205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800" dirty="0">
                <a:ea typeface="+mn-ea"/>
                <a:cs typeface="+mn-cs"/>
              </a:rPr>
              <a:t>An operator is a token representing operations that can be performed on operands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800" dirty="0">
                <a:ea typeface="+mn-ea"/>
                <a:cs typeface="+mn-cs"/>
              </a:rPr>
              <a:t>Operands are expression or constants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600" dirty="0"/>
              <a:t>unary operator: single operand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600" dirty="0"/>
              <a:t>binary operator: two operands</a:t>
            </a:r>
          </a:p>
        </p:txBody>
      </p:sp>
    </p:spTree>
    <p:extLst>
      <p:ext uri="{BB962C8B-B14F-4D97-AF65-F5344CB8AC3E}">
        <p14:creationId xmlns:p14="http://schemas.microsoft.com/office/powerpoint/2010/main" val="3863523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Area of a circle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/* Compute area of a circle */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main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5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3.14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	   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*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*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 err="1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“\n Area is %f.\n\n”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0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}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95404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Summary: </a:t>
            </a:r>
            <a:r>
              <a:rPr lang="en-IN" dirty="0"/>
              <a:t>Area of a </a:t>
            </a:r>
            <a:r>
              <a:rPr lang="en-IN" dirty="0" smtClean="0"/>
              <a:t>circle example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/* Compute area of a circle */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main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 err="1">
                <a:solidFill>
                  <a:srgbClr val="0070C0"/>
                </a:solidFill>
                <a:latin typeface="Arial"/>
                <a:ea typeface="+mn-ea"/>
                <a:cs typeface="+mn-c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5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		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3.14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	   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=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*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*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radius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 err="1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“\n Area is %f.\n\n”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F01">
                    <a:lumMod val="75000"/>
                  </a:srgbClr>
                </a:solidFill>
                <a:latin typeface="Arial"/>
                <a:ea typeface="+mn-ea"/>
                <a:cs typeface="+mn-cs"/>
              </a:rPr>
              <a:t>area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        </a:t>
            </a:r>
            <a:r>
              <a:rPr lang="en-US" sz="2400" dirty="0">
                <a:solidFill>
                  <a:srgbClr val="0070C0"/>
                </a:solidFill>
                <a:latin typeface="Arial"/>
                <a:ea typeface="+mn-ea"/>
                <a:cs typeface="+mn-cs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Arial"/>
                <a:ea typeface="+mn-ea"/>
                <a:cs typeface="+mn-cs"/>
              </a:rPr>
              <a:t>0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}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sp>
        <p:nvSpPr>
          <p:cNvPr id="5" name="TextBox 4"/>
          <p:cNvSpPr txBox="1"/>
          <p:nvPr/>
        </p:nvSpPr>
        <p:spPr>
          <a:xfrm>
            <a:off x="3250276" y="801096"/>
            <a:ext cx="2302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Preprocessing</a:t>
            </a:r>
            <a:r>
              <a:rPr lang="en-IN" dirty="0" smtClean="0"/>
              <a:t> directive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801687" y="1165222"/>
            <a:ext cx="2302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Comment</a:t>
            </a:r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728556" y="1578032"/>
          <a:ext cx="1988131" cy="1828800"/>
        </p:xfrm>
        <a:graphic>
          <a:graphicData uri="http://schemas.openxmlformats.org/drawingml/2006/table">
            <a:tbl>
              <a:tblPr firstRow="1" bandRow="1">
                <a:tableStyleId>{578D327A-D4A4-4160-9BAD-CE66B4452F15}</a:tableStyleId>
              </a:tblPr>
              <a:tblGrid>
                <a:gridCol w="732910">
                  <a:extLst>
                    <a:ext uri="{9D8B030D-6E8A-4147-A177-3AD203B41FA5}">
                      <a16:colId xmlns:a16="http://schemas.microsoft.com/office/drawing/2014/main" val="3602215605"/>
                    </a:ext>
                  </a:extLst>
                </a:gridCol>
                <a:gridCol w="1255221">
                  <a:extLst>
                    <a:ext uri="{9D8B030D-6E8A-4147-A177-3AD203B41FA5}">
                      <a16:colId xmlns:a16="http://schemas.microsoft.com/office/drawing/2014/main" val="1493759344"/>
                    </a:ext>
                  </a:extLst>
                </a:gridCol>
              </a:tblGrid>
              <a:tr h="289087">
                <a:tc>
                  <a:txBody>
                    <a:bodyPr/>
                    <a:lstStyle/>
                    <a:p>
                      <a:r>
                        <a:rPr lang="en-IN" dirty="0" smtClean="0"/>
                        <a:t>Color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Token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523335"/>
                  </a:ext>
                </a:extLst>
              </a:tr>
              <a:tr h="28908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keywords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641611"/>
                  </a:ext>
                </a:extLst>
              </a:tr>
              <a:tr h="2890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Punctuators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931642"/>
                  </a:ext>
                </a:extLst>
              </a:tr>
              <a:tr h="2890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Identifiers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959909"/>
                  </a:ext>
                </a:extLst>
              </a:tr>
              <a:tr h="2890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Constants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8208"/>
                  </a:ext>
                </a:extLst>
              </a:tr>
              <a:tr h="28908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Operators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46132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38007" y="1965292"/>
            <a:ext cx="382386" cy="154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838007" y="2225025"/>
            <a:ext cx="382386" cy="1629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838007" y="2519163"/>
            <a:ext cx="382386" cy="1629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838007" y="2856075"/>
            <a:ext cx="382386" cy="16294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38007" y="3131453"/>
            <a:ext cx="382386" cy="1629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2419004" y="1056538"/>
            <a:ext cx="914400" cy="262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1"/>
          </p:cNvCxnSpPr>
          <p:nvPr/>
        </p:nvCxnSpPr>
        <p:spPr>
          <a:xfrm flipH="1">
            <a:off x="3566160" y="1319111"/>
            <a:ext cx="235527" cy="258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936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eaLnBrk="1" hangingPunct="1"/>
            <a:r>
              <a:rPr lang="en" dirty="0" smtClean="0"/>
              <a:t>Tokens</a:t>
            </a:r>
            <a:r>
              <a:rPr lang="en" dirty="0"/>
              <a:t/>
            </a:r>
            <a:br>
              <a:rPr lang="en" dirty="0"/>
            </a:br>
            <a:r>
              <a:rPr lang="en-US" sz="1800" dirty="0"/>
              <a:t>U</a:t>
            </a:r>
            <a:r>
              <a:rPr lang="en-US" altLang="en-US" sz="1800" dirty="0" smtClean="0"/>
              <a:t>nary and arithmetic operators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68090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Unary and arithmetic operators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0150"/>
            <a:ext cx="5288973" cy="1813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693" y="4795207"/>
            <a:ext cx="339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A book on C, AI Kelly, Ira Pohl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10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Unary and arithmetic operators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0150"/>
            <a:ext cx="5288973" cy="1813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693" y="4795207"/>
            <a:ext cx="339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A book on C, AI Kelly, Ira Pohl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19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Ex: Unary and arithmetic </a:t>
            </a:r>
            <a:r>
              <a:rPr lang="en-US" altLang="en-US" dirty="0"/>
              <a:t>o</a:t>
            </a:r>
            <a:r>
              <a:rPr lang="en-US" altLang="en-US" dirty="0" smtClean="0"/>
              <a:t>perators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696191" y="4795207"/>
            <a:ext cx="339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A book on C, AI Kelly, Ira Pohl</a:t>
            </a:r>
          </a:p>
          <a:p>
            <a:endParaRPr lang="en-IN" dirty="0"/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33" y="1008958"/>
            <a:ext cx="6153497" cy="2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5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" dirty="0"/>
              <a:t>Token</a:t>
            </a:r>
            <a:br>
              <a:rPr lang="en" dirty="0"/>
            </a:br>
            <a:r>
              <a:rPr lang="en-US" altLang="en-US" sz="1800" dirty="0"/>
              <a:t>Assignment </a:t>
            </a:r>
            <a:r>
              <a:rPr lang="en-US" altLang="en-US" sz="1800" dirty="0" smtClean="0"/>
              <a:t>operator</a:t>
            </a:r>
            <a:r>
              <a:rPr lang="en-US" altLang="en-US" sz="1800" dirty="0"/>
              <a:t/>
            </a:r>
            <a:br>
              <a:rPr lang="en-US" altLang="en-US" sz="1800" dirty="0"/>
            </a:b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4870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Assignment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5168" y="962526"/>
            <a:ext cx="78205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C treats </a:t>
            </a:r>
            <a:r>
              <a:rPr lang="en-US" altLang="en-US" sz="1800" dirty="0">
                <a:solidFill>
                  <a:srgbClr val="FF0000"/>
                </a:solidFill>
                <a:ea typeface="+mn-ea"/>
                <a:cs typeface="+mn-cs"/>
              </a:rPr>
              <a:t>=</a:t>
            </a:r>
            <a:r>
              <a:rPr lang="en-US" altLang="en-US" sz="1800" dirty="0">
                <a:ea typeface="+mn-ea"/>
                <a:cs typeface="+mn-cs"/>
              </a:rPr>
              <a:t> as an operator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variable = </a:t>
            </a:r>
            <a:r>
              <a:rPr lang="en-US" altLang="en-US" sz="1800" dirty="0" err="1">
                <a:ea typeface="+mn-ea"/>
                <a:cs typeface="+mn-cs"/>
              </a:rPr>
              <a:t>Right_Hand_Side</a:t>
            </a:r>
            <a:endParaRPr lang="en-US" altLang="en-US" sz="1800" dirty="0"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Associativity right to left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Other assignment operators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/>
              <a:t>variable op (expression)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/>
              <a:t>+=, -=, *=, /=, %=, &gt;&gt;=, &lt;&lt;=, &amp;=, ^= and |=</a:t>
            </a:r>
          </a:p>
        </p:txBody>
      </p:sp>
    </p:spTree>
    <p:extLst>
      <p:ext uri="{BB962C8B-B14F-4D97-AF65-F5344CB8AC3E}">
        <p14:creationId xmlns:p14="http://schemas.microsoft.com/office/powerpoint/2010/main" val="119680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Assignment operators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971549"/>
            <a:ext cx="5870864" cy="26578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693" y="4795207"/>
            <a:ext cx="339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A book on C, AI Kelly, Ira Pohl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4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" dirty="0"/>
              <a:t>Token</a:t>
            </a:r>
            <a:br>
              <a:rPr lang="en" dirty="0"/>
            </a:br>
            <a:r>
              <a:rPr lang="en-US" sz="1800" dirty="0" smtClean="0"/>
              <a:t>Relational</a:t>
            </a:r>
            <a:r>
              <a:rPr lang="en-US" altLang="en-US" sz="1800" dirty="0" smtClean="0"/>
              <a:t> operator</a:t>
            </a:r>
            <a:r>
              <a:rPr lang="en-US" altLang="en-US" sz="1800" dirty="0"/>
              <a:t/>
            </a:r>
            <a:br>
              <a:rPr lang="en-US" altLang="en-US" sz="1800" dirty="0"/>
            </a:b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3957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Relational </a:t>
            </a:r>
            <a:r>
              <a:rPr lang="en-US" altLang="en-US" dirty="0"/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43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5168" y="962526"/>
            <a:ext cx="7820527" cy="132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 smtClean="0">
                <a:ea typeface="+mn-ea"/>
                <a:cs typeface="+mn-cs"/>
              </a:rPr>
              <a:t>Used to compare values</a:t>
            </a:r>
            <a:endParaRPr lang="en-US" altLang="en-US" sz="1800" dirty="0"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 smtClean="0">
                <a:ea typeface="+mn-ea"/>
                <a:cs typeface="+mn-cs"/>
              </a:rPr>
              <a:t>Associativity left to right</a:t>
            </a:r>
            <a:endParaRPr lang="en-US" altLang="en-US" sz="1800" dirty="0"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 smtClean="0">
                <a:ea typeface="+mn-ea"/>
                <a:cs typeface="+mn-cs"/>
              </a:rPr>
              <a:t>Relational operators</a:t>
            </a:r>
            <a:endParaRPr lang="en-US" altLang="en-US" sz="1800" dirty="0">
              <a:ea typeface="+mn-ea"/>
              <a:cs typeface="+mn-cs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 smtClean="0"/>
              <a:t>&lt;, &lt;=, &gt; and &gt;=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240079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Relational operators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44</a:t>
            </a:fld>
            <a:endParaRPr lang="en"/>
          </a:p>
        </p:txBody>
      </p:sp>
      <p:pic>
        <p:nvPicPr>
          <p:cNvPr id="8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762400"/>
            <a:ext cx="5929053" cy="27104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693" y="4795207"/>
            <a:ext cx="339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A book on C, AI Kelly, Ira Pohl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50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Ex: Relational Expressions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  <p:pic>
        <p:nvPicPr>
          <p:cNvPr id="8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59" y="1094510"/>
            <a:ext cx="4217323" cy="1602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693" y="4795207"/>
            <a:ext cx="339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A book on C, AI Kelly, Ira Pohl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73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Ex: Relational </a:t>
            </a:r>
            <a:r>
              <a:rPr lang="en-US" altLang="en-US" dirty="0"/>
              <a:t>Expressions </a:t>
            </a:r>
            <a:r>
              <a:rPr lang="en-US" altLang="en-US" dirty="0" smtClean="0"/>
              <a:t>(2)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46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571500" y="762400"/>
            <a:ext cx="60509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char c = ‘w’; </a:t>
            </a:r>
            <a:r>
              <a:rPr lang="en-US" altLang="en-US" sz="2000" dirty="0" err="1">
                <a:ea typeface="+mn-ea"/>
                <a:cs typeface="+mn-cs"/>
              </a:rPr>
              <a:t>int</a:t>
            </a:r>
            <a:r>
              <a:rPr lang="en-US" altLang="en-US" sz="2000" dirty="0">
                <a:ea typeface="+mn-ea"/>
                <a:cs typeface="+mn-cs"/>
              </a:rPr>
              <a:t> </a:t>
            </a:r>
            <a:r>
              <a:rPr lang="en-US" altLang="en-US" sz="2000" dirty="0" err="1">
                <a:ea typeface="+mn-ea"/>
                <a:cs typeface="+mn-cs"/>
              </a:rPr>
              <a:t>i</a:t>
            </a:r>
            <a:r>
              <a:rPr lang="en-US" altLang="en-US" sz="2000" dirty="0">
                <a:ea typeface="+mn-ea"/>
                <a:cs typeface="+mn-cs"/>
              </a:rPr>
              <a:t> = 1, j = 2, k = -7;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x = 7e+33, y = .001;</a:t>
            </a:r>
            <a:endParaRPr lang="en-US" altLang="en-US" dirty="0">
              <a:ea typeface="+mn-ea"/>
              <a:cs typeface="+mn-cs"/>
            </a:endParaRPr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68" y="1685287"/>
            <a:ext cx="4416136" cy="20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ASCII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47</a:t>
            </a:fld>
            <a:endParaRPr lang="en"/>
          </a:p>
        </p:txBody>
      </p:sp>
      <p:sp>
        <p:nvSpPr>
          <p:cNvPr id="10" name="TextBox 9"/>
          <p:cNvSpPr txBox="1"/>
          <p:nvPr/>
        </p:nvSpPr>
        <p:spPr>
          <a:xfrm>
            <a:off x="443345" y="762400"/>
            <a:ext cx="7586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American Standard Code for Information Interchange is a character encoding for communication</a:t>
            </a: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7699"/>
            <a:ext cx="3674225" cy="353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9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Ex: Relational </a:t>
            </a:r>
            <a:r>
              <a:rPr lang="en-US" altLang="en-US" dirty="0"/>
              <a:t>Expressions </a:t>
            </a:r>
            <a:r>
              <a:rPr lang="en-US" altLang="en-US" dirty="0" smtClean="0"/>
              <a:t>(2)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48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571500" y="762400"/>
            <a:ext cx="60509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char c = ‘w’; </a:t>
            </a:r>
            <a:r>
              <a:rPr lang="en-US" altLang="en-US" sz="2000" dirty="0" err="1">
                <a:ea typeface="+mn-ea"/>
                <a:cs typeface="+mn-cs"/>
              </a:rPr>
              <a:t>int</a:t>
            </a:r>
            <a:r>
              <a:rPr lang="en-US" altLang="en-US" sz="2000" dirty="0">
                <a:ea typeface="+mn-ea"/>
                <a:cs typeface="+mn-cs"/>
              </a:rPr>
              <a:t> </a:t>
            </a:r>
            <a:r>
              <a:rPr lang="en-US" altLang="en-US" sz="2000" dirty="0" err="1">
                <a:ea typeface="+mn-ea"/>
                <a:cs typeface="+mn-cs"/>
              </a:rPr>
              <a:t>i</a:t>
            </a:r>
            <a:r>
              <a:rPr lang="en-US" altLang="en-US" sz="2000" dirty="0">
                <a:ea typeface="+mn-ea"/>
                <a:cs typeface="+mn-cs"/>
              </a:rPr>
              <a:t> = 1, j = 2, k = -7;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x = 7e+33, y = .001;</a:t>
            </a:r>
            <a:endParaRPr lang="en-US" altLang="en-US" dirty="0">
              <a:ea typeface="+mn-ea"/>
              <a:cs typeface="+mn-cs"/>
            </a:endParaRPr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68" y="1685287"/>
            <a:ext cx="4416136" cy="20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9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eaLnBrk="1" hangingPunct="1"/>
            <a:r>
              <a:rPr lang="en" dirty="0" smtClean="0"/>
              <a:t>Tokens</a:t>
            </a:r>
            <a:r>
              <a:rPr lang="en" dirty="0"/>
              <a:t/>
            </a:r>
            <a:br>
              <a:rPr lang="en" dirty="0"/>
            </a:br>
            <a:r>
              <a:rPr lang="en-US" altLang="en-US" sz="1800" dirty="0"/>
              <a:t>Equality </a:t>
            </a:r>
            <a:r>
              <a:rPr lang="en-US" altLang="en-US" sz="1800" dirty="0" smtClean="0"/>
              <a:t>and Logical operators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058262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Equality Operators and 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50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5168" y="962526"/>
            <a:ext cx="7820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== and !=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Lower precedence than relational operators and left to right associativity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Binary operators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Yield either 1 (TRUE) or 0 (FALSE).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What is the output of this equality expression?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 err="1"/>
              <a:t>i</a:t>
            </a:r>
            <a:r>
              <a:rPr lang="en-US" altLang="en-US" sz="1600" dirty="0"/>
              <a:t> + j + k == -2 * -k where </a:t>
            </a:r>
            <a:r>
              <a:rPr lang="en-US" altLang="en-US" sz="1600" dirty="0" err="1"/>
              <a:t>i</a:t>
            </a:r>
            <a:r>
              <a:rPr lang="en-US" altLang="en-US" sz="1600" dirty="0"/>
              <a:t> = 1, j = 2, k = 3;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altLang="en-US" sz="18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0708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Equality operators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51</a:t>
            </a:fld>
            <a:endParaRPr lang="en"/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762400"/>
            <a:ext cx="6253306" cy="321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39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Logical Operators and Expressions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52</a:t>
            </a:fld>
            <a:endParaRPr lang="en"/>
          </a:p>
        </p:txBody>
      </p:sp>
      <p:sp>
        <p:nvSpPr>
          <p:cNvPr id="9" name="TextBox 8"/>
          <p:cNvSpPr txBox="1"/>
          <p:nvPr/>
        </p:nvSpPr>
        <p:spPr>
          <a:xfrm>
            <a:off x="429491" y="928255"/>
            <a:ext cx="757843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! (not)  is unary, &amp;&amp; (and) and || (or) are binary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&amp;&amp; has higher precedence than </a:t>
            </a:r>
            <a:r>
              <a:rPr lang="en-US" altLang="en-US" sz="2000" dirty="0" smtClean="0">
                <a:ea typeface="+mn-ea"/>
                <a:cs typeface="+mn-cs"/>
              </a:rPr>
              <a:t>||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 smtClean="0">
                <a:ea typeface="+mn-ea"/>
                <a:cs typeface="+mn-cs"/>
              </a:rPr>
              <a:t>! </a:t>
            </a:r>
            <a:r>
              <a:rPr lang="en-US" altLang="en-US" sz="2000" dirty="0">
                <a:ea typeface="+mn-ea"/>
                <a:cs typeface="+mn-cs"/>
              </a:rPr>
              <a:t>has same </a:t>
            </a:r>
            <a:r>
              <a:rPr lang="en-US" altLang="en-US" sz="2000" dirty="0" smtClean="0">
                <a:ea typeface="+mn-ea"/>
                <a:cs typeface="+mn-cs"/>
              </a:rPr>
              <a:t>precedence </a:t>
            </a:r>
            <a:r>
              <a:rPr lang="en-US" altLang="en-US" sz="2000" dirty="0">
                <a:ea typeface="+mn-ea"/>
                <a:cs typeface="+mn-cs"/>
              </a:rPr>
              <a:t>as other unary operators. 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Semantics of the ! operator</a:t>
            </a:r>
          </a:p>
        </p:txBody>
      </p:sp>
      <p:pic>
        <p:nvPicPr>
          <p:cNvPr id="10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61" y="2756791"/>
            <a:ext cx="2759825" cy="1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2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Semantics of &amp;&amp; and || operator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53</a:t>
            </a:fld>
            <a:endParaRPr lang="en"/>
          </a:p>
        </p:txBody>
      </p:sp>
      <p:pic>
        <p:nvPicPr>
          <p:cNvPr id="9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762400"/>
            <a:ext cx="3977667" cy="227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6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Operators (5)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54</a:t>
            </a:fld>
            <a:endParaRPr lang="en"/>
          </a:p>
        </p:txBody>
      </p:sp>
      <p:pic>
        <p:nvPicPr>
          <p:cNvPr id="7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762401"/>
            <a:ext cx="5465645" cy="343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of Logical Operators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55</a:t>
            </a:fld>
            <a:endParaRPr lang="en"/>
          </a:p>
        </p:txBody>
      </p:sp>
      <p:sp>
        <p:nvSpPr>
          <p:cNvPr id="10" name="TextBox 9"/>
          <p:cNvSpPr txBox="1"/>
          <p:nvPr/>
        </p:nvSpPr>
        <p:spPr>
          <a:xfrm>
            <a:off x="443345" y="762400"/>
            <a:ext cx="4328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dirty="0"/>
              <a:t>char c = ‘B’; 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 = 3, j = 3, k = 3;</a:t>
            </a:r>
          </a:p>
          <a:p>
            <a:r>
              <a:rPr lang="en-US" altLang="en-US" sz="1800" dirty="0"/>
              <a:t>double x = 0.0, y = 2.3;</a:t>
            </a:r>
            <a:endParaRPr lang="en-IN" altLang="en-US" sz="1800" dirty="0"/>
          </a:p>
          <a:p>
            <a:endParaRPr lang="en-IN" dirty="0"/>
          </a:p>
        </p:txBody>
      </p:sp>
      <p:pic>
        <p:nvPicPr>
          <p:cNvPr id="12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5" y="1550456"/>
            <a:ext cx="3851045" cy="189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1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" dirty="0" smtClean="0"/>
              <a:t>Tokens</a:t>
            </a:r>
            <a:r>
              <a:rPr lang="en" dirty="0"/>
              <a:t/>
            </a:r>
            <a:br>
              <a:rPr lang="en" dirty="0"/>
            </a:br>
            <a:r>
              <a:rPr lang="en-IN" sz="1800" dirty="0" smtClean="0"/>
              <a:t>Application of operators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238224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 1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What will be the output of the following C program</a:t>
            </a:r>
            <a:endParaRPr lang="en-US" altLang="en-US" sz="1800" dirty="0">
              <a:solidFill>
                <a:srgbClr val="000000"/>
              </a:solidFill>
              <a:latin typeface="Helvetica" panose="020B0604020202020204" pitchFamily="34" charset="0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57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1188721" y="1473910"/>
            <a:ext cx="4572000" cy="33829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200" dirty="0">
                <a:latin typeface="Helvetica" panose="020B0604020202020204" pitchFamily="34" charset="0"/>
              </a:rPr>
              <a:t>#include&lt;stdio.h&gt; </a:t>
            </a:r>
          </a:p>
          <a:p>
            <a:pPr>
              <a:lnSpc>
                <a:spcPct val="150000"/>
              </a:lnSpc>
            </a:pPr>
            <a:r>
              <a:rPr lang="pt-BR" sz="1200" dirty="0">
                <a:latin typeface="Helvetica" panose="020B0604020202020204" pitchFamily="34" charset="0"/>
              </a:rPr>
              <a:t>int main(void) {        </a:t>
            </a:r>
          </a:p>
          <a:p>
            <a:pPr>
              <a:lnSpc>
                <a:spcPct val="150000"/>
              </a:lnSpc>
            </a:pPr>
            <a:r>
              <a:rPr lang="pt-BR" sz="1200" dirty="0">
                <a:latin typeface="Helvetica" panose="020B0604020202020204" pitchFamily="34" charset="0"/>
              </a:rPr>
              <a:t> </a:t>
            </a:r>
            <a:r>
              <a:rPr lang="pt-BR" sz="1200" dirty="0" smtClean="0">
                <a:latin typeface="Helvetica" panose="020B0604020202020204" pitchFamily="34" charset="0"/>
              </a:rPr>
              <a:t>     int </a:t>
            </a:r>
            <a:r>
              <a:rPr lang="pt-BR" sz="1200" dirty="0">
                <a:latin typeface="Helvetica" panose="020B0604020202020204" pitchFamily="34" charset="0"/>
              </a:rPr>
              <a:t>a, b = 0, c = 0;        </a:t>
            </a:r>
          </a:p>
          <a:p>
            <a:pPr>
              <a:lnSpc>
                <a:spcPct val="150000"/>
              </a:lnSpc>
            </a:pPr>
            <a:r>
              <a:rPr lang="pt-BR" sz="1200" dirty="0" smtClean="0">
                <a:latin typeface="Helvetica" panose="020B0604020202020204" pitchFamily="34" charset="0"/>
              </a:rPr>
              <a:t>      a </a:t>
            </a:r>
            <a:r>
              <a:rPr lang="pt-BR" sz="1200" dirty="0">
                <a:latin typeface="Helvetica" panose="020B0604020202020204" pitchFamily="34" charset="0"/>
              </a:rPr>
              <a:t>= ++b + ++c;        </a:t>
            </a:r>
          </a:p>
          <a:p>
            <a:pPr>
              <a:lnSpc>
                <a:spcPct val="150000"/>
              </a:lnSpc>
            </a:pPr>
            <a:r>
              <a:rPr lang="pt-BR" sz="1200" dirty="0" smtClean="0">
                <a:latin typeface="Helvetica" panose="020B0604020202020204" pitchFamily="34" charset="0"/>
              </a:rPr>
              <a:t>      printf</a:t>
            </a:r>
            <a:r>
              <a:rPr lang="pt-BR" sz="1200" dirty="0">
                <a:latin typeface="Helvetica" panose="020B0604020202020204" pitchFamily="34" charset="0"/>
              </a:rPr>
              <a:t>("%d %d %d\n", a, b,c);        	</a:t>
            </a:r>
            <a:endParaRPr lang="pt-BR" sz="1200" dirty="0" smtClean="0">
              <a:latin typeface="Helvetica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200" dirty="0">
                <a:latin typeface="Helvetica" panose="020B0604020202020204" pitchFamily="34" charset="0"/>
              </a:rPr>
              <a:t> </a:t>
            </a:r>
            <a:r>
              <a:rPr lang="pt-BR" sz="1200" dirty="0" smtClean="0">
                <a:latin typeface="Helvetica" panose="020B0604020202020204" pitchFamily="34" charset="0"/>
              </a:rPr>
              <a:t>     a </a:t>
            </a:r>
            <a:r>
              <a:rPr lang="pt-BR" sz="1200" dirty="0">
                <a:latin typeface="Helvetica" panose="020B0604020202020204" pitchFamily="34" charset="0"/>
              </a:rPr>
              <a:t>= b++ + c++;        </a:t>
            </a:r>
          </a:p>
          <a:p>
            <a:pPr>
              <a:lnSpc>
                <a:spcPct val="150000"/>
              </a:lnSpc>
            </a:pPr>
            <a:r>
              <a:rPr lang="pt-BR" sz="1200" dirty="0" smtClean="0">
                <a:latin typeface="Helvetica" panose="020B0604020202020204" pitchFamily="34" charset="0"/>
              </a:rPr>
              <a:t>      printf</a:t>
            </a:r>
            <a:r>
              <a:rPr lang="pt-BR" sz="1200" dirty="0">
                <a:latin typeface="Helvetica" panose="020B0604020202020204" pitchFamily="34" charset="0"/>
              </a:rPr>
              <a:t>("%d %d %d\n", a, b,c);        	</a:t>
            </a:r>
            <a:endParaRPr lang="pt-BR" sz="1200" dirty="0" smtClean="0">
              <a:latin typeface="Helvetica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200" dirty="0">
                <a:latin typeface="Helvetica" panose="020B0604020202020204" pitchFamily="34" charset="0"/>
              </a:rPr>
              <a:t> </a:t>
            </a:r>
            <a:r>
              <a:rPr lang="pt-BR" sz="1200" dirty="0" smtClean="0">
                <a:latin typeface="Helvetica" panose="020B0604020202020204" pitchFamily="34" charset="0"/>
              </a:rPr>
              <a:t>     a </a:t>
            </a:r>
            <a:r>
              <a:rPr lang="pt-BR" sz="1200" dirty="0">
                <a:latin typeface="Helvetica" panose="020B0604020202020204" pitchFamily="34" charset="0"/>
              </a:rPr>
              <a:t>= ++b + c++;        </a:t>
            </a:r>
          </a:p>
          <a:p>
            <a:pPr>
              <a:lnSpc>
                <a:spcPct val="150000"/>
              </a:lnSpc>
            </a:pPr>
            <a:r>
              <a:rPr lang="pt-BR" sz="1200" dirty="0" smtClean="0">
                <a:latin typeface="Helvetica" panose="020B0604020202020204" pitchFamily="34" charset="0"/>
              </a:rPr>
              <a:t>      printf</a:t>
            </a:r>
            <a:r>
              <a:rPr lang="pt-BR" sz="1200" dirty="0">
                <a:latin typeface="Helvetica" panose="020B0604020202020204" pitchFamily="34" charset="0"/>
              </a:rPr>
              <a:t>("%d %d %d\n", a, b,c);        </a:t>
            </a:r>
            <a:endParaRPr lang="pt-BR" sz="1200" dirty="0" smtClean="0">
              <a:latin typeface="Helvetica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200" dirty="0">
                <a:latin typeface="Helvetica" panose="020B0604020202020204" pitchFamily="34" charset="0"/>
              </a:rPr>
              <a:t> </a:t>
            </a:r>
            <a:r>
              <a:rPr lang="pt-BR" sz="1200" dirty="0" smtClean="0">
                <a:latin typeface="Helvetica" panose="020B0604020202020204" pitchFamily="34" charset="0"/>
              </a:rPr>
              <a:t>     a </a:t>
            </a:r>
            <a:r>
              <a:rPr lang="pt-BR" sz="1200" dirty="0">
                <a:latin typeface="Helvetica" panose="020B0604020202020204" pitchFamily="34" charset="0"/>
              </a:rPr>
              <a:t>= b-- + --c;        </a:t>
            </a:r>
          </a:p>
          <a:p>
            <a:pPr>
              <a:lnSpc>
                <a:spcPct val="150000"/>
              </a:lnSpc>
            </a:pPr>
            <a:r>
              <a:rPr lang="pt-BR" sz="1200" dirty="0" smtClean="0">
                <a:latin typeface="Helvetica" panose="020B0604020202020204" pitchFamily="34" charset="0"/>
              </a:rPr>
              <a:t>      printf</a:t>
            </a:r>
            <a:r>
              <a:rPr lang="pt-BR" sz="1200" dirty="0">
                <a:latin typeface="Helvetica" panose="020B0604020202020204" pitchFamily="34" charset="0"/>
              </a:rPr>
              <a:t>("%d %d %d\n", a, b,c);</a:t>
            </a:r>
          </a:p>
          <a:p>
            <a:pPr>
              <a:lnSpc>
                <a:spcPct val="150000"/>
              </a:lnSpc>
            </a:pPr>
            <a:r>
              <a:rPr lang="pt-BR" sz="1200" dirty="0">
                <a:latin typeface="Helvetica" panose="020B0604020202020204" pitchFamily="34" charset="0"/>
              </a:rPr>
              <a:t>}</a:t>
            </a:r>
            <a:endParaRPr lang="en-IN" sz="12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4535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 2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What will be the output of the following C program</a:t>
            </a:r>
            <a:endParaRPr lang="en-US" altLang="en-US" sz="1800" dirty="0">
              <a:solidFill>
                <a:srgbClr val="000000"/>
              </a:solidFill>
              <a:latin typeface="Helvetica" panose="020B0604020202020204" pitchFamily="34" charset="0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58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1188721" y="147391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#include&lt;</a:t>
            </a:r>
            <a:r>
              <a:rPr lang="en-IN" dirty="0" err="1">
                <a:latin typeface="Helvetica" panose="020B0604020202020204" pitchFamily="34" charset="0"/>
              </a:rPr>
              <a:t>stdio.h</a:t>
            </a:r>
            <a:r>
              <a:rPr lang="en-IN" dirty="0">
                <a:latin typeface="Helvetica" panose="020B0604020202020204" pitchFamily="34" charset="0"/>
              </a:rPr>
              <a:t>&gt;</a:t>
            </a:r>
          </a:p>
          <a:p>
            <a:r>
              <a:rPr lang="en-IN" dirty="0" smtClean="0">
                <a:latin typeface="Helvetica" panose="020B0604020202020204" pitchFamily="34" charset="0"/>
              </a:rPr>
              <a:t> </a:t>
            </a:r>
            <a:r>
              <a:rPr lang="en-IN" dirty="0">
                <a:latin typeface="Helvetica" panose="020B0604020202020204" pitchFamily="34" charset="0"/>
              </a:rPr>
              <a:t> </a:t>
            </a:r>
            <a:r>
              <a:rPr lang="en-IN" dirty="0" err="1" smtClean="0">
                <a:latin typeface="Helvetica" panose="020B0604020202020204" pitchFamily="34" charset="0"/>
              </a:rPr>
              <a:t>int</a:t>
            </a:r>
            <a:r>
              <a:rPr lang="en-IN" dirty="0" smtClean="0">
                <a:latin typeface="Helvetica" panose="020B0604020202020204" pitchFamily="34" charset="0"/>
              </a:rPr>
              <a:t> </a:t>
            </a:r>
            <a:r>
              <a:rPr lang="en-IN" dirty="0">
                <a:latin typeface="Helvetica" panose="020B0604020202020204" pitchFamily="34" charset="0"/>
              </a:rPr>
              <a:t>main</a:t>
            </a:r>
            <a:r>
              <a:rPr lang="en-IN" dirty="0" smtClean="0">
                <a:latin typeface="Helvetica" panose="020B0604020202020204" pitchFamily="34" charset="0"/>
              </a:rPr>
              <a:t>()</a:t>
            </a:r>
          </a:p>
          <a:p>
            <a:r>
              <a:rPr lang="en-IN" dirty="0" smtClean="0">
                <a:latin typeface="Helvetica" panose="020B0604020202020204" pitchFamily="34" charset="0"/>
              </a:rPr>
              <a:t>    </a:t>
            </a:r>
            <a:r>
              <a:rPr lang="en-IN" dirty="0">
                <a:latin typeface="Helvetica" panose="020B0604020202020204" pitchFamily="34" charset="0"/>
              </a:rPr>
              <a:t>{	</a:t>
            </a:r>
          </a:p>
          <a:p>
            <a:r>
              <a:rPr lang="en-IN" dirty="0" smtClean="0">
                <a:latin typeface="Helvetica" panose="020B0604020202020204" pitchFamily="34" charset="0"/>
              </a:rPr>
              <a:t>      </a:t>
            </a:r>
            <a:r>
              <a:rPr lang="en-IN" dirty="0" err="1" smtClean="0">
                <a:latin typeface="Helvetica" panose="020B0604020202020204" pitchFamily="34" charset="0"/>
              </a:rPr>
              <a:t>int</a:t>
            </a:r>
            <a:r>
              <a:rPr lang="en-IN" dirty="0" smtClean="0">
                <a:latin typeface="Helvetica" panose="020B0604020202020204" pitchFamily="34" charset="0"/>
              </a:rPr>
              <a:t> </a:t>
            </a:r>
            <a:r>
              <a:rPr lang="en-IN" dirty="0">
                <a:latin typeface="Helvetica" panose="020B0604020202020204" pitchFamily="34" charset="0"/>
              </a:rPr>
              <a:t>a = 1, b = 2, c = 3</a:t>
            </a:r>
            <a:r>
              <a:rPr lang="en-IN" dirty="0" smtClean="0">
                <a:latin typeface="Helvetica" panose="020B0604020202020204" pitchFamily="34" charset="0"/>
              </a:rPr>
              <a:t>;</a:t>
            </a:r>
          </a:p>
          <a:p>
            <a:r>
              <a:rPr lang="en-IN" dirty="0">
                <a:latin typeface="Helvetica" panose="020B0604020202020204" pitchFamily="34" charset="0"/>
              </a:rPr>
              <a:t>		</a:t>
            </a:r>
          </a:p>
          <a:p>
            <a:r>
              <a:rPr lang="en-IN" dirty="0" smtClean="0">
                <a:latin typeface="Helvetica" panose="020B0604020202020204" pitchFamily="34" charset="0"/>
              </a:rPr>
              <a:t>      a </a:t>
            </a:r>
            <a:r>
              <a:rPr lang="en-IN" dirty="0">
                <a:latin typeface="Helvetica" panose="020B0604020202020204" pitchFamily="34" charset="0"/>
              </a:rPr>
              <a:t>+=b +=c +=7</a:t>
            </a:r>
            <a:r>
              <a:rPr lang="en-IN" dirty="0" smtClean="0">
                <a:latin typeface="Helvetica" panose="020B0604020202020204" pitchFamily="34" charset="0"/>
              </a:rPr>
              <a:t>;</a:t>
            </a:r>
          </a:p>
          <a:p>
            <a:r>
              <a:rPr lang="en-IN" dirty="0">
                <a:latin typeface="Helvetica" panose="020B0604020202020204" pitchFamily="34" charset="0"/>
              </a:rPr>
              <a:t>		</a:t>
            </a:r>
            <a:r>
              <a:rPr lang="en-IN" dirty="0" smtClean="0">
                <a:latin typeface="Helvetica" panose="020B0604020202020204" pitchFamily="34" charset="0"/>
              </a:rPr>
              <a:t> </a:t>
            </a:r>
          </a:p>
          <a:p>
            <a:r>
              <a:rPr lang="en-IN" dirty="0">
                <a:latin typeface="Helvetica" panose="020B0604020202020204" pitchFamily="34" charset="0"/>
              </a:rPr>
              <a:t> </a:t>
            </a:r>
            <a:r>
              <a:rPr lang="en-IN" dirty="0" smtClean="0">
                <a:latin typeface="Helvetica" panose="020B0604020202020204" pitchFamily="34" charset="0"/>
              </a:rPr>
              <a:t>    </a:t>
            </a:r>
            <a:r>
              <a:rPr lang="en-IN" dirty="0" err="1" smtClean="0">
                <a:latin typeface="Helvetica" panose="020B0604020202020204" pitchFamily="34" charset="0"/>
              </a:rPr>
              <a:t>printf</a:t>
            </a:r>
            <a:r>
              <a:rPr lang="en-IN" dirty="0">
                <a:latin typeface="Helvetica" panose="020B0604020202020204" pitchFamily="34" charset="0"/>
              </a:rPr>
              <a:t>("a=%d,\t b=%d,\t c=%d\n", a, b, c);</a:t>
            </a:r>
          </a:p>
          <a:p>
            <a:r>
              <a:rPr lang="en-IN" dirty="0">
                <a:latin typeface="Helvetica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364855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1455</Words>
  <Application>Microsoft Office PowerPoint</Application>
  <PresentationFormat>On-screen Show (16:9)</PresentationFormat>
  <Paragraphs>435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Helvetica Neue</vt:lpstr>
      <vt:lpstr>ＭＳ Ｐゴシック</vt:lpstr>
      <vt:lpstr>Wingdings</vt:lpstr>
      <vt:lpstr>Arial</vt:lpstr>
      <vt:lpstr>Helvetica</vt:lpstr>
      <vt:lpstr>Simple Light</vt:lpstr>
      <vt:lpstr>Bachelor of Science (Honours) in Data Science and Artificial Intelligence</vt:lpstr>
      <vt:lpstr>Lexical elements</vt:lpstr>
      <vt:lpstr>Tokens Types of tokens</vt:lpstr>
      <vt:lpstr>Compilation process</vt:lpstr>
      <vt:lpstr>Tokens</vt:lpstr>
      <vt:lpstr>Tokens Keywords</vt:lpstr>
      <vt:lpstr>Keywords</vt:lpstr>
      <vt:lpstr>Categorizing Keywords: related to data types </vt:lpstr>
      <vt:lpstr>Categorizing Keywords: related to control statements </vt:lpstr>
      <vt:lpstr>Ex: Area of a circle</vt:lpstr>
      <vt:lpstr>Comments</vt:lpstr>
      <vt:lpstr>Ex: Area of a circle</vt:lpstr>
      <vt:lpstr>Tokens Punctuators</vt:lpstr>
      <vt:lpstr>Punctuators</vt:lpstr>
      <vt:lpstr>Punctuators</vt:lpstr>
      <vt:lpstr>Punctuators</vt:lpstr>
      <vt:lpstr>Punctuators</vt:lpstr>
      <vt:lpstr>Punctuators</vt:lpstr>
      <vt:lpstr>Punctuators</vt:lpstr>
      <vt:lpstr>Punctuators</vt:lpstr>
      <vt:lpstr>Not Punctuators</vt:lpstr>
      <vt:lpstr>Ex: Area of a circle</vt:lpstr>
      <vt:lpstr>Tokens Identifiers</vt:lpstr>
      <vt:lpstr>Identifiers</vt:lpstr>
      <vt:lpstr>Ex: Area of a circle</vt:lpstr>
      <vt:lpstr>Programming Tip</vt:lpstr>
      <vt:lpstr>Tokens Constants and String constants</vt:lpstr>
      <vt:lpstr>Constants</vt:lpstr>
      <vt:lpstr>String Constants</vt:lpstr>
      <vt:lpstr>Ex: Area of a circle</vt:lpstr>
      <vt:lpstr>Token Operators</vt:lpstr>
      <vt:lpstr>Operators</vt:lpstr>
      <vt:lpstr>Ex: Area of a circle</vt:lpstr>
      <vt:lpstr>Summary: Area of a circle example </vt:lpstr>
      <vt:lpstr>Tokens Unary and arithmetic operators</vt:lpstr>
      <vt:lpstr>Unary and arithmetic operators </vt:lpstr>
      <vt:lpstr>Unary and arithmetic operators </vt:lpstr>
      <vt:lpstr>Ex: Unary and arithmetic operators</vt:lpstr>
      <vt:lpstr>Token Assignment operator </vt:lpstr>
      <vt:lpstr>Assignment Operators</vt:lpstr>
      <vt:lpstr>Assignment operators</vt:lpstr>
      <vt:lpstr>Token Relational operator </vt:lpstr>
      <vt:lpstr>Relational Operators</vt:lpstr>
      <vt:lpstr>Relational operators</vt:lpstr>
      <vt:lpstr>Ex: Relational Expressions</vt:lpstr>
      <vt:lpstr>Ex: Relational Expressions (2) </vt:lpstr>
      <vt:lpstr>ASCII values</vt:lpstr>
      <vt:lpstr>Ex: Relational Expressions (2) </vt:lpstr>
      <vt:lpstr>Tokens Equality and Logical operators</vt:lpstr>
      <vt:lpstr>Equality Operators and Expressions</vt:lpstr>
      <vt:lpstr>Equality operators</vt:lpstr>
      <vt:lpstr>Logical Operators and Expressions</vt:lpstr>
      <vt:lpstr>Semantics of &amp;&amp; and || operator</vt:lpstr>
      <vt:lpstr>Operators (5)</vt:lpstr>
      <vt:lpstr>Examples of Logical Operators</vt:lpstr>
      <vt:lpstr>Tokens Application of operators</vt:lpstr>
      <vt:lpstr>Ex 1</vt:lpstr>
      <vt:lpstr>Ex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Ashok Singh</dc:creator>
  <cp:lastModifiedBy>Ashok Singh Sairam</cp:lastModifiedBy>
  <cp:revision>30</cp:revision>
  <dcterms:modified xsi:type="dcterms:W3CDTF">2024-09-14T10:00:23Z</dcterms:modified>
</cp:coreProperties>
</file>