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9" r:id="rId4"/>
    <p:sldId id="262" r:id="rId5"/>
    <p:sldId id="265" r:id="rId6"/>
    <p:sldId id="266" r:id="rId7"/>
    <p:sldId id="268" r:id="rId8"/>
    <p:sldId id="269" r:id="rId9"/>
    <p:sldId id="270" r:id="rId10"/>
    <p:sldId id="272" r:id="rId11"/>
    <p:sldId id="273" r:id="rId12"/>
    <p:sldId id="275" r:id="rId13"/>
    <p:sldId id="277" r:id="rId14"/>
    <p:sldId id="278" r:id="rId15"/>
    <p:sldId id="279" r:id="rId16"/>
    <p:sldId id="280" r:id="rId17"/>
    <p:sldId id="282" r:id="rId18"/>
    <p:sldId id="313" r:id="rId19"/>
    <p:sldId id="284" r:id="rId20"/>
    <p:sldId id="285" r:id="rId21"/>
    <p:sldId id="286" r:id="rId22"/>
    <p:sldId id="287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7" r:id="rId38"/>
    <p:sldId id="308" r:id="rId39"/>
    <p:sldId id="309" r:id="rId40"/>
    <p:sldId id="311" r:id="rId41"/>
  </p:sldIdLst>
  <p:sldSz cx="9144000" cy="5143500" type="screen16x9"/>
  <p:notesSz cx="6858000" cy="9144000"/>
  <p:embeddedFontLst>
    <p:embeddedFont>
      <p:font typeface="Lucida Console" panose="020B0609040504020204" pitchFamily="49" charset="0"/>
      <p:regular r:id="rId43"/>
    </p:embeddedFont>
    <p:embeddedFont>
      <p:font typeface="ＭＳ Ｐゴシック" panose="020B0600070205080204" pitchFamily="34" charset="-128"/>
      <p:regular r:id="rId44"/>
    </p:embeddedFont>
    <p:embeddedFont>
      <p:font typeface="Comic Sans MS" panose="030F0702030302020204" pitchFamily="66" charset="0"/>
      <p:regular r:id="rId45"/>
      <p:bold r:id="rId46"/>
      <p:italic r:id="rId47"/>
      <p:boldItalic r:id="rId48"/>
    </p:embeddedFont>
    <p:embeddedFont>
      <p:font typeface="Helvetica Neue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CA20D-96FC-B1C4-54B9-E28BA9CDE1E7}" v="5" dt="2023-08-14T05:17:35.356"/>
  </p1510:revLst>
</p1510:revInfo>
</file>

<file path=ppt/tableStyles.xml><?xml version="1.0" encoding="utf-8"?>
<a:tblStyleLst xmlns:a="http://schemas.openxmlformats.org/drawingml/2006/main" def="{578D327A-D4A4-4160-9BAD-CE66B4452F15}">
  <a:tblStyle styleId="{578D327A-D4A4-4160-9BAD-CE66B4452F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69" autoAdjust="0"/>
  </p:normalViewPr>
  <p:slideViewPr>
    <p:cSldViewPr snapToGrid="0">
      <p:cViewPr varScale="1">
        <p:scale>
          <a:sx n="97" d="100"/>
          <a:sy n="97" d="100"/>
        </p:scale>
        <p:origin x="97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SPANJALI GHOSHAL" userId="S::g.puspanjali@iitg.ac.in::e1744c29-695f-45d9-84bb-2d92beeb5066" providerId="AD" clId="Web-{418CA20D-96FC-B1C4-54B9-E28BA9CDE1E7}"/>
    <pc:docChg chg="modSld">
      <pc:chgData name="PUSPANJALI GHOSHAL" userId="S::g.puspanjali@iitg.ac.in::e1744c29-695f-45d9-84bb-2d92beeb5066" providerId="AD" clId="Web-{418CA20D-96FC-B1C4-54B9-E28BA9CDE1E7}" dt="2023-08-14T05:17:35.356" v="3"/>
      <pc:docMkLst>
        <pc:docMk/>
      </pc:docMkLst>
      <pc:sldChg chg="modSp">
        <pc:chgData name="PUSPANJALI GHOSHAL" userId="S::g.puspanjali@iitg.ac.in::e1744c29-695f-45d9-84bb-2d92beeb5066" providerId="AD" clId="Web-{418CA20D-96FC-B1C4-54B9-E28BA9CDE1E7}" dt="2023-08-14T05:17:18.543" v="1" actId="20577"/>
        <pc:sldMkLst>
          <pc:docMk/>
          <pc:sldMk cId="0" sldId="258"/>
        </pc:sldMkLst>
        <pc:spChg chg="mod">
          <ac:chgData name="PUSPANJALI GHOSHAL" userId="S::g.puspanjali@iitg.ac.in::e1744c29-695f-45d9-84bb-2d92beeb5066" providerId="AD" clId="Web-{418CA20D-96FC-B1C4-54B9-E28BA9CDE1E7}" dt="2023-08-14T05:17:05.995" v="0" actId="20577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PUSPANJALI GHOSHAL" userId="S::g.puspanjali@iitg.ac.in::e1744c29-695f-45d9-84bb-2d92beeb5066" providerId="AD" clId="Web-{418CA20D-96FC-B1C4-54B9-E28BA9CDE1E7}" dt="2023-08-14T05:17:18.543" v="1" actId="20577"/>
          <ac:spMkLst>
            <pc:docMk/>
            <pc:sldMk cId="0" sldId="258"/>
            <ac:spMk id="113" creationId="{00000000-0000-0000-0000-000000000000}"/>
          </ac:spMkLst>
        </pc:spChg>
      </pc:sldChg>
      <pc:sldChg chg="delSp modSp">
        <pc:chgData name="PUSPANJALI GHOSHAL" userId="S::g.puspanjali@iitg.ac.in::e1744c29-695f-45d9-84bb-2d92beeb5066" providerId="AD" clId="Web-{418CA20D-96FC-B1C4-54B9-E28BA9CDE1E7}" dt="2023-08-14T05:17:35.356" v="3"/>
        <pc:sldMkLst>
          <pc:docMk/>
          <pc:sldMk cId="1932165704" sldId="260"/>
        </pc:sldMkLst>
        <pc:spChg chg="del mod">
          <ac:chgData name="PUSPANJALI GHOSHAL" userId="S::g.puspanjali@iitg.ac.in::e1744c29-695f-45d9-84bb-2d92beeb5066" providerId="AD" clId="Web-{418CA20D-96FC-B1C4-54B9-E28BA9CDE1E7}" dt="2023-08-14T05:17:35.356" v="3"/>
          <ac:spMkLst>
            <pc:docMk/>
            <pc:sldMk cId="1932165704" sldId="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34169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9d9d1c9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9d9d1c9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813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39d9d1c90f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39d9d1c90f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824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Name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3853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5385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611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773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Name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1419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2523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201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059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560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9197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393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635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387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158750" indent="0">
              <a:buNone/>
            </a:pPr>
            <a:endParaRPr lang="en-US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6073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5539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2149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288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928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233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645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5772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4957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4537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9993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8220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7419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0749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389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9828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en-US" sz="1200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2063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2647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7474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2748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9057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9579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881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6804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492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8" name="Google Shape;58;p8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075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7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Bachelor of Science (Honours) in Data Science and Artificial Intelligence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 104, C programming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Control Statements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Looping statements</a:t>
            </a:r>
            <a:br>
              <a:rPr lang="en-IN" dirty="0"/>
            </a:br>
            <a:r>
              <a:rPr lang="en" dirty="0"/>
              <a:t>w</a:t>
            </a:r>
            <a:r>
              <a:rPr lang="en" dirty="0" smtClean="0"/>
              <a:t>hile  and do-while 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Control – </a:t>
            </a:r>
            <a:r>
              <a:rPr lang="en-US" altLang="en-US" u="sng" dirty="0" smtClean="0"/>
              <a:t>while</a:t>
            </a:r>
            <a:r>
              <a:rPr lang="en-US" altLang="en-US" dirty="0" smtClean="0"/>
              <a:t>   and         </a:t>
            </a:r>
            <a:r>
              <a:rPr lang="en-US" altLang="en-US" u="sng" dirty="0" smtClean="0"/>
              <a:t>do-while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while (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expr</a:t>
            </a: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)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		</a:t>
            </a:r>
            <a:r>
              <a:rPr lang="en-US" altLang="en-US" sz="1800" dirty="0" smtClean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 </a:t>
            </a:r>
            <a:r>
              <a:rPr lang="en-US" altLang="en-US" sz="1800" dirty="0" smtClean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+mn-cs"/>
              </a:rPr>
              <a:t>stmt1</a:t>
            </a:r>
            <a:endParaRPr lang="en-US" altLang="en-US" sz="1800" dirty="0">
              <a:solidFill>
                <a:srgbClr val="00B050"/>
              </a:solidFill>
              <a:latin typeface="Lucida Console" panose="020B0609040504020204" pitchFamily="49" charset="0"/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80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5" name="TextBox 4"/>
          <p:cNvSpPr txBox="1"/>
          <p:nvPr/>
        </p:nvSpPr>
        <p:spPr>
          <a:xfrm>
            <a:off x="4225636" y="1107236"/>
            <a:ext cx="2806931" cy="123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latin typeface="Lucida Console" panose="020B0609040504020204" pitchFamily="49" charset="0"/>
                <a:ea typeface="+mn-ea"/>
                <a:cs typeface="+mn-cs"/>
              </a:rPr>
              <a:t>do 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Lucida Console" panose="020B0609040504020204" pitchFamily="49" charset="0"/>
                <a:ea typeface="+mn-ea"/>
                <a:cs typeface="+mn-cs"/>
              </a:rPr>
              <a:t>		</a:t>
            </a:r>
            <a:r>
              <a:rPr lang="en-US" altLang="en-US" sz="2000" dirty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+mn-cs"/>
              </a:rPr>
              <a:t>stmt1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Lucida Console" panose="020B0609040504020204" pitchFamily="49" charset="0"/>
                <a:ea typeface="+mn-ea"/>
                <a:cs typeface="+mn-cs"/>
              </a:rPr>
              <a:t>	while (</a:t>
            </a:r>
            <a:r>
              <a:rPr lang="en-US" altLang="en-US" sz="20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expr</a:t>
            </a:r>
            <a:r>
              <a:rPr lang="en-US" altLang="en-US" sz="2000" dirty="0">
                <a:latin typeface="Lucida Console" panose="020B0609040504020204" pitchFamily="49" charset="0"/>
                <a:ea typeface="+mn-ea"/>
                <a:cs typeface="+mn-cs"/>
              </a:rPr>
              <a:t>)</a:t>
            </a:r>
            <a:endParaRPr lang="en-US" altLang="en-US" sz="2000" dirty="0">
              <a:solidFill>
                <a:srgbClr val="00B050"/>
              </a:solidFill>
              <a:latin typeface="Lucida Console" panose="020B0609040504020204" pitchFamily="49" charset="0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6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Ex: Print </a:t>
            </a:r>
            <a:r>
              <a:rPr lang="en-IN" dirty="0" smtClean="0"/>
              <a:t>numbers</a:t>
            </a:r>
            <a:r>
              <a:rPr lang="en-IN" dirty="0"/>
              <a:t>(revisited)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// Print numbers from 1 to 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4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#include &lt;</a:t>
            </a:r>
            <a:r>
              <a:rPr lang="en-IN" sz="24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stdio.h</a:t>
            </a: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main()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</a:t>
            </a:r>
            <a:r>
              <a:rPr lang="en-IN" sz="24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n;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</a:t>
            </a:r>
            <a:r>
              <a:rPr lang="en-IN" sz="24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scanf</a:t>
            </a: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(“%</a:t>
            </a:r>
            <a:r>
              <a:rPr lang="en-IN" sz="24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d”,&amp;n</a:t>
            </a: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while (n &gt;0 &amp;&amp; n &lt;= 5)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IN" sz="24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("%d\n", n);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++n;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4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return 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16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do-while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#include&lt;</a:t>
            </a:r>
            <a:r>
              <a:rPr lang="en-IN" sz="20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stdio.h</a:t>
            </a: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&gt;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main()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</a:t>
            </a:r>
            <a:r>
              <a:rPr lang="en-IN" sz="20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</a:t>
            </a: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number;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do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IN" sz="20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("Enter a number: ");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IN" sz="20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scanf</a:t>
            </a: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("%d", &amp;number);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} while (number &lt; 0);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</a:t>
            </a:r>
            <a:r>
              <a:rPr lang="en-IN" sz="20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("You entered: a positive number\n");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return 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pPr marL="133350" indent="0">
              <a:buNone/>
            </a:pP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7723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Looping statements</a:t>
            </a:r>
            <a:br>
              <a:rPr lang="en-IN" dirty="0"/>
            </a:br>
            <a:r>
              <a:rPr lang="en-IN" dirty="0"/>
              <a:t>F</a:t>
            </a:r>
            <a:r>
              <a:rPr lang="en-IN" dirty="0" smtClean="0"/>
              <a:t>or</a:t>
            </a:r>
            <a:r>
              <a:rPr lang="en" dirty="0" smtClean="0"/>
              <a:t> loop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21554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Control – for (example)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3345" y="1052945"/>
            <a:ext cx="7786255" cy="224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latin typeface="Lucida Console" panose="020B0609040504020204" pitchFamily="49" charset="0"/>
                <a:ea typeface="+mn-ea"/>
                <a:cs typeface="+mn-cs"/>
              </a:rPr>
              <a:t>Program to print all odd numbers between 1 and n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 		</a:t>
            </a:r>
            <a:endParaRPr lang="en-US" altLang="en-US" sz="2000" dirty="0" smtClean="0">
              <a:solidFill>
                <a:srgbClr val="002060"/>
              </a:solidFill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US" altLang="en-US" sz="2000" dirty="0">
              <a:solidFill>
                <a:srgbClr val="002060"/>
              </a:solidFill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 smtClean="0">
                <a:solidFill>
                  <a:srgbClr val="002060"/>
                </a:solidFill>
                <a:ea typeface="+mn-ea"/>
                <a:cs typeface="+mn-cs"/>
              </a:rPr>
              <a:t>          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 </a:t>
            </a:r>
            <a:r>
              <a:rPr lang="en-US" altLang="en-US" sz="2000" dirty="0" smtClean="0">
                <a:solidFill>
                  <a:srgbClr val="002060"/>
                </a:solidFill>
                <a:ea typeface="+mn-ea"/>
                <a:cs typeface="+mn-cs"/>
              </a:rPr>
              <a:t>          for(</a:t>
            </a:r>
            <a:r>
              <a:rPr lang="en-US" altLang="en-US" sz="2000" dirty="0" err="1" smtClean="0">
                <a:solidFill>
                  <a:srgbClr val="002060"/>
                </a:solidFill>
                <a:ea typeface="+mn-ea"/>
                <a:cs typeface="+mn-cs"/>
              </a:rPr>
              <a:t>i</a:t>
            </a:r>
            <a:r>
              <a:rPr lang="en-US" altLang="en-US" sz="2000" dirty="0" smtClean="0">
                <a:solidFill>
                  <a:srgbClr val="002060"/>
                </a:solidFill>
                <a:ea typeface="+mn-ea"/>
                <a:cs typeface="+mn-cs"/>
              </a:rPr>
              <a:t> </a:t>
            </a: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= 1; </a:t>
            </a:r>
            <a:r>
              <a:rPr lang="en-US" altLang="en-US" sz="2000" dirty="0" err="1">
                <a:solidFill>
                  <a:srgbClr val="002060"/>
                </a:solidFill>
                <a:ea typeface="+mn-ea"/>
                <a:cs typeface="+mn-cs"/>
              </a:rPr>
              <a:t>i</a:t>
            </a: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 &lt;= n; </a:t>
            </a:r>
            <a:r>
              <a:rPr lang="en-US" altLang="en-US" sz="2000" dirty="0" err="1">
                <a:solidFill>
                  <a:srgbClr val="002060"/>
                </a:solidFill>
                <a:ea typeface="+mn-ea"/>
                <a:cs typeface="+mn-cs"/>
              </a:rPr>
              <a:t>i</a:t>
            </a: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 += 2)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	 </a:t>
            </a:r>
            <a:r>
              <a:rPr lang="en-US" altLang="en-US" sz="2000" dirty="0" smtClean="0">
                <a:solidFill>
                  <a:srgbClr val="002060"/>
                </a:solidFill>
                <a:ea typeface="+mn-ea"/>
                <a:cs typeface="+mn-cs"/>
              </a:rPr>
              <a:t>                </a:t>
            </a:r>
            <a:r>
              <a:rPr lang="en-US" altLang="en-US" sz="2000" dirty="0" err="1" smtClean="0">
                <a:solidFill>
                  <a:srgbClr val="002060"/>
                </a:solidFill>
                <a:ea typeface="+mn-ea"/>
                <a:cs typeface="+mn-cs"/>
              </a:rPr>
              <a:t>printf</a:t>
            </a: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(“%d\n”, </a:t>
            </a:r>
            <a:r>
              <a:rPr lang="en-US" altLang="en-US" sz="2000" dirty="0" err="1">
                <a:solidFill>
                  <a:srgbClr val="002060"/>
                </a:solidFill>
                <a:ea typeface="+mn-ea"/>
                <a:cs typeface="+mn-cs"/>
              </a:rPr>
              <a:t>i</a:t>
            </a:r>
            <a:r>
              <a:rPr lang="en-US" altLang="en-US" sz="2000" dirty="0">
                <a:solidFill>
                  <a:srgbClr val="002060"/>
                </a:solidFill>
                <a:ea typeface="+mn-ea"/>
                <a:cs typeface="+mn-cs"/>
              </a:rPr>
              <a:t>);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73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Control – </a:t>
            </a:r>
            <a:r>
              <a:rPr lang="en-US" altLang="en-US" u="sng" dirty="0"/>
              <a:t>for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for (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&lt;initialize&gt;</a:t>
            </a:r>
            <a:r>
              <a:rPr lang="en-US" altLang="en-US" sz="1800" dirty="0">
                <a:solidFill>
                  <a:srgbClr val="002060"/>
                </a:solidFill>
                <a:latin typeface="Lucida Console" panose="020B0609040504020204" pitchFamily="49" charset="0"/>
                <a:ea typeface="+mn-ea"/>
                <a:cs typeface="+mn-cs"/>
              </a:rPr>
              <a:t>;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&lt;</a:t>
            </a:r>
            <a:r>
              <a:rPr lang="en-US" altLang="en-US" sz="1800" dirty="0" err="1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boolean_expr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&gt;;&lt;update&gt;</a:t>
            </a: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)</a:t>
            </a:r>
          </a:p>
          <a:p>
            <a:pPr marL="1143000" lvl="2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None/>
            </a:pPr>
            <a:r>
              <a:rPr lang="en-US" altLang="en-US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1800" dirty="0">
                <a:solidFill>
                  <a:srgbClr val="00B050"/>
                </a:solidFill>
                <a:latin typeface="Lucida Console" panose="020B0609040504020204" pitchFamily="49" charset="0"/>
              </a:rPr>
              <a:t>statement</a:t>
            </a:r>
          </a:p>
          <a:p>
            <a:pPr marL="1143000" lvl="2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None/>
            </a:pPr>
            <a:r>
              <a:rPr lang="en-US" altLang="en-US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		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If </a:t>
            </a:r>
            <a:r>
              <a:rPr lang="en-US" altLang="en-US" sz="1800" b="1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boolean</a:t>
            </a:r>
            <a:r>
              <a:rPr lang="en-US" altLang="en-US" sz="1800" b="1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expression</a:t>
            </a: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evaluates to TRUE execute </a:t>
            </a:r>
            <a:r>
              <a:rPr lang="en-US" altLang="en-US" sz="1800" b="1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statement, </a:t>
            </a: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followed by </a:t>
            </a:r>
            <a:r>
              <a:rPr lang="en-US" altLang="en-US" sz="1800" b="1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update </a:t>
            </a: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statement</a:t>
            </a:r>
            <a:r>
              <a:rPr lang="en-US" altLang="en-US" sz="1800" b="1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Any or all expression statements (</a:t>
            </a:r>
            <a:r>
              <a:rPr lang="en-US" altLang="en-US" sz="1800" dirty="0" err="1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exprs</a:t>
            </a: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) can be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4051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Which loops?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11" name="TextBox 10"/>
          <p:cNvSpPr txBox="1"/>
          <p:nvPr/>
        </p:nvSpPr>
        <p:spPr>
          <a:xfrm>
            <a:off x="471055" y="1094509"/>
            <a:ext cx="7536872" cy="2025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b="1" dirty="0">
                <a:ea typeface="+mn-ea"/>
                <a:cs typeface="+mn-cs"/>
              </a:rPr>
              <a:t>for</a:t>
            </a:r>
            <a:r>
              <a:rPr lang="en-IN" sz="2000" dirty="0">
                <a:ea typeface="+mn-ea"/>
                <a:cs typeface="+mn-cs"/>
              </a:rPr>
              <a:t> loops are more natural when we know how many iterations we need (</a:t>
            </a:r>
            <a:r>
              <a:rPr lang="en-IN" sz="2000" i="1" dirty="0">
                <a:ea typeface="+mn-ea"/>
                <a:cs typeface="+mn-cs"/>
              </a:rPr>
              <a:t>definite </a:t>
            </a:r>
            <a:r>
              <a:rPr lang="en-IN" sz="2000" dirty="0">
                <a:ea typeface="+mn-ea"/>
                <a:cs typeface="+mn-cs"/>
              </a:rPr>
              <a:t>or </a:t>
            </a:r>
            <a:r>
              <a:rPr lang="en-IN" sz="2000" i="1" dirty="0">
                <a:ea typeface="+mn-ea"/>
                <a:cs typeface="+mn-cs"/>
              </a:rPr>
              <a:t>counting </a:t>
            </a:r>
            <a:r>
              <a:rPr lang="en-IN" sz="2000" dirty="0">
                <a:ea typeface="+mn-ea"/>
                <a:cs typeface="+mn-cs"/>
              </a:rPr>
              <a:t>loops).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800" dirty="0"/>
              <a:t>Example: Print even numbers, etc.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b="1" dirty="0">
                <a:ea typeface="+mn-ea"/>
                <a:cs typeface="+mn-cs"/>
              </a:rPr>
              <a:t>while</a:t>
            </a:r>
            <a:r>
              <a:rPr lang="en-IN" sz="2000" dirty="0">
                <a:ea typeface="+mn-ea"/>
                <a:cs typeface="+mn-cs"/>
              </a:rPr>
              <a:t> and </a:t>
            </a:r>
            <a:r>
              <a:rPr lang="en-IN" sz="2000" b="1" dirty="0">
                <a:ea typeface="+mn-ea"/>
                <a:cs typeface="+mn-cs"/>
              </a:rPr>
              <a:t>do</a:t>
            </a:r>
            <a:r>
              <a:rPr lang="en-IN" sz="2000" dirty="0">
                <a:ea typeface="+mn-ea"/>
                <a:cs typeface="+mn-cs"/>
              </a:rPr>
              <a:t> loops are more natural when we want to keep looping until some outcome (</a:t>
            </a:r>
            <a:r>
              <a:rPr lang="en-IN" sz="2000" i="1" dirty="0">
                <a:ea typeface="+mn-ea"/>
                <a:cs typeface="+mn-cs"/>
              </a:rPr>
              <a:t>indefinite </a:t>
            </a:r>
            <a:r>
              <a:rPr lang="en-IN" sz="2000" dirty="0">
                <a:ea typeface="+mn-ea"/>
                <a:cs typeface="+mn-cs"/>
              </a:rPr>
              <a:t>or </a:t>
            </a:r>
            <a:r>
              <a:rPr lang="en-IN" sz="2000" i="1" dirty="0">
                <a:ea typeface="+mn-ea"/>
                <a:cs typeface="+mn-cs"/>
              </a:rPr>
              <a:t>result controlled </a:t>
            </a:r>
            <a:r>
              <a:rPr lang="en-IN" sz="2000" dirty="0">
                <a:ea typeface="+mn-ea"/>
                <a:cs typeface="+mn-cs"/>
              </a:rPr>
              <a:t>loops).</a:t>
            </a:r>
          </a:p>
        </p:txBody>
      </p:sp>
    </p:spTree>
    <p:extLst>
      <p:ext uri="{BB962C8B-B14F-4D97-AF65-F5344CB8AC3E}">
        <p14:creationId xmlns:p14="http://schemas.microsoft.com/office/powerpoint/2010/main" val="370455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Jump </a:t>
            </a:r>
            <a:r>
              <a:rPr lang="en-IN" dirty="0"/>
              <a:t>statements</a:t>
            </a:r>
            <a:br>
              <a:rPr lang="en-IN" dirty="0"/>
            </a:br>
            <a:r>
              <a:rPr lang="en-IN" dirty="0"/>
              <a:t>break and continue </a:t>
            </a:r>
            <a:r>
              <a:rPr lang="en-IN" dirty="0" smtClean="0"/>
              <a:t>statement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54791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break Statement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>
                <a:solidFill>
                  <a:srgbClr val="FF0000"/>
                </a:solidFill>
                <a:latin typeface="Arial"/>
                <a:ea typeface="+mn-ea"/>
                <a:cs typeface="+mn-cs"/>
              </a:rPr>
              <a:t>break</a:t>
            </a:r>
            <a:r>
              <a:rPr lang="en-US" altLang="en-US" sz="28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 statement causes to exit from the innermost enclosing loop or switch statement.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Comic Sans MS" panose="030F0702030302020204" pitchFamily="66" charset="0"/>
                <a:ea typeface="+mn-ea"/>
                <a:cs typeface="+mn-cs"/>
              </a:rPr>
              <a:t>while (1) {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		     </a:t>
            </a:r>
            <a:r>
              <a:rPr lang="en-US" altLang="en-US" sz="24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scanf</a:t>
            </a:r>
            <a:r>
              <a:rPr lang="en-US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(“%d”, &amp;counter);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		     if (counter &lt; 0 ) {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		          </a:t>
            </a:r>
            <a:r>
              <a:rPr lang="en-US" altLang="en-US" sz="24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printf</a:t>
            </a:r>
            <a:r>
              <a:rPr lang="en-US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(“I am not positive\n”);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			break;</a:t>
            </a:r>
            <a:r>
              <a:rPr lang="en-IN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 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IN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		     else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IN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        </a:t>
            </a:r>
            <a:r>
              <a:rPr lang="en-IN" altLang="en-US" sz="24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printf</a:t>
            </a:r>
            <a:r>
              <a:rPr lang="en-IN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(“I am positive\n”);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IN" altLang="en-U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     }</a:t>
            </a:r>
            <a:endParaRPr lang="en-US" altLang="en-US" sz="24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9948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continue Statement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11" name="TextBox 10"/>
          <p:cNvSpPr txBox="1"/>
          <p:nvPr/>
        </p:nvSpPr>
        <p:spPr>
          <a:xfrm>
            <a:off x="471055" y="1094509"/>
            <a:ext cx="7536872" cy="236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while (1) {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     </a:t>
            </a:r>
            <a:r>
              <a:rPr lang="en-IN" altLang="en-US" sz="1800" dirty="0" err="1">
                <a:latin typeface="Comic Sans MS" panose="030F0702030302020204" pitchFamily="66" charset="0"/>
                <a:ea typeface="+mn-ea"/>
                <a:cs typeface="+mn-cs"/>
              </a:rPr>
              <a:t>scanf</a:t>
            </a: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(“%d”, &amp;counter);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     if (counter &lt; 0 ) {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	</a:t>
            </a:r>
            <a:r>
              <a:rPr lang="en-IN" altLang="en-US" sz="1800" dirty="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continue;</a:t>
            </a: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   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     else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         </a:t>
            </a:r>
            <a:r>
              <a:rPr lang="en-IN" altLang="en-US" sz="1800" dirty="0" err="1">
                <a:latin typeface="Comic Sans MS" panose="030F0702030302020204" pitchFamily="66" charset="0"/>
                <a:ea typeface="+mn-ea"/>
                <a:cs typeface="+mn-cs"/>
              </a:rPr>
              <a:t>printf</a:t>
            </a: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(“I am positive\n”);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     }</a:t>
            </a:r>
          </a:p>
        </p:txBody>
      </p:sp>
    </p:spTree>
    <p:extLst>
      <p:ext uri="{BB962C8B-B14F-4D97-AF65-F5344CB8AC3E}">
        <p14:creationId xmlns:p14="http://schemas.microsoft.com/office/powerpoint/2010/main" val="163453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continue Statement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11" name="TextBox 10"/>
          <p:cNvSpPr txBox="1"/>
          <p:nvPr/>
        </p:nvSpPr>
        <p:spPr>
          <a:xfrm>
            <a:off x="471055" y="1094509"/>
            <a:ext cx="753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May occur only inside </a:t>
            </a:r>
            <a:r>
              <a:rPr lang="en-US" altLang="en-US" sz="2000" u="sng" dirty="0">
                <a:ea typeface="+mn-ea"/>
                <a:cs typeface="+mn-cs"/>
              </a:rPr>
              <a:t>for</a:t>
            </a:r>
            <a:r>
              <a:rPr lang="en-US" altLang="en-US" sz="2000" dirty="0">
                <a:ea typeface="+mn-ea"/>
                <a:cs typeface="+mn-cs"/>
              </a:rPr>
              <a:t>, </a:t>
            </a:r>
            <a:r>
              <a:rPr lang="en-US" altLang="en-US" sz="2000" u="sng" dirty="0">
                <a:ea typeface="+mn-ea"/>
                <a:cs typeface="+mn-cs"/>
              </a:rPr>
              <a:t>while</a:t>
            </a:r>
            <a:r>
              <a:rPr lang="en-US" altLang="en-US" sz="2000" dirty="0">
                <a:ea typeface="+mn-ea"/>
                <a:cs typeface="+mn-cs"/>
              </a:rPr>
              <a:t> and </a:t>
            </a:r>
            <a:r>
              <a:rPr lang="en-US" altLang="en-US" sz="2000" u="sng" dirty="0">
                <a:ea typeface="+mn-ea"/>
                <a:cs typeface="+mn-cs"/>
              </a:rPr>
              <a:t>do</a:t>
            </a:r>
            <a:r>
              <a:rPr lang="en-US" altLang="en-US" sz="2000" dirty="0">
                <a:ea typeface="+mn-ea"/>
                <a:cs typeface="+mn-cs"/>
              </a:rPr>
              <a:t> loops.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Causes to skip the remaining statement of the loop and continues with the next iteration of the loop.</a:t>
            </a:r>
          </a:p>
        </p:txBody>
      </p:sp>
    </p:spTree>
    <p:extLst>
      <p:ext uri="{BB962C8B-B14F-4D97-AF65-F5344CB8AC3E}">
        <p14:creationId xmlns:p14="http://schemas.microsoft.com/office/powerpoint/2010/main" val="190566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Jump </a:t>
            </a:r>
            <a:r>
              <a:rPr lang="en-IN" dirty="0"/>
              <a:t>statements</a:t>
            </a:r>
            <a:br>
              <a:rPr lang="en-IN" dirty="0"/>
            </a:br>
            <a:r>
              <a:rPr lang="en-IN" dirty="0" err="1"/>
              <a:t>goto</a:t>
            </a:r>
            <a:r>
              <a:rPr lang="en-IN" dirty="0"/>
              <a:t> </a:t>
            </a:r>
            <a:r>
              <a:rPr lang="en-IN" dirty="0" smtClean="0"/>
              <a:t>statement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77365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Ex:  using </a:t>
            </a:r>
            <a:r>
              <a:rPr lang="en-US" altLang="en-US" dirty="0" err="1"/>
              <a:t>goto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43345" y="1052945"/>
            <a:ext cx="7786255" cy="321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while (1) {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     </a:t>
            </a:r>
            <a:r>
              <a:rPr lang="en-IN" altLang="en-US" sz="1800" dirty="0" err="1">
                <a:latin typeface="Comic Sans MS" panose="030F0702030302020204" pitchFamily="66" charset="0"/>
                <a:ea typeface="+mn-ea"/>
                <a:cs typeface="+mn-cs"/>
              </a:rPr>
              <a:t>scanf</a:t>
            </a: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(“%d”, &amp;counter);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     if (counter &lt; 0 ) {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	continue; 		     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		     else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         		</a:t>
            </a:r>
            <a:r>
              <a:rPr lang="en-IN" altLang="en-US" sz="1800" dirty="0" err="1">
                <a:latin typeface="Comic Sans MS" panose="030F0702030302020204" pitchFamily="66" charset="0"/>
                <a:ea typeface="+mn-ea"/>
                <a:cs typeface="+mn-cs"/>
              </a:rPr>
              <a:t>printf</a:t>
            </a: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(“I am positive\n”);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altLang="en-US" sz="1800" dirty="0">
                <a:latin typeface="Comic Sans MS" panose="030F0702030302020204" pitchFamily="66" charset="0"/>
                <a:ea typeface="+mn-ea"/>
                <a:cs typeface="+mn-cs"/>
              </a:rPr>
              <a:t>     }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dirty="0">
                <a:ea typeface="+mn-ea"/>
                <a:cs typeface="+mn-cs"/>
              </a:rPr>
              <a:t>Causes unconditional jump to a labeled statement.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altLang="en-US" sz="2800" dirty="0"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56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goto</a:t>
            </a:r>
            <a:r>
              <a:rPr lang="en-IN" dirty="0"/>
              <a:t> </a:t>
            </a:r>
            <a:r>
              <a:rPr lang="en-IN" dirty="0" err="1"/>
              <a:t>stmt</a:t>
            </a:r>
            <a:r>
              <a:rPr lang="en-IN" dirty="0"/>
              <a:t> should not be used?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29490" y="1052945"/>
            <a:ext cx="7786255" cy="204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ea typeface="+mn-ea"/>
                <a:cs typeface="+mn-cs"/>
              </a:rPr>
              <a:t>Makes code difficult to read and understand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800" dirty="0"/>
              <a:t>Code tends to be unstructured and lacks clear flow control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IN" sz="1800" dirty="0"/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ea typeface="+mn-ea"/>
                <a:cs typeface="+mn-cs"/>
              </a:rPr>
              <a:t>Use structured alternatives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800" dirty="0"/>
              <a:t>Instead, use structured flow constructs such as loops and conditional statements </a:t>
            </a:r>
          </a:p>
        </p:txBody>
      </p:sp>
    </p:spTree>
    <p:extLst>
      <p:ext uri="{BB962C8B-B14F-4D97-AF65-F5344CB8AC3E}">
        <p14:creationId xmlns:p14="http://schemas.microsoft.com/office/powerpoint/2010/main" val="383469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73431"/>
            <a:ext cx="8520600" cy="555300"/>
          </a:xfrm>
        </p:spPr>
        <p:txBody>
          <a:bodyPr/>
          <a:lstStyle/>
          <a:p>
            <a:r>
              <a:rPr lang="en-IN" dirty="0"/>
              <a:t>Flow control – using switch  case  (example)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Write a program that takes as input a </a:t>
            </a:r>
            <a:r>
              <a:rPr lang="en-IN" sz="20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day</a:t>
            </a:r>
            <a:r>
              <a:rPr lang="en-IN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value from the user and prints Sunday if day=0, Monday if day=1 and so on.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For any other input, it should print “invalid input”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320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237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selection with 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498763" y="963389"/>
            <a:ext cx="2715491" cy="40934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0 )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(“Sunday”)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1 )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(“Monday”)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2)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(“Tuesday”)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3)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(“Wednesday”)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6392" y="771102"/>
            <a:ext cx="2978727" cy="4247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(continued)</a:t>
            </a:r>
            <a:endParaRPr lang="en-US" altLang="en-US" sz="18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(day == 4)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(“Thursday”)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(day == 5)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(“Friday”)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(day == 6)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(“Saturday”)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((day &lt; 0) || (day &gt; 6))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(“Error - invalid day.\n”)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030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selection with if -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623454" y="1443697"/>
            <a:ext cx="2715491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altLang="en-US" sz="1800" dirty="0"/>
              <a:t>if (day == 0 ) {</a:t>
            </a:r>
          </a:p>
          <a:p>
            <a:pPr>
              <a:buFontTx/>
              <a:buNone/>
            </a:pPr>
            <a:r>
              <a:rPr lang="en-US" altLang="en-US" sz="1800" dirty="0"/>
              <a:t>    </a:t>
            </a:r>
            <a:r>
              <a:rPr lang="en-US" altLang="en-US" sz="1800" dirty="0" err="1"/>
              <a:t>printf</a:t>
            </a:r>
            <a:r>
              <a:rPr lang="en-US" altLang="en-US" sz="1800" dirty="0"/>
              <a:t> (“Sunday”) ;</a:t>
            </a:r>
          </a:p>
          <a:p>
            <a:pPr>
              <a:buFontTx/>
              <a:buNone/>
            </a:pPr>
            <a:r>
              <a:rPr lang="en-US" altLang="en-US" sz="1800" dirty="0"/>
              <a:t>} else if (day == 1 ) {</a:t>
            </a:r>
          </a:p>
          <a:p>
            <a:pPr>
              <a:buFontTx/>
              <a:buNone/>
            </a:pPr>
            <a:r>
              <a:rPr lang="en-US" altLang="en-US" sz="1800" dirty="0"/>
              <a:t>    </a:t>
            </a:r>
            <a:r>
              <a:rPr lang="en-US" altLang="en-US" sz="1800" dirty="0" err="1"/>
              <a:t>printf</a:t>
            </a:r>
            <a:r>
              <a:rPr lang="en-US" altLang="en-US" sz="1800" dirty="0"/>
              <a:t> (“Monday”) ;</a:t>
            </a:r>
          </a:p>
          <a:p>
            <a:pPr>
              <a:buFontTx/>
              <a:buNone/>
            </a:pPr>
            <a:r>
              <a:rPr lang="en-US" altLang="en-US" sz="1800" dirty="0"/>
              <a:t>} else if (day == 2) {</a:t>
            </a:r>
          </a:p>
          <a:p>
            <a:pPr>
              <a:buFontTx/>
              <a:buNone/>
            </a:pPr>
            <a:r>
              <a:rPr lang="en-US" altLang="en-US" sz="1800" dirty="0"/>
              <a:t>    </a:t>
            </a:r>
            <a:r>
              <a:rPr lang="en-US" altLang="en-US" sz="1800" dirty="0" err="1"/>
              <a:t>printf</a:t>
            </a:r>
            <a:r>
              <a:rPr lang="en-US" altLang="en-US" sz="1800" dirty="0"/>
              <a:t> (“Tuesday”) ;</a:t>
            </a:r>
          </a:p>
          <a:p>
            <a:pPr>
              <a:buFontTx/>
              <a:buNone/>
            </a:pPr>
            <a:r>
              <a:rPr lang="en-US" altLang="en-US" sz="1800" dirty="0"/>
              <a:t>} else if (day == 3) {</a:t>
            </a:r>
          </a:p>
          <a:p>
            <a:pPr>
              <a:buFontTx/>
              <a:buNone/>
            </a:pPr>
            <a:r>
              <a:rPr lang="en-US" altLang="en-US" sz="1800" dirty="0"/>
              <a:t>    </a:t>
            </a:r>
            <a:r>
              <a:rPr lang="en-US" altLang="en-US" sz="1800" dirty="0" err="1"/>
              <a:t>printf</a:t>
            </a:r>
            <a:r>
              <a:rPr lang="en-US" altLang="en-US" sz="1800" dirty="0"/>
              <a:t> (“Wednesday”)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7491" y="1259031"/>
            <a:ext cx="2978727" cy="28007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(continued)</a:t>
            </a:r>
            <a:endParaRPr lang="en-US" altLang="en-US" sz="16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en-US" sz="1600" dirty="0" smtClean="0"/>
              <a:t>} </a:t>
            </a:r>
            <a:r>
              <a:rPr lang="en-US" altLang="en-US" sz="1600" dirty="0"/>
              <a:t>else if (day == 4) {</a:t>
            </a:r>
          </a:p>
          <a:p>
            <a:pPr>
              <a:buFontTx/>
              <a:buNone/>
            </a:pPr>
            <a:r>
              <a:rPr lang="en-US" altLang="en-US" sz="1600" dirty="0"/>
              <a:t>  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(“Thursday”) ;</a:t>
            </a:r>
          </a:p>
          <a:p>
            <a:pPr>
              <a:buFontTx/>
              <a:buNone/>
            </a:pPr>
            <a:r>
              <a:rPr lang="en-US" altLang="en-US" sz="1600" dirty="0"/>
              <a:t>} else if (day == 5) {</a:t>
            </a:r>
          </a:p>
          <a:p>
            <a:pPr>
              <a:buFontTx/>
              <a:buNone/>
            </a:pPr>
            <a:r>
              <a:rPr lang="en-US" altLang="en-US" sz="1600" dirty="0"/>
              <a:t>  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(“Friday”) ;</a:t>
            </a:r>
          </a:p>
          <a:p>
            <a:pPr>
              <a:buFontTx/>
              <a:buNone/>
            </a:pPr>
            <a:r>
              <a:rPr lang="en-US" altLang="en-US" sz="1600" dirty="0"/>
              <a:t>} else if (day = 6) {</a:t>
            </a:r>
          </a:p>
          <a:p>
            <a:pPr>
              <a:buFontTx/>
              <a:buNone/>
            </a:pPr>
            <a:r>
              <a:rPr lang="en-US" altLang="en-US" sz="1600" dirty="0"/>
              <a:t>  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(“Saturday”) ;</a:t>
            </a:r>
          </a:p>
          <a:p>
            <a:pPr>
              <a:buFontTx/>
              <a:buNone/>
            </a:pPr>
            <a:r>
              <a:rPr lang="en-US" altLang="en-US" sz="1600" dirty="0"/>
              <a:t>} else {</a:t>
            </a:r>
          </a:p>
          <a:p>
            <a:pPr>
              <a:buFontTx/>
              <a:buNone/>
            </a:pPr>
            <a:r>
              <a:rPr lang="en-US" altLang="en-US" sz="1600" dirty="0"/>
              <a:t>  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(“Error - invalid day.\n”) ;</a:t>
            </a:r>
          </a:p>
          <a:p>
            <a:pPr>
              <a:buFontTx/>
              <a:buNone/>
            </a:pPr>
            <a:r>
              <a:rPr lang="en-US" altLang="en-US" sz="1600" dirty="0"/>
              <a:t>}</a:t>
            </a:r>
            <a:endParaRPr lang="en-US" altLang="en-US" sz="16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763" y="809500"/>
            <a:ext cx="695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400" dirty="0">
                <a:ea typeface="+mn-ea"/>
                <a:cs typeface="+mn-cs"/>
              </a:rPr>
              <a:t>Which structure is more efficient </a:t>
            </a:r>
            <a:r>
              <a:rPr lang="en-IN" sz="2400" b="1" dirty="0">
                <a:ea typeface="+mn-ea"/>
                <a:cs typeface="+mn-cs"/>
              </a:rPr>
              <a:t>if</a:t>
            </a:r>
            <a:r>
              <a:rPr lang="en-IN" sz="2400" dirty="0">
                <a:ea typeface="+mn-ea"/>
                <a:cs typeface="+mn-cs"/>
              </a:rPr>
              <a:t> or </a:t>
            </a:r>
            <a:r>
              <a:rPr lang="en-IN" sz="2400" b="1" dirty="0">
                <a:ea typeface="+mn-ea"/>
                <a:cs typeface="+mn-cs"/>
              </a:rPr>
              <a:t>if-else</a:t>
            </a:r>
            <a:r>
              <a:rPr lang="en-IN" sz="2400" dirty="0"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1556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selection with switch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623454" y="1443697"/>
            <a:ext cx="2715491" cy="24622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switch ( day 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(“Sunday\n”)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(“Monday\n”)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(“Tuesday\n”)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3: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(“Wednesday\n”)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7491" y="1259031"/>
            <a:ext cx="2978727" cy="28007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altLang="en-US" sz="1600" dirty="0"/>
              <a:t>(continued)</a:t>
            </a:r>
          </a:p>
          <a:p>
            <a:pPr>
              <a:buFontTx/>
              <a:buNone/>
            </a:pPr>
            <a:r>
              <a:rPr lang="en-US" altLang="en-US" sz="1600" dirty="0"/>
              <a:t>case 4: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(“Thursday\n”)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case 5: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(“Friday\n”)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case 6: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(“Saturday\n”)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default: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(“Error -- invalid day.\n”)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}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8763" y="809500"/>
            <a:ext cx="7703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400" dirty="0">
                <a:ea typeface="+mn-ea"/>
                <a:cs typeface="+mn-cs"/>
              </a:rPr>
              <a:t>Which structure is more efficient </a:t>
            </a:r>
            <a:r>
              <a:rPr lang="en-IN" sz="2400" dirty="0"/>
              <a:t>if-else or switch</a:t>
            </a:r>
            <a:r>
              <a:rPr lang="en-IN" sz="2400" dirty="0" smtClean="0">
                <a:ea typeface="+mn-ea"/>
                <a:cs typeface="+mn-cs"/>
              </a:rPr>
              <a:t>?</a:t>
            </a:r>
            <a:endParaRPr lang="en-IN" sz="24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01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Control: </a:t>
            </a:r>
            <a:r>
              <a:rPr lang="en-US" altLang="en-US" u="sng" dirty="0"/>
              <a:t>switch - case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623454" y="1443697"/>
            <a:ext cx="3380510" cy="320087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</a:rPr>
              <a:t>Evaluates </a:t>
            </a:r>
            <a:r>
              <a:rPr lang="en-IN" sz="2000" dirty="0">
                <a:solidFill>
                  <a:srgbClr val="FF0000"/>
                </a:solidFill>
              </a:rPr>
              <a:t>expression</a:t>
            </a:r>
            <a:r>
              <a:rPr lang="en-IN" sz="2000" dirty="0">
                <a:solidFill>
                  <a:srgbClr val="000000"/>
                </a:solidFill>
              </a:rPr>
              <a:t> and attempts to </a:t>
            </a:r>
            <a:r>
              <a:rPr lang="en-IN" sz="2000" u="sng" dirty="0">
                <a:solidFill>
                  <a:srgbClr val="000000"/>
                </a:solidFill>
              </a:rPr>
              <a:t>exactly</a:t>
            </a:r>
            <a:r>
              <a:rPr lang="en-IN" sz="2000" dirty="0">
                <a:solidFill>
                  <a:srgbClr val="000000"/>
                </a:solidFill>
              </a:rPr>
              <a:t> match the result to one of several possible cases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</a:rPr>
              <a:t>Each case contains a value and a list of statements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solidFill>
                  <a:srgbClr val="000000"/>
                </a:solidFill>
              </a:rPr>
              <a:t>Can have an optional </a:t>
            </a:r>
            <a:r>
              <a:rPr lang="en-US" altLang="en-US" sz="2000" i="1" dirty="0">
                <a:solidFill>
                  <a:srgbClr val="000000"/>
                </a:solidFill>
              </a:rPr>
              <a:t>default case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4072" y="1260135"/>
            <a:ext cx="2978727" cy="35394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switch (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expression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case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value1</a:t>
            </a:r>
            <a:r>
              <a:rPr lang="en-US" altLang="en-US" sz="1600" b="1" i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statement-list1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break;</a:t>
            </a: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case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value2</a:t>
            </a:r>
            <a:r>
              <a:rPr lang="en-US" altLang="en-US" sz="1600" b="1" i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statement-list2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break;</a:t>
            </a: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case </a:t>
            </a:r>
            <a:r>
              <a:rPr lang="en-US" altLang="en-US" sz="1600" b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value3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:</a:t>
            </a:r>
            <a:endParaRPr lang="en-US" altLang="en-US" sz="1600" b="1" kern="1200" dirty="0">
              <a:solidFill>
                <a:srgbClr val="FFFF99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</a:t>
            </a:r>
            <a:r>
              <a:rPr lang="en-US" altLang="en-US" sz="1600" b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statement-list3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break;</a:t>
            </a:r>
            <a:endParaRPr lang="en-US" altLang="en-US" sz="1600" b="1" kern="1200" dirty="0">
              <a:solidFill>
                <a:srgbClr val="FF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case</a:t>
            </a:r>
            <a:r>
              <a:rPr lang="en-US" altLang="en-US" sz="1600" b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</a:t>
            </a:r>
            <a:r>
              <a:rPr lang="en-US" altLang="en-US" sz="1600" b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...</a:t>
            </a: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600" dirty="0"/>
              <a:t>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8763" y="809500"/>
            <a:ext cx="7703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400" dirty="0">
                <a:ea typeface="+mn-ea"/>
                <a:cs typeface="+mn-cs"/>
              </a:rPr>
              <a:t>Which structure is more efficient </a:t>
            </a:r>
            <a:r>
              <a:rPr lang="en-IN" sz="2400" dirty="0"/>
              <a:t>if-else or switch</a:t>
            </a:r>
            <a:r>
              <a:rPr lang="en-IN" sz="2400" dirty="0" smtClean="0">
                <a:ea typeface="+mn-ea"/>
                <a:cs typeface="+mn-cs"/>
              </a:rPr>
              <a:t>?</a:t>
            </a:r>
            <a:endParaRPr lang="en-IN" sz="24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7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Conditional Operator (?:)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11" name="TextBox 10"/>
          <p:cNvSpPr txBox="1"/>
          <p:nvPr/>
        </p:nvSpPr>
        <p:spPr>
          <a:xfrm>
            <a:off x="471055" y="1094509"/>
            <a:ext cx="753687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Syntax: bool_expr1 ? expr2 : expr3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Precedence just above assignment ops.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Right to left associated.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		if (y &lt; z )</a:t>
            </a:r>
            <a:endParaRPr lang="en-IN" altLang="en-US" sz="2000" dirty="0">
              <a:latin typeface="Comic Sans MS" panose="030F0702030302020204" pitchFamily="66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   		x = y;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		else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  			x = z;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     </a:t>
            </a:r>
            <a:r>
              <a:rPr lang="en-US" altLang="en-US" sz="2000" dirty="0">
                <a:solidFill>
                  <a:srgbClr val="FF0000"/>
                </a:solidFill>
                <a:ea typeface="+mn-ea"/>
                <a:cs typeface="+mn-cs"/>
              </a:rPr>
              <a:t>x = (y &lt; z) ? y : z</a:t>
            </a:r>
          </a:p>
        </p:txBody>
      </p:sp>
    </p:spTree>
    <p:extLst>
      <p:ext uri="{BB962C8B-B14F-4D97-AF65-F5344CB8AC3E}">
        <p14:creationId xmlns:p14="http://schemas.microsoft.com/office/powerpoint/2010/main" val="342077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Operators (7)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54" y="737742"/>
            <a:ext cx="5912427" cy="41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5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?: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762400"/>
            <a:ext cx="6324600" cy="35717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17127" y="2867891"/>
            <a:ext cx="69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99</a:t>
            </a:r>
            <a:endParaRPr lang="en-IN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761018" y="2867891"/>
            <a:ext cx="72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 smtClean="0"/>
              <a:t>int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264727" y="3293267"/>
            <a:ext cx="997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7.07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539346" y="3293267"/>
            <a:ext cx="1194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double</a:t>
            </a:r>
            <a:endParaRPr lang="en-IN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5417127" y="3730968"/>
            <a:ext cx="69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5.0</a:t>
            </a:r>
            <a:endParaRPr lang="en-I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39345" y="3813732"/>
            <a:ext cx="1194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double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0894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dirty="0"/>
              <a:t>Conditional </a:t>
            </a:r>
            <a:r>
              <a:rPr lang="en-US" altLang="en-US" dirty="0" smtClean="0"/>
              <a:t>Statement</a:t>
            </a:r>
            <a:br>
              <a:rPr lang="en-US" altLang="en-US" dirty="0" smtClean="0"/>
            </a:br>
            <a:r>
              <a:rPr lang="en-IN" altLang="en-US" dirty="0" smtClean="0"/>
              <a:t>IF</a:t>
            </a:r>
            <a:r>
              <a:rPr lang="en-IN" dirty="0" smtClean="0"/>
              <a:t> statement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08893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73431"/>
            <a:ext cx="8520600" cy="555300"/>
          </a:xfrm>
        </p:spPr>
        <p:txBody>
          <a:bodyPr/>
          <a:lstStyle/>
          <a:p>
            <a:r>
              <a:rPr lang="en-US" altLang="en-US" dirty="0"/>
              <a:t>Flow Control - </a:t>
            </a:r>
            <a:r>
              <a:rPr lang="en-US" altLang="en-US" u="sng" dirty="0"/>
              <a:t>if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if (</a:t>
            </a:r>
            <a:r>
              <a:rPr lang="en-US" altLang="en-US" sz="200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boolean_</a:t>
            </a:r>
            <a:r>
              <a:rPr lang="en-US" altLang="en-US" sz="2000" dirty="0" err="1">
                <a:solidFill>
                  <a:srgbClr val="FF0000"/>
                </a:solidFill>
                <a:latin typeface="Arial"/>
                <a:ea typeface="+mn-ea"/>
                <a:cs typeface="+mn-cs"/>
              </a:rPr>
              <a:t>expr</a:t>
            </a:r>
            <a:r>
              <a:rPr lang="en-US" altLang="en-US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000" dirty="0">
                <a:solidFill>
                  <a:srgbClr val="00B050"/>
                </a:solidFill>
                <a:latin typeface="Arial"/>
                <a:ea typeface="+mn-ea"/>
                <a:cs typeface="+mn-cs"/>
              </a:rPr>
              <a:t>     </a:t>
            </a:r>
            <a:r>
              <a:rPr lang="en-US" altLang="en-US" sz="2000" dirty="0" err="1">
                <a:solidFill>
                  <a:srgbClr val="00B050"/>
                </a:solidFill>
                <a:latin typeface="Arial"/>
                <a:ea typeface="+mn-ea"/>
                <a:cs typeface="+mn-cs"/>
              </a:rPr>
              <a:t>stmt</a:t>
            </a:r>
            <a:endParaRPr lang="en-US" altLang="en-US" sz="2000" dirty="0">
              <a:solidFill>
                <a:srgbClr val="00B050"/>
              </a:solidFill>
              <a:latin typeface="Arial"/>
              <a:ea typeface="+mn-ea"/>
              <a:cs typeface="+mn-cs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Arial"/>
              </a:rPr>
              <a:t>The statement </a:t>
            </a:r>
            <a:r>
              <a:rPr lang="en-US" altLang="en-US" sz="1800" dirty="0" err="1">
                <a:solidFill>
                  <a:srgbClr val="00B050"/>
                </a:solidFill>
                <a:latin typeface="Arial"/>
              </a:rPr>
              <a:t>stmt</a:t>
            </a:r>
            <a:r>
              <a:rPr lang="en-US" altLang="en-US" sz="1800" dirty="0">
                <a:solidFill>
                  <a:srgbClr val="000000"/>
                </a:solidFill>
                <a:latin typeface="Arial"/>
              </a:rPr>
              <a:t> may be one statement or a compound statement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800" dirty="0">
                <a:solidFill>
                  <a:srgbClr val="000000"/>
                </a:solidFill>
                <a:latin typeface="Arial"/>
              </a:rPr>
              <a:t>Usually </a:t>
            </a:r>
            <a:r>
              <a:rPr lang="en-US" altLang="en-US" sz="1800" dirty="0">
                <a:solidFill>
                  <a:srgbClr val="FF0000"/>
                </a:solidFill>
                <a:latin typeface="Arial"/>
              </a:rPr>
              <a:t>expr</a:t>
            </a:r>
            <a:r>
              <a:rPr lang="en-US" altLang="en-US" sz="1800" dirty="0">
                <a:solidFill>
                  <a:srgbClr val="000000"/>
                </a:solidFill>
                <a:latin typeface="Arial"/>
              </a:rPr>
              <a:t> will be a relational, equality or logical expression</a:t>
            </a:r>
            <a:endParaRPr lang="en-IN" altLang="en-US" sz="1800" dirty="0">
              <a:solidFill>
                <a:srgbClr val="000000"/>
              </a:solidFill>
              <a:latin typeface="Arial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320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917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IF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9" name="TextBox 8"/>
          <p:cNvSpPr txBox="1"/>
          <p:nvPr/>
        </p:nvSpPr>
        <p:spPr>
          <a:xfrm>
            <a:off x="495300" y="762400"/>
            <a:ext cx="611505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#include &lt;</a:t>
            </a:r>
            <a:r>
              <a:rPr lang="en-IN" sz="2400" dirty="0" err="1"/>
              <a:t>stdio.h</a:t>
            </a:r>
            <a:r>
              <a:rPr lang="en-IN" sz="2400" dirty="0"/>
              <a:t>&gt;</a:t>
            </a:r>
          </a:p>
          <a:p>
            <a:r>
              <a:rPr lang="en-IN" sz="2400" dirty="0" err="1" smtClean="0"/>
              <a:t>int</a:t>
            </a:r>
            <a:r>
              <a:rPr lang="en-IN" sz="2400" dirty="0" smtClean="0"/>
              <a:t> </a:t>
            </a:r>
            <a:r>
              <a:rPr lang="en-IN" sz="2400" dirty="0"/>
              <a:t>main() {</a:t>
            </a:r>
          </a:p>
          <a:p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age;</a:t>
            </a:r>
          </a:p>
          <a:p>
            <a:r>
              <a:rPr lang="en-IN" sz="2400" dirty="0"/>
              <a:t>    </a:t>
            </a:r>
            <a:r>
              <a:rPr lang="en-IN" sz="2400" dirty="0" err="1"/>
              <a:t>printf</a:t>
            </a:r>
            <a:r>
              <a:rPr lang="en-IN" sz="2400" dirty="0"/>
              <a:t>("Enter your age: ");</a:t>
            </a:r>
          </a:p>
          <a:p>
            <a:r>
              <a:rPr lang="en-IN" sz="2400" dirty="0"/>
              <a:t>    </a:t>
            </a:r>
            <a:r>
              <a:rPr lang="en-IN" sz="2400" dirty="0" err="1"/>
              <a:t>scanf</a:t>
            </a:r>
            <a:r>
              <a:rPr lang="en-IN" sz="2400" dirty="0"/>
              <a:t>("%d", &amp;age);</a:t>
            </a:r>
          </a:p>
          <a:p>
            <a:r>
              <a:rPr lang="en-IN" sz="2400" dirty="0"/>
              <a:t>    if (age &gt;= 18) {</a:t>
            </a:r>
          </a:p>
          <a:p>
            <a:r>
              <a:rPr lang="en-IN" sz="2400" dirty="0"/>
              <a:t>        </a:t>
            </a:r>
            <a:r>
              <a:rPr lang="en-IN" sz="2400" dirty="0" err="1"/>
              <a:t>printf</a:t>
            </a:r>
            <a:r>
              <a:rPr lang="en-IN" sz="2400" dirty="0"/>
              <a:t>("You are eligible to vote.\n");</a:t>
            </a:r>
          </a:p>
          <a:p>
            <a:endParaRPr lang="en-IN" sz="2400" dirty="0"/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return 0;</a:t>
            </a:r>
          </a:p>
          <a:p>
            <a:r>
              <a:rPr lang="en-IN" sz="2400" dirty="0"/>
              <a:t>}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8914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Control – </a:t>
            </a:r>
            <a:r>
              <a:rPr lang="en-US" altLang="en-US" u="sng" dirty="0"/>
              <a:t>if … else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9" name="TextBox 8"/>
          <p:cNvSpPr txBox="1"/>
          <p:nvPr/>
        </p:nvSpPr>
        <p:spPr>
          <a:xfrm>
            <a:off x="495300" y="762400"/>
            <a:ext cx="6115050" cy="376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dirty="0">
                <a:latin typeface="Lucida Console" panose="020B0609040504020204" pitchFamily="49" charset="0"/>
                <a:ea typeface="+mn-ea"/>
                <a:cs typeface="+mn-cs"/>
              </a:rPr>
              <a:t>if (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+mn-cs"/>
              </a:rPr>
              <a:t>expr</a:t>
            </a:r>
            <a:r>
              <a:rPr lang="en-US" altLang="en-US" sz="2400" dirty="0">
                <a:latin typeface="Lucida Console" panose="020B0609040504020204" pitchFamily="49" charset="0"/>
                <a:ea typeface="+mn-ea"/>
                <a:cs typeface="+mn-cs"/>
              </a:rPr>
              <a:t>) 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400" dirty="0">
                <a:latin typeface="Lucida Console" panose="020B0609040504020204" pitchFamily="49" charset="0"/>
                <a:ea typeface="+mn-ea"/>
                <a:cs typeface="+mn-cs"/>
              </a:rPr>
              <a:t>		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+mn-cs"/>
              </a:rPr>
              <a:t>stmt1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400" dirty="0">
                <a:latin typeface="Lucida Console" panose="020B0609040504020204" pitchFamily="49" charset="0"/>
                <a:ea typeface="+mn-ea"/>
                <a:cs typeface="+mn-cs"/>
              </a:rPr>
              <a:t>  else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400" dirty="0">
                <a:latin typeface="Lucida Console" panose="020B0609040504020204" pitchFamily="49" charset="0"/>
                <a:ea typeface="+mn-ea"/>
                <a:cs typeface="+mn-cs"/>
              </a:rPr>
              <a:t>		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ea typeface="+mn-ea"/>
                <a:cs typeface="+mn-cs"/>
              </a:rPr>
              <a:t>stmt2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dirty="0">
                <a:ea typeface="+mn-ea"/>
                <a:cs typeface="+mn-cs"/>
              </a:rPr>
              <a:t>If expr is nonzero than stmt1 is executed and stmt2 is skipped else stmt2 is executed and stmt1 is skipped</a:t>
            </a:r>
          </a:p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dirty="0">
                <a:ea typeface="+mn-ea"/>
                <a:cs typeface="+mn-cs"/>
              </a:rPr>
              <a:t>Let the flowchart for the if – else statement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1696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Flowchart: IF -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24" y="762400"/>
            <a:ext cx="3419952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1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dirty="0"/>
              <a:t>Conditional </a:t>
            </a:r>
            <a:r>
              <a:rPr lang="en-US" altLang="en-US" dirty="0" smtClean="0"/>
              <a:t>Statement</a:t>
            </a:r>
            <a:br>
              <a:rPr lang="en-US" altLang="en-US" dirty="0" smtClean="0"/>
            </a:br>
            <a:r>
              <a:rPr lang="en-IN" altLang="en-US" dirty="0" smtClean="0"/>
              <a:t>Switch</a:t>
            </a:r>
            <a:r>
              <a:rPr lang="en-IN" dirty="0" smtClean="0"/>
              <a:t> statement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1588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73431"/>
            <a:ext cx="8520600" cy="555300"/>
          </a:xfrm>
        </p:spPr>
        <p:txBody>
          <a:bodyPr/>
          <a:lstStyle/>
          <a:p>
            <a:r>
              <a:rPr lang="en-IN" dirty="0"/>
              <a:t>Flow control – using switch  case  (example)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Write a program that takes as input a </a:t>
            </a:r>
            <a:r>
              <a:rPr lang="en-IN" sz="20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day</a:t>
            </a:r>
            <a:r>
              <a:rPr lang="en-IN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value from the user and prints Sunday if day=0, Monday if day=1 and so on.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For any other input, it should print “invalid input”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320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697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selection with 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498763" y="963389"/>
            <a:ext cx="2715491" cy="40934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0 )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(“Sunday”)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1 )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(“Monday”)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2)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(“Tuesday”)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(day == 3)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printf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(“Wednesday”)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3636" y="809500"/>
            <a:ext cx="2978727" cy="4247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(continued)</a:t>
            </a:r>
            <a:endParaRPr lang="en-US" altLang="en-US" sz="18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(day == 4)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(“Thursday”)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(day == 5)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(“Friday”)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(day == 6)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(“Saturday”)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if ((day &lt; 0) || (day &gt; 6))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1800" kern="12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(“Error - invalid day.\n”)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132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selection with if -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630382" y="1399053"/>
            <a:ext cx="2874818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altLang="en-US" sz="2000" dirty="0"/>
              <a:t>if (day == 0 )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(“Sunday”) ;</a:t>
            </a:r>
          </a:p>
          <a:p>
            <a:pPr>
              <a:buFontTx/>
              <a:buNone/>
            </a:pPr>
            <a:r>
              <a:rPr lang="en-US" altLang="en-US" sz="2000" dirty="0"/>
              <a:t>} else if (day == 1 )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(“Monday”) ;</a:t>
            </a:r>
          </a:p>
          <a:p>
            <a:pPr>
              <a:buFontTx/>
              <a:buNone/>
            </a:pPr>
            <a:r>
              <a:rPr lang="en-US" altLang="en-US" sz="2000" dirty="0"/>
              <a:t>} else if (day == 2)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(“Tuesday”) ;</a:t>
            </a:r>
          </a:p>
          <a:p>
            <a:pPr>
              <a:buFontTx/>
              <a:buNone/>
            </a:pPr>
            <a:r>
              <a:rPr lang="en-US" altLang="en-US" sz="2000" dirty="0"/>
              <a:t>} else if (day == 3)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(“Wednesday”)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0647" y="1268660"/>
            <a:ext cx="2978727" cy="34778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altLang="en-US" sz="2000" dirty="0"/>
              <a:t> (continued)</a:t>
            </a:r>
          </a:p>
          <a:p>
            <a:pPr>
              <a:buFontTx/>
              <a:buNone/>
            </a:pPr>
            <a:r>
              <a:rPr lang="en-US" altLang="en-US" sz="2000" dirty="0"/>
              <a:t>} else if (day == 4)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(“Thursday”) ;</a:t>
            </a:r>
          </a:p>
          <a:p>
            <a:pPr>
              <a:buFontTx/>
              <a:buNone/>
            </a:pPr>
            <a:r>
              <a:rPr lang="en-US" altLang="en-US" sz="2000" dirty="0"/>
              <a:t>} else if (day == 5)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(“Friday”) ;</a:t>
            </a:r>
          </a:p>
          <a:p>
            <a:pPr>
              <a:buFontTx/>
              <a:buNone/>
            </a:pPr>
            <a:r>
              <a:rPr lang="en-US" altLang="en-US" sz="2000" dirty="0"/>
              <a:t>} else if (day = 6)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(“Saturday”) ;</a:t>
            </a:r>
          </a:p>
          <a:p>
            <a:pPr>
              <a:buFontTx/>
              <a:buNone/>
            </a:pPr>
            <a:r>
              <a:rPr lang="en-US" altLang="en-US" sz="2000" dirty="0"/>
              <a:t>} else {</a:t>
            </a:r>
          </a:p>
          <a:p>
            <a:pPr>
              <a:buFontTx/>
              <a:buNone/>
            </a:pPr>
            <a:r>
              <a:rPr lang="en-US" altLang="en-US" sz="2000" dirty="0"/>
              <a:t>   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 (“Error - invalid day.\n”) ;</a:t>
            </a:r>
          </a:p>
          <a:p>
            <a:pPr>
              <a:buFontTx/>
              <a:buNone/>
            </a:pPr>
            <a:r>
              <a:rPr lang="en-US" altLang="en-US" sz="2000"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8763" y="809500"/>
            <a:ext cx="695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400" dirty="0">
                <a:ea typeface="+mn-ea"/>
                <a:cs typeface="+mn-cs"/>
              </a:rPr>
              <a:t>Which structure is more efficient </a:t>
            </a:r>
            <a:r>
              <a:rPr lang="en-IN" sz="2400" b="1" dirty="0">
                <a:ea typeface="+mn-ea"/>
                <a:cs typeface="+mn-cs"/>
              </a:rPr>
              <a:t>if</a:t>
            </a:r>
            <a:r>
              <a:rPr lang="en-IN" sz="2400" dirty="0">
                <a:ea typeface="+mn-ea"/>
                <a:cs typeface="+mn-cs"/>
              </a:rPr>
              <a:t> or </a:t>
            </a:r>
            <a:r>
              <a:rPr lang="en-IN" sz="2400" b="1" dirty="0">
                <a:ea typeface="+mn-ea"/>
                <a:cs typeface="+mn-cs"/>
              </a:rPr>
              <a:t>if-else</a:t>
            </a:r>
            <a:r>
              <a:rPr lang="en-IN" sz="2400" dirty="0"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3277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selection with switch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623454" y="1443697"/>
            <a:ext cx="2715491" cy="24622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switch ( day 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(“Sunday\n”)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(“Monday\n”)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2: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(“Tuesday\n”)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3: 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(“Wednesday\n”) 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break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7491" y="1259031"/>
            <a:ext cx="2978727" cy="28007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altLang="en-US" sz="1600" dirty="0"/>
              <a:t>(continued)</a:t>
            </a:r>
          </a:p>
          <a:p>
            <a:pPr>
              <a:buFontTx/>
              <a:buNone/>
            </a:pPr>
            <a:r>
              <a:rPr lang="en-US" altLang="en-US" sz="1600" dirty="0"/>
              <a:t>case 4: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(“Thursday\n”)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case 5: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(“Friday\n”)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case 6: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(“Saturday\n”)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default:  </a:t>
            </a:r>
            <a:r>
              <a:rPr lang="en-US" altLang="en-US" sz="1600" dirty="0" err="1"/>
              <a:t>printf</a:t>
            </a:r>
            <a:r>
              <a:rPr lang="en-US" altLang="en-US" sz="1600" dirty="0"/>
              <a:t> (“Error -- invalid day.\n”) ;</a:t>
            </a:r>
          </a:p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sz="1600" dirty="0" smtClean="0"/>
              <a:t>break </a:t>
            </a:r>
            <a:r>
              <a:rPr lang="en-US" altLang="en-US" sz="1600" dirty="0"/>
              <a:t>;</a:t>
            </a:r>
          </a:p>
          <a:p>
            <a:pPr>
              <a:buFontTx/>
              <a:buNone/>
            </a:pPr>
            <a:r>
              <a:rPr lang="en-US" altLang="en-US" sz="1600" dirty="0"/>
              <a:t>}	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8763" y="809500"/>
            <a:ext cx="7703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400" dirty="0">
                <a:ea typeface="+mn-ea"/>
                <a:cs typeface="+mn-cs"/>
              </a:rPr>
              <a:t>Which structure is more efficient </a:t>
            </a:r>
            <a:r>
              <a:rPr lang="en-IN" sz="2400" dirty="0"/>
              <a:t>if-else or switch</a:t>
            </a:r>
            <a:r>
              <a:rPr lang="en-IN" sz="2400" dirty="0" smtClean="0">
                <a:ea typeface="+mn-ea"/>
                <a:cs typeface="+mn-cs"/>
              </a:rPr>
              <a:t>?</a:t>
            </a:r>
            <a:endParaRPr lang="en-IN" sz="24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7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Control: </a:t>
            </a:r>
            <a:r>
              <a:rPr lang="en-US" altLang="en-US" u="sng" dirty="0"/>
              <a:t>switch - case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  <p:sp>
        <p:nvSpPr>
          <p:cNvPr id="7" name="TextBox 6"/>
          <p:cNvSpPr txBox="1"/>
          <p:nvPr/>
        </p:nvSpPr>
        <p:spPr>
          <a:xfrm>
            <a:off x="623454" y="1443697"/>
            <a:ext cx="3380510" cy="320087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</a:rPr>
              <a:t>Evaluates </a:t>
            </a:r>
            <a:r>
              <a:rPr lang="en-IN" sz="2000" dirty="0">
                <a:solidFill>
                  <a:srgbClr val="FF0000"/>
                </a:solidFill>
              </a:rPr>
              <a:t>expression</a:t>
            </a:r>
            <a:r>
              <a:rPr lang="en-IN" sz="2000" dirty="0">
                <a:solidFill>
                  <a:srgbClr val="000000"/>
                </a:solidFill>
              </a:rPr>
              <a:t> and attempts to </a:t>
            </a:r>
            <a:r>
              <a:rPr lang="en-IN" sz="2000" u="sng" dirty="0">
                <a:solidFill>
                  <a:srgbClr val="000000"/>
                </a:solidFill>
              </a:rPr>
              <a:t>exactly</a:t>
            </a:r>
            <a:r>
              <a:rPr lang="en-IN" sz="2000" dirty="0">
                <a:solidFill>
                  <a:srgbClr val="000000"/>
                </a:solidFill>
              </a:rPr>
              <a:t> match the result to one of several possible cases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000" dirty="0">
                <a:solidFill>
                  <a:srgbClr val="000000"/>
                </a:solidFill>
              </a:rPr>
              <a:t>Each case contains a value and a list of statements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solidFill>
                  <a:srgbClr val="000000"/>
                </a:solidFill>
              </a:rPr>
              <a:t>Can have an optional </a:t>
            </a:r>
            <a:r>
              <a:rPr lang="en-US" altLang="en-US" sz="2000" i="1" dirty="0">
                <a:solidFill>
                  <a:srgbClr val="000000"/>
                </a:solidFill>
              </a:rPr>
              <a:t>default case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4072" y="1260135"/>
            <a:ext cx="2978727" cy="35394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switch (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expression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case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value1</a:t>
            </a:r>
            <a:r>
              <a:rPr lang="en-US" altLang="en-US" sz="1600" b="1" i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statement-list1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break;</a:t>
            </a: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case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value2</a:t>
            </a:r>
            <a:r>
              <a:rPr lang="en-US" altLang="en-US" sz="1600" b="1" i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</a:t>
            </a: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statement-list2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break;</a:t>
            </a: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case </a:t>
            </a:r>
            <a:r>
              <a:rPr lang="en-US" altLang="en-US" sz="1600" b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value3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:</a:t>
            </a:r>
            <a:endParaRPr lang="en-US" altLang="en-US" sz="1600" b="1" kern="1200" dirty="0">
              <a:solidFill>
                <a:srgbClr val="FFFF99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  </a:t>
            </a:r>
            <a:r>
              <a:rPr lang="en-US" altLang="en-US" sz="1600" b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statement-list3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i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break;</a:t>
            </a:r>
            <a:endParaRPr lang="en-US" altLang="en-US" sz="1600" b="1" kern="1200" dirty="0">
              <a:solidFill>
                <a:srgbClr val="FF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</a:t>
            </a: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case</a:t>
            </a:r>
            <a:r>
              <a:rPr lang="en-US" altLang="en-US" sz="1600" b="1" kern="1200" dirty="0">
                <a:solidFill>
                  <a:srgbClr val="FFFF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</a:t>
            </a:r>
            <a:r>
              <a:rPr lang="en-US" altLang="en-US" sz="1600" b="1" kern="12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...</a:t>
            </a: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b="1" kern="1200" dirty="0">
              <a:solidFill>
                <a:srgbClr val="0000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kern="1200" dirty="0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600" dirty="0"/>
              <a:t>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8763" y="809500"/>
            <a:ext cx="7703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2400" dirty="0">
                <a:ea typeface="+mn-ea"/>
                <a:cs typeface="+mn-cs"/>
              </a:rPr>
              <a:t>Which structure is more efficient </a:t>
            </a:r>
            <a:r>
              <a:rPr lang="en-IN" sz="2400" dirty="0"/>
              <a:t>if-else or switch</a:t>
            </a:r>
            <a:r>
              <a:rPr lang="en-IN" sz="2400" dirty="0" smtClean="0">
                <a:ea typeface="+mn-ea"/>
                <a:cs typeface="+mn-cs"/>
              </a:rPr>
              <a:t>?</a:t>
            </a:r>
            <a:endParaRPr lang="en-IN" sz="24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07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dirty="0"/>
              <a:t>Conditional statement</a:t>
            </a:r>
            <a:br>
              <a:rPr lang="en-US" altLang="en-US" dirty="0"/>
            </a:br>
            <a:r>
              <a:rPr lang="en-IN" dirty="0"/>
              <a:t>conditional operator</a:t>
            </a:r>
            <a:br>
              <a:rPr lang="en-IN" dirty="0"/>
            </a:b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2809753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Conditional Operator (?:)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sp>
        <p:nvSpPr>
          <p:cNvPr id="11" name="TextBox 10"/>
          <p:cNvSpPr txBox="1"/>
          <p:nvPr/>
        </p:nvSpPr>
        <p:spPr>
          <a:xfrm>
            <a:off x="471055" y="1094509"/>
            <a:ext cx="753687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Syntax: bool_expr1 ? expr2 : expr3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Precedence just above assignment ops.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ea typeface="+mn-ea"/>
                <a:cs typeface="+mn-cs"/>
              </a:rPr>
              <a:t>Right to left associated.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		if (y &lt; z )</a:t>
            </a:r>
            <a:endParaRPr lang="en-IN" altLang="en-US" sz="2000" dirty="0">
              <a:latin typeface="Comic Sans MS" panose="030F0702030302020204" pitchFamily="66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   		x = y;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		else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  			x = z;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000" dirty="0">
                <a:latin typeface="Comic Sans MS" panose="030F0702030302020204" pitchFamily="66" charset="0"/>
                <a:ea typeface="+mn-ea"/>
                <a:cs typeface="+mn-cs"/>
              </a:rPr>
              <a:t>     </a:t>
            </a:r>
            <a:r>
              <a:rPr lang="en-US" altLang="en-US" sz="2000" dirty="0">
                <a:solidFill>
                  <a:srgbClr val="FF0000"/>
                </a:solidFill>
                <a:ea typeface="+mn-ea"/>
                <a:cs typeface="+mn-cs"/>
              </a:rPr>
              <a:t>x = (y &lt; z) ? y : z</a:t>
            </a:r>
          </a:p>
        </p:txBody>
      </p:sp>
    </p:spTree>
    <p:extLst>
      <p:ext uri="{BB962C8B-B14F-4D97-AF65-F5344CB8AC3E}">
        <p14:creationId xmlns:p14="http://schemas.microsoft.com/office/powerpoint/2010/main" val="203566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Operators (7)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54" y="737742"/>
            <a:ext cx="5912427" cy="41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9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?: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762400"/>
            <a:ext cx="6324600" cy="357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8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1369</Words>
  <Application>Microsoft Office PowerPoint</Application>
  <PresentationFormat>On-screen Show (16:9)</PresentationFormat>
  <Paragraphs>370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Lucida Console</vt:lpstr>
      <vt:lpstr>Wingdings</vt:lpstr>
      <vt:lpstr>ＭＳ Ｐゴシック</vt:lpstr>
      <vt:lpstr>Comic Sans MS</vt:lpstr>
      <vt:lpstr>Helvetica Neue</vt:lpstr>
      <vt:lpstr>Courier New</vt:lpstr>
      <vt:lpstr>Arial</vt:lpstr>
      <vt:lpstr>Simple Light</vt:lpstr>
      <vt:lpstr>Bachelor of Science (Honours) in Data Science and Artificial Intelligence</vt:lpstr>
      <vt:lpstr>Control Statements</vt:lpstr>
      <vt:lpstr>Looping statements while  and do-while </vt:lpstr>
      <vt:lpstr>Flow Control – while   and         do-while</vt:lpstr>
      <vt:lpstr>Ex: Print numbers(revisited)</vt:lpstr>
      <vt:lpstr>Example: do-while</vt:lpstr>
      <vt:lpstr>Looping statements For loop</vt:lpstr>
      <vt:lpstr>Flow Control – for (example)</vt:lpstr>
      <vt:lpstr>Flow Control – for</vt:lpstr>
      <vt:lpstr>Which loops?</vt:lpstr>
      <vt:lpstr>Jump statements break and continue statement</vt:lpstr>
      <vt:lpstr>break Statement</vt:lpstr>
      <vt:lpstr>continue Statement</vt:lpstr>
      <vt:lpstr>continue Statement</vt:lpstr>
      <vt:lpstr>Jump statements goto statement</vt:lpstr>
      <vt:lpstr>Ex:  using goto</vt:lpstr>
      <vt:lpstr>Why goto stmt should not be used?</vt:lpstr>
      <vt:lpstr>Flow control – using switch  case  (example)</vt:lpstr>
      <vt:lpstr>Multiple selection with if</vt:lpstr>
      <vt:lpstr>Multiple selection with if - else</vt:lpstr>
      <vt:lpstr>Multiple selection with switch</vt:lpstr>
      <vt:lpstr>Flow Control: switch - case</vt:lpstr>
      <vt:lpstr>Conditional Operator (?:)</vt:lpstr>
      <vt:lpstr>Operators (7)</vt:lpstr>
      <vt:lpstr>Example ?:</vt:lpstr>
      <vt:lpstr>Conditional Statement IF statement</vt:lpstr>
      <vt:lpstr>Flow Control - if</vt:lpstr>
      <vt:lpstr>Example: IF statement</vt:lpstr>
      <vt:lpstr>Flow Control – if … else</vt:lpstr>
      <vt:lpstr>Flowchart: IF - ELSE</vt:lpstr>
      <vt:lpstr>Conditional Statement Switch statement</vt:lpstr>
      <vt:lpstr>Flow control – using switch  case  (example)</vt:lpstr>
      <vt:lpstr>Multiple selection with if</vt:lpstr>
      <vt:lpstr>Multiple selection with if - else</vt:lpstr>
      <vt:lpstr>Multiple selection with switch</vt:lpstr>
      <vt:lpstr>Flow Control: switch - case</vt:lpstr>
      <vt:lpstr>Conditional statement conditional operator </vt:lpstr>
      <vt:lpstr>Conditional Operator (?:)</vt:lpstr>
      <vt:lpstr>Operators (7)</vt:lpstr>
      <vt:lpstr>Example ?: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Ashok Singh</dc:creator>
  <cp:lastModifiedBy>Ashok Singh Sairam</cp:lastModifiedBy>
  <cp:revision>18</cp:revision>
  <dcterms:modified xsi:type="dcterms:W3CDTF">2024-09-20T04:06:05Z</dcterms:modified>
</cp:coreProperties>
</file>