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77"/>
  </p:notesMasterIdLst>
  <p:sldIdLst>
    <p:sldId id="256" r:id="rId2"/>
    <p:sldId id="257" r:id="rId3"/>
    <p:sldId id="258" r:id="rId4"/>
    <p:sldId id="265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266" r:id="rId13"/>
    <p:sldId id="305" r:id="rId14"/>
    <p:sldId id="306" r:id="rId15"/>
    <p:sldId id="367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20" r:id="rId29"/>
    <p:sldId id="321" r:id="rId30"/>
    <p:sldId id="322" r:id="rId31"/>
    <p:sldId id="328" r:id="rId32"/>
    <p:sldId id="329" r:id="rId33"/>
    <p:sldId id="330" r:id="rId34"/>
    <p:sldId id="331" r:id="rId35"/>
    <p:sldId id="332" r:id="rId36"/>
    <p:sldId id="333" r:id="rId37"/>
    <p:sldId id="334" r:id="rId38"/>
    <p:sldId id="368" r:id="rId39"/>
    <p:sldId id="323" r:id="rId40"/>
    <p:sldId id="335" r:id="rId41"/>
    <p:sldId id="336" r:id="rId42"/>
    <p:sldId id="337" r:id="rId43"/>
    <p:sldId id="338" r:id="rId44"/>
    <p:sldId id="339" r:id="rId45"/>
    <p:sldId id="369" r:id="rId46"/>
    <p:sldId id="340" r:id="rId47"/>
    <p:sldId id="341" r:id="rId48"/>
    <p:sldId id="343" r:id="rId49"/>
    <p:sldId id="344" r:id="rId50"/>
    <p:sldId id="345" r:id="rId51"/>
    <p:sldId id="325" r:id="rId52"/>
    <p:sldId id="346" r:id="rId53"/>
    <p:sldId id="347" r:id="rId54"/>
    <p:sldId id="348" r:id="rId55"/>
    <p:sldId id="370" r:id="rId56"/>
    <p:sldId id="350" r:id="rId57"/>
    <p:sldId id="373" r:id="rId58"/>
    <p:sldId id="372" r:id="rId59"/>
    <p:sldId id="326" r:id="rId60"/>
    <p:sldId id="351" r:id="rId61"/>
    <p:sldId id="352" r:id="rId62"/>
    <p:sldId id="353" r:id="rId63"/>
    <p:sldId id="355" r:id="rId64"/>
    <p:sldId id="374" r:id="rId65"/>
    <p:sldId id="357" r:id="rId66"/>
    <p:sldId id="375" r:id="rId67"/>
    <p:sldId id="376" r:id="rId68"/>
    <p:sldId id="327" r:id="rId69"/>
    <p:sldId id="358" r:id="rId70"/>
    <p:sldId id="359" r:id="rId71"/>
    <p:sldId id="361" r:id="rId72"/>
    <p:sldId id="362" r:id="rId73"/>
    <p:sldId id="363" r:id="rId74"/>
    <p:sldId id="364" r:id="rId75"/>
    <p:sldId id="365" r:id="rId76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78"/>
    </p:embeddedFont>
    <p:embeddedFont>
      <p:font typeface="Consolas" panose="020B0609020204030204" pitchFamily="49" charset="0"/>
      <p:regular r:id="rId79"/>
      <p:bold r:id="rId80"/>
      <p:italic r:id="rId81"/>
      <p:boldItalic r:id="rId82"/>
    </p:embeddedFont>
    <p:embeddedFont>
      <p:font typeface="Helvetica" panose="020B0604020202020204" pitchFamily="34" charset="0"/>
      <p:regular r:id="rId83"/>
      <p:bold r:id="rId84"/>
      <p:italic r:id="rId85"/>
      <p:boldItalic r:id="rId86"/>
    </p:embeddedFont>
    <p:embeddedFont>
      <p:font typeface="Helvetica Neue" panose="020B0604020202020204" charset="0"/>
      <p:regular r:id="rId87"/>
      <p:bold r:id="rId88"/>
      <p:italic r:id="rId89"/>
      <p:boldItalic r:id="rId9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8D327A-D4A4-4160-9BAD-CE66B4452F15}">
  <a:tblStyle styleId="{578D327A-D4A4-4160-9BAD-CE66B4452F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15" autoAdjust="0"/>
  </p:normalViewPr>
  <p:slideViewPr>
    <p:cSldViewPr snapToGrid="0">
      <p:cViewPr varScale="1">
        <p:scale>
          <a:sx n="92" d="100"/>
          <a:sy n="92" d="100"/>
        </p:scale>
        <p:origin x="111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7.fntdata"/><Relationship Id="rId89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2.fntdata"/><Relationship Id="rId5" Type="http://schemas.openxmlformats.org/officeDocument/2006/relationships/slide" Target="slides/slide4.xml"/><Relationship Id="rId90" Type="http://schemas.openxmlformats.org/officeDocument/2006/relationships/font" Target="fonts/font13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3.fntdata"/><Relationship Id="rId85" Type="http://schemas.openxmlformats.org/officeDocument/2006/relationships/font" Target="fonts/font8.fntdata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6.fntdata"/><Relationship Id="rId88" Type="http://schemas.openxmlformats.org/officeDocument/2006/relationships/font" Target="fonts/font11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schemas.openxmlformats.org/officeDocument/2006/relationships/font" Target="fonts/font9.fntdata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0.fntdata"/><Relationship Id="rId61" Type="http://schemas.openxmlformats.org/officeDocument/2006/relationships/slide" Target="slides/slide60.xml"/><Relationship Id="rId82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98614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39d9d1c90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39d9d1c90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539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39d9d1c90f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39d9d1c90f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5549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39d9d1c90f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39d9d1c90f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4858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817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756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502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298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292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087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203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1960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857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062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N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2956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N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0373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N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8388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N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3078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N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9156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N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2494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6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055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058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856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4255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989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2885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1657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2730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142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3975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4230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altLang="en-US" sz="1200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3809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048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altLang="en-US" sz="1200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13248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4956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31865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168338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7018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3344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0077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0931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6604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3313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6823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3920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0416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0338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62558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2846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07391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37157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18129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61651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14938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5262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0446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3267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87060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9246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436772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9969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0396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29512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38527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888425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377850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84231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78474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55260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304048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02051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48635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5207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132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7" name="Google Shape;57;p8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8" name="Google Shape;58;p8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699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7" r:id="rId4"/>
    <p:sldLayoutId id="214748366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51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e.surrey.ac.uk/Personal/R.Knott/Fibonacci/fibnat.html" TargetMode="Externa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Bachelor of Science (Honours) in Data Science and Artificial Intelligence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DA 104, C programming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Storage class and recursion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body" idx="4294967295"/>
          </p:nvPr>
        </p:nvSpPr>
        <p:spPr>
          <a:xfrm>
            <a:off x="1041741" y="1984572"/>
            <a:ext cx="6894263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IN" dirty="0"/>
              <a:t>Application of recursion to solve problems by decomposing it into </a:t>
            </a:r>
            <a:r>
              <a:rPr lang="en-IN" dirty="0" err="1"/>
              <a:t>subproblems</a:t>
            </a:r>
            <a:endParaRPr dirty="0">
              <a:solidFill>
                <a:srgbClr val="1D466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body" idx="4294967295"/>
          </p:nvPr>
        </p:nvSpPr>
        <p:spPr>
          <a:xfrm>
            <a:off x="915209" y="1543345"/>
            <a:ext cx="5397972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3350" indent="0">
              <a:buNone/>
            </a:pPr>
            <a:r>
              <a:rPr lang="en-IN" dirty="0"/>
              <a:t>Storage class and scope rules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4294967295"/>
          </p:nvPr>
        </p:nvSpPr>
        <p:spPr>
          <a:xfrm>
            <a:off x="419419" y="1543345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b="1">
              <a:solidFill>
                <a:srgbClr val="1D466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4294967295"/>
          </p:nvPr>
        </p:nvSpPr>
        <p:spPr>
          <a:xfrm>
            <a:off x="419419" y="1984572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b="1">
              <a:solidFill>
                <a:srgbClr val="1D466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Learning Objectives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smtClean="0"/>
              <a:t>Storage class</a:t>
            </a:r>
            <a:br>
              <a:rPr lang="en-IN" dirty="0" smtClean="0"/>
            </a:br>
            <a:r>
              <a:rPr lang="en-IN" sz="1800" dirty="0"/>
              <a:t>Scope and lifetime of variables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31591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Storage Class</a:t>
            </a:r>
            <a:endParaRPr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35752" y="943297"/>
            <a:ext cx="7170392" cy="3360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latin typeface="Helvetica Neue" panose="020B0604020202020204" charset="0"/>
              </a:rPr>
              <a:t>Storage Class defines both</a:t>
            </a:r>
          </a:p>
          <a:p>
            <a:pPr lvl="1">
              <a:lnSpc>
                <a:spcPct val="150000"/>
              </a:lnSpc>
            </a:pPr>
            <a:r>
              <a:rPr lang="en-US" altLang="en-US" sz="1500" b="1" dirty="0">
                <a:latin typeface="Helvetica Neue" panose="020B0604020202020204" charset="0"/>
              </a:rPr>
              <a:t>Scope</a:t>
            </a:r>
            <a:r>
              <a:rPr lang="en-US" altLang="en-US" sz="1500" dirty="0">
                <a:latin typeface="Helvetica Neue" panose="020B0604020202020204" charset="0"/>
              </a:rPr>
              <a:t>: portion where the identifier is </a:t>
            </a:r>
            <a:r>
              <a:rPr lang="en-US" altLang="en-US" sz="1500" dirty="0" smtClean="0">
                <a:latin typeface="Helvetica Neue" panose="020B0604020202020204" charset="0"/>
              </a:rPr>
              <a:t>valid.</a:t>
            </a:r>
          </a:p>
          <a:p>
            <a:pPr lvl="1">
              <a:lnSpc>
                <a:spcPct val="150000"/>
              </a:lnSpc>
            </a:pPr>
            <a:endParaRPr lang="en-US" altLang="en-US" sz="1500" b="1" dirty="0" smtClean="0">
              <a:latin typeface="Helvetica Neue" panose="020B0604020202020204" charset="0"/>
            </a:endParaRPr>
          </a:p>
          <a:p>
            <a:pPr lvl="1">
              <a:lnSpc>
                <a:spcPct val="150000"/>
              </a:lnSpc>
            </a:pPr>
            <a:endParaRPr lang="en-US" altLang="en-US" sz="1500" b="1" dirty="0">
              <a:latin typeface="Helvetica Neue" panose="020B0604020202020204" charset="0"/>
            </a:endParaRPr>
          </a:p>
          <a:p>
            <a:pPr lvl="1">
              <a:lnSpc>
                <a:spcPct val="150000"/>
              </a:lnSpc>
            </a:pPr>
            <a:endParaRPr lang="en-US" altLang="en-US" sz="1500" b="1" dirty="0" smtClean="0">
              <a:latin typeface="Helvetica Neue" panose="020B0604020202020204" charset="0"/>
            </a:endParaRPr>
          </a:p>
          <a:p>
            <a:pPr lvl="1">
              <a:lnSpc>
                <a:spcPct val="150000"/>
              </a:lnSpc>
            </a:pPr>
            <a:endParaRPr lang="en-US" altLang="en-US" sz="1500" b="1" dirty="0">
              <a:latin typeface="Helvetica Neue" panose="020B0604020202020204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1500" b="1" dirty="0" smtClean="0">
                <a:latin typeface="Helvetica Neue" panose="020B0604020202020204" charset="0"/>
              </a:rPr>
              <a:t>Duration</a:t>
            </a:r>
            <a:r>
              <a:rPr lang="en-US" altLang="en-US" sz="1500" dirty="0">
                <a:latin typeface="Helvetica Neue" panose="020B0604020202020204" charset="0"/>
              </a:rPr>
              <a:t>: How long an identifier exists in memory</a:t>
            </a:r>
          </a:p>
          <a:p>
            <a:pPr marL="0" indent="0">
              <a:buNone/>
            </a:pPr>
            <a:endParaRPr lang="en-IN" altLang="en-US" dirty="0">
              <a:latin typeface="Helvetica Neu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14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Storage Class</a:t>
            </a:r>
            <a:endParaRPr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35752" y="943297"/>
            <a:ext cx="7170392" cy="3360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latin typeface="Helvetica Neue" panose="020B0604020202020204" charset="0"/>
              </a:rPr>
              <a:t>Storage Class defines both</a:t>
            </a:r>
          </a:p>
          <a:p>
            <a:pPr lvl="1">
              <a:lnSpc>
                <a:spcPct val="150000"/>
              </a:lnSpc>
            </a:pPr>
            <a:r>
              <a:rPr lang="en-US" altLang="en-US" sz="1500" b="1" dirty="0">
                <a:latin typeface="Helvetica Neue" panose="020B0604020202020204" charset="0"/>
              </a:rPr>
              <a:t>Scope</a:t>
            </a:r>
            <a:r>
              <a:rPr lang="en-US" altLang="en-US" sz="1500" dirty="0">
                <a:latin typeface="Helvetica Neue" panose="020B0604020202020204" charset="0"/>
              </a:rPr>
              <a:t>: portion where the identifier is valid.</a:t>
            </a:r>
          </a:p>
          <a:p>
            <a:pPr lvl="2">
              <a:lnSpc>
                <a:spcPct val="150000"/>
              </a:lnSpc>
            </a:pPr>
            <a:r>
              <a:rPr lang="en-US" altLang="en-US" sz="1500" dirty="0">
                <a:latin typeface="Helvetica Neue" panose="020B0604020202020204" charset="0"/>
              </a:rPr>
              <a:t>Identifiers are valid only within the </a:t>
            </a:r>
            <a:r>
              <a:rPr lang="en-US" altLang="en-US" sz="1500" b="1" dirty="0">
                <a:latin typeface="Helvetica Neue" panose="020B0604020202020204" charset="0"/>
              </a:rPr>
              <a:t>block</a:t>
            </a:r>
            <a:r>
              <a:rPr lang="en-US" altLang="en-US" sz="1500" dirty="0">
                <a:latin typeface="Helvetica Neue" panose="020B0604020202020204" charset="0"/>
              </a:rPr>
              <a:t> in which they are declared</a:t>
            </a:r>
          </a:p>
          <a:p>
            <a:pPr lvl="2">
              <a:lnSpc>
                <a:spcPct val="150000"/>
              </a:lnSpc>
            </a:pPr>
            <a:endParaRPr lang="en-US" altLang="en-US" sz="1500" dirty="0">
              <a:latin typeface="Helvetica Neue" panose="020B0604020202020204" charset="0"/>
            </a:endParaRPr>
          </a:p>
          <a:p>
            <a:pPr lvl="2">
              <a:lnSpc>
                <a:spcPct val="150000"/>
              </a:lnSpc>
            </a:pPr>
            <a:endParaRPr lang="en-US" altLang="en-US" sz="1500" dirty="0">
              <a:latin typeface="Helvetica Neue" panose="020B0604020202020204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1500" b="1" dirty="0">
                <a:latin typeface="Helvetica Neue" panose="020B0604020202020204" charset="0"/>
              </a:rPr>
              <a:t>Duration</a:t>
            </a:r>
            <a:r>
              <a:rPr lang="en-US" altLang="en-US" sz="1500" dirty="0">
                <a:latin typeface="Helvetica Neue" panose="020B0604020202020204" charset="0"/>
              </a:rPr>
              <a:t>: How long an identifier exists in memory</a:t>
            </a:r>
          </a:p>
        </p:txBody>
      </p:sp>
    </p:spTree>
    <p:extLst>
      <p:ext uri="{BB962C8B-B14F-4D97-AF65-F5344CB8AC3E}">
        <p14:creationId xmlns:p14="http://schemas.microsoft.com/office/powerpoint/2010/main" val="316521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Storage Class</a:t>
            </a:r>
            <a:endParaRPr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35752" y="943297"/>
            <a:ext cx="7170392" cy="3360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1800" dirty="0">
                <a:latin typeface="Helvetica" panose="020B0604020202020204" pitchFamily="34" charset="0"/>
              </a:rPr>
              <a:t>Storage Class defines both</a:t>
            </a:r>
          </a:p>
          <a:p>
            <a:pPr lvl="1">
              <a:lnSpc>
                <a:spcPct val="150000"/>
              </a:lnSpc>
            </a:pPr>
            <a:r>
              <a:rPr lang="en-US" altLang="en-US" sz="1800" b="1" dirty="0">
                <a:latin typeface="Helvetica" panose="020B0604020202020204" pitchFamily="34" charset="0"/>
              </a:rPr>
              <a:t>Scope</a:t>
            </a:r>
            <a:r>
              <a:rPr lang="en-US" altLang="en-US" sz="1800" dirty="0">
                <a:latin typeface="Helvetica" panose="020B0604020202020204" pitchFamily="34" charset="0"/>
              </a:rPr>
              <a:t>: portion where the identifier is valid.</a:t>
            </a:r>
          </a:p>
          <a:p>
            <a:pPr lvl="2">
              <a:lnSpc>
                <a:spcPct val="150000"/>
              </a:lnSpc>
            </a:pPr>
            <a:r>
              <a:rPr lang="en-US" altLang="en-US" sz="1800" dirty="0">
                <a:latin typeface="Helvetica" panose="020B0604020202020204" pitchFamily="34" charset="0"/>
              </a:rPr>
              <a:t>Identifiers are valid only within the </a:t>
            </a:r>
            <a:r>
              <a:rPr lang="en-US" altLang="en-US" sz="1800" b="1" dirty="0">
                <a:latin typeface="Helvetica" panose="020B0604020202020204" pitchFamily="34" charset="0"/>
              </a:rPr>
              <a:t>block</a:t>
            </a:r>
            <a:r>
              <a:rPr lang="en-US" altLang="en-US" sz="1800" dirty="0">
                <a:latin typeface="Helvetica" panose="020B0604020202020204" pitchFamily="34" charset="0"/>
              </a:rPr>
              <a:t> in which they are declared</a:t>
            </a:r>
          </a:p>
          <a:p>
            <a:pPr lvl="3">
              <a:lnSpc>
                <a:spcPct val="150000"/>
              </a:lnSpc>
            </a:pPr>
            <a:r>
              <a:rPr lang="en-US" altLang="en-US" sz="1400" dirty="0">
                <a:latin typeface="Helvetica" panose="020B0604020202020204" pitchFamily="34" charset="0"/>
              </a:rPr>
              <a:t>Codes within braces is a block</a:t>
            </a:r>
          </a:p>
          <a:p>
            <a:pPr lvl="2">
              <a:lnSpc>
                <a:spcPct val="150000"/>
              </a:lnSpc>
            </a:pPr>
            <a:endParaRPr lang="en-US" altLang="en-US" sz="1800" dirty="0">
              <a:latin typeface="Helvetica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1800" b="1" dirty="0">
                <a:latin typeface="Helvetica" panose="020B0604020202020204" pitchFamily="34" charset="0"/>
              </a:rPr>
              <a:t>Duration</a:t>
            </a:r>
            <a:r>
              <a:rPr lang="en-US" altLang="en-US" sz="1800" dirty="0">
                <a:latin typeface="Helvetica" panose="020B0604020202020204" pitchFamily="34" charset="0"/>
              </a:rPr>
              <a:t>: How long an identifier exists in memory</a:t>
            </a:r>
          </a:p>
          <a:p>
            <a:pPr marL="0" indent="0">
              <a:buNone/>
            </a:pPr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83612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sz="2800" dirty="0"/>
              <a:t>Ex: Scope rules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311699" y="1165137"/>
            <a:ext cx="2971828" cy="24622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Helvetica" panose="020B0604020202020204" pitchFamily="34" charset="0"/>
              </a:rPr>
              <a:t>int</a:t>
            </a:r>
            <a:r>
              <a:rPr lang="en-US" altLang="en-US" dirty="0">
                <a:latin typeface="Helvetica" panose="020B0604020202020204" pitchFamily="34" charset="0"/>
              </a:rPr>
              <a:t> multiply (</a:t>
            </a:r>
            <a:r>
              <a:rPr lang="en-US" altLang="en-US" dirty="0" err="1">
                <a:latin typeface="Helvetica" panose="020B0604020202020204" pitchFamily="34" charset="0"/>
              </a:rPr>
              <a:t>int</a:t>
            </a:r>
            <a:r>
              <a:rPr lang="en-US" altLang="en-US" dirty="0">
                <a:latin typeface="Helvetica" panose="020B0604020202020204" pitchFamily="34" charset="0"/>
              </a:rPr>
              <a:t>, </a:t>
            </a:r>
            <a:r>
              <a:rPr lang="en-US" altLang="en-US" dirty="0" err="1">
                <a:latin typeface="Helvetica" panose="020B0604020202020204" pitchFamily="34" charset="0"/>
              </a:rPr>
              <a:t>int</a:t>
            </a:r>
            <a:r>
              <a:rPr lang="en-US" altLang="en-US" dirty="0">
                <a:latin typeface="Helvetica" panose="020B0604020202020204" pitchFamily="34" charset="0"/>
              </a:rPr>
              <a:t>);</a:t>
            </a:r>
          </a:p>
          <a:p>
            <a:endParaRPr lang="en-US" altLang="en-US" dirty="0">
              <a:latin typeface="Helvetica" panose="020B0604020202020204" pitchFamily="34" charset="0"/>
            </a:endParaRPr>
          </a:p>
          <a:p>
            <a:r>
              <a:rPr lang="en-US" altLang="en-US" dirty="0" err="1">
                <a:latin typeface="Helvetica" panose="020B0604020202020204" pitchFamily="34" charset="0"/>
              </a:rPr>
              <a:t>int</a:t>
            </a:r>
            <a:r>
              <a:rPr lang="en-US" altLang="en-US" dirty="0">
                <a:latin typeface="Helvetica" panose="020B0604020202020204" pitchFamily="34" charset="0"/>
              </a:rPr>
              <a:t> main()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{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	</a:t>
            </a:r>
            <a:r>
              <a:rPr lang="en-US" altLang="en-US" dirty="0" err="1">
                <a:latin typeface="Helvetica" panose="020B0604020202020204" pitchFamily="34" charset="0"/>
              </a:rPr>
              <a:t>int</a:t>
            </a:r>
            <a:r>
              <a:rPr lang="en-US" altLang="en-US" dirty="0">
                <a:latin typeface="Helvetica" panose="020B0604020202020204" pitchFamily="34" charset="0"/>
              </a:rPr>
              <a:t> a, b, c;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	a = 2;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	b = 5;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	c = multiply(</a:t>
            </a:r>
            <a:r>
              <a:rPr lang="en-US" altLang="en-US" dirty="0" err="1">
                <a:latin typeface="Helvetica" panose="020B0604020202020204" pitchFamily="34" charset="0"/>
              </a:rPr>
              <a:t>a,b</a:t>
            </a:r>
            <a:r>
              <a:rPr lang="en-US" altLang="en-US" dirty="0">
                <a:latin typeface="Helvetica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	a = multiply(</a:t>
            </a:r>
            <a:r>
              <a:rPr lang="en-US" altLang="en-US" dirty="0" err="1">
                <a:latin typeface="Helvetica" panose="020B0604020202020204" pitchFamily="34" charset="0"/>
              </a:rPr>
              <a:t>b,c</a:t>
            </a:r>
            <a:r>
              <a:rPr lang="en-US" altLang="en-US" dirty="0">
                <a:latin typeface="Helvetica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	return 0;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643745" y="1765301"/>
            <a:ext cx="2410691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Helvetica" panose="020B0604020202020204" pitchFamily="34" charset="0"/>
              </a:rPr>
              <a:t>int</a:t>
            </a:r>
            <a:r>
              <a:rPr lang="en-US" altLang="en-US" dirty="0">
                <a:latin typeface="Helvetica" panose="020B0604020202020204" pitchFamily="34" charset="0"/>
              </a:rPr>
              <a:t> multiply (</a:t>
            </a:r>
            <a:r>
              <a:rPr lang="en-US" altLang="en-US" dirty="0" err="1">
                <a:latin typeface="Helvetica" panose="020B0604020202020204" pitchFamily="34" charset="0"/>
              </a:rPr>
              <a:t>int</a:t>
            </a:r>
            <a:r>
              <a:rPr lang="en-US" altLang="en-US" dirty="0">
                <a:latin typeface="Helvetica" panose="020B0604020202020204" pitchFamily="34" charset="0"/>
              </a:rPr>
              <a:t> x, </a:t>
            </a:r>
            <a:r>
              <a:rPr lang="en-US" altLang="en-US" dirty="0" err="1">
                <a:latin typeface="Helvetica" panose="020B0604020202020204" pitchFamily="34" charset="0"/>
              </a:rPr>
              <a:t>int</a:t>
            </a:r>
            <a:r>
              <a:rPr lang="en-US" altLang="en-US" dirty="0">
                <a:latin typeface="Helvetica" panose="020B0604020202020204" pitchFamily="34" charset="0"/>
              </a:rPr>
              <a:t> y)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{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	x = x * y;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	return x;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066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sz="2800" dirty="0"/>
              <a:t>Scope in nested blocks</a:t>
            </a:r>
            <a:endParaRPr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35752" y="943297"/>
            <a:ext cx="7170392" cy="3360300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altLang="en-US" sz="1800" dirty="0">
                <a:latin typeface="Helvetica" panose="020B0604020202020204" pitchFamily="34" charset="0"/>
              </a:rPr>
              <a:t>In nested blocks, an outer block identifier is valid unless an inner block redefines it. </a:t>
            </a:r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altLang="en-US" sz="1800" dirty="0">
                <a:latin typeface="Helvetica" panose="020B0604020202020204" pitchFamily="34" charset="0"/>
              </a:rPr>
              <a:t>If redefined, the outer block name is hidden or masked in the inner block</a:t>
            </a:r>
            <a:r>
              <a:rPr lang="en-US" altLang="en-US" sz="2400" dirty="0"/>
              <a:t>. </a:t>
            </a:r>
          </a:p>
          <a:p>
            <a:pPr marL="0" indent="0">
              <a:buNone/>
            </a:pPr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33036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sz="2800" dirty="0"/>
              <a:t>Ex: Scope in nested blocks</a:t>
            </a:r>
            <a:endParaRPr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35752" y="943297"/>
            <a:ext cx="7170392" cy="33603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{	</a:t>
            </a: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IN" sz="1600" dirty="0">
                <a:latin typeface="Helvetica" panose="020B0604020202020204" pitchFamily="34" charset="0"/>
              </a:rPr>
              <a:t> = 1, </a:t>
            </a:r>
            <a:r>
              <a:rPr lang="en-IN" sz="1600" dirty="0">
                <a:solidFill>
                  <a:srgbClr val="C00000"/>
                </a:solidFill>
                <a:latin typeface="Helvetica" panose="020B0604020202020204" pitchFamily="34" charset="0"/>
              </a:rPr>
              <a:t>b</a:t>
            </a:r>
            <a:r>
              <a:rPr lang="en-IN" sz="1600" dirty="0">
                <a:latin typeface="Helvetica" panose="020B0604020202020204" pitchFamily="34" charset="0"/>
              </a:rPr>
              <a:t> = 2, </a:t>
            </a:r>
            <a:r>
              <a:rPr lang="en-IN" sz="1600" dirty="0">
                <a:solidFill>
                  <a:srgbClr val="0070C0"/>
                </a:solidFill>
                <a:latin typeface="Helvetica" panose="020B0604020202020204" pitchFamily="34" charset="0"/>
              </a:rPr>
              <a:t>c</a:t>
            </a:r>
            <a:r>
              <a:rPr lang="en-IN" sz="1600" dirty="0">
                <a:latin typeface="Helvetica" panose="020B0604020202020204" pitchFamily="34" charset="0"/>
              </a:rPr>
              <a:t> = 3;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	</a:t>
            </a:r>
            <a:r>
              <a:rPr lang="en-IN" sz="1600" dirty="0" err="1">
                <a:latin typeface="Helvetica" panose="020B0604020202020204" pitchFamily="34" charset="0"/>
              </a:rPr>
              <a:t>printf</a:t>
            </a:r>
            <a:r>
              <a:rPr lang="en-IN" sz="1600" dirty="0">
                <a:latin typeface="Helvetica" panose="020B0604020202020204" pitchFamily="34" charset="0"/>
              </a:rPr>
              <a:t>(“%</a:t>
            </a:r>
            <a:r>
              <a:rPr lang="en-IN" sz="1600" dirty="0" err="1">
                <a:latin typeface="Helvetica" panose="020B0604020202020204" pitchFamily="34" charset="0"/>
              </a:rPr>
              <a:t>d,%d,%d</a:t>
            </a:r>
            <a:r>
              <a:rPr lang="en-IN" sz="1600" dirty="0">
                <a:latin typeface="Helvetica" panose="020B0604020202020204" pitchFamily="34" charset="0"/>
              </a:rPr>
              <a:t>\n”, </a:t>
            </a:r>
            <a:r>
              <a:rPr lang="en-IN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IN" sz="1600" dirty="0">
                <a:latin typeface="Helvetica" panose="020B0604020202020204" pitchFamily="34" charset="0"/>
              </a:rPr>
              <a:t>, </a:t>
            </a:r>
            <a:r>
              <a:rPr lang="en-IN" sz="1600" dirty="0">
                <a:solidFill>
                  <a:srgbClr val="C00000"/>
                </a:solidFill>
                <a:latin typeface="Helvetica" panose="020B0604020202020204" pitchFamily="34" charset="0"/>
              </a:rPr>
              <a:t>b</a:t>
            </a:r>
            <a:r>
              <a:rPr lang="en-IN" sz="1600" dirty="0">
                <a:latin typeface="Helvetica" panose="020B0604020202020204" pitchFamily="34" charset="0"/>
              </a:rPr>
              <a:t>, </a:t>
            </a:r>
            <a:r>
              <a:rPr lang="en-IN" sz="1600" dirty="0">
                <a:solidFill>
                  <a:srgbClr val="0070C0"/>
                </a:solidFill>
                <a:latin typeface="Helvetica" panose="020B0604020202020204" pitchFamily="34" charset="0"/>
              </a:rPr>
              <a:t>c</a:t>
            </a:r>
            <a:r>
              <a:rPr lang="en-IN" sz="1600" dirty="0">
                <a:latin typeface="Helvetica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	{ 	</a:t>
            </a: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 </a:t>
            </a:r>
            <a:r>
              <a:rPr lang="en-IN" sz="1600" dirty="0">
                <a:solidFill>
                  <a:schemeClr val="accent1"/>
                </a:solidFill>
                <a:latin typeface="Helvetica" panose="020B0604020202020204" pitchFamily="34" charset="0"/>
              </a:rPr>
              <a:t>b</a:t>
            </a:r>
            <a:r>
              <a:rPr lang="en-IN" sz="1600" dirty="0">
                <a:latin typeface="Helvetica" panose="020B0604020202020204" pitchFamily="34" charset="0"/>
              </a:rPr>
              <a:t> = 4; float </a:t>
            </a:r>
            <a:r>
              <a:rPr lang="en-IN" sz="1600" dirty="0">
                <a:solidFill>
                  <a:srgbClr val="00B050"/>
                </a:solidFill>
                <a:latin typeface="Helvetica" panose="020B0604020202020204" pitchFamily="34" charset="0"/>
              </a:rPr>
              <a:t>c </a:t>
            </a:r>
            <a:r>
              <a:rPr lang="en-IN" sz="1600" dirty="0">
                <a:latin typeface="Helvetica" panose="020B0604020202020204" pitchFamily="34" charset="0"/>
              </a:rPr>
              <a:t>= 5.0;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		 </a:t>
            </a:r>
            <a:r>
              <a:rPr lang="en-IN" sz="1600" dirty="0" err="1">
                <a:latin typeface="Helvetica" panose="020B0604020202020204" pitchFamily="34" charset="0"/>
              </a:rPr>
              <a:t>printf</a:t>
            </a:r>
            <a:r>
              <a:rPr lang="en-IN" sz="1600" dirty="0">
                <a:latin typeface="Helvetica" panose="020B0604020202020204" pitchFamily="34" charset="0"/>
              </a:rPr>
              <a:t>(“%</a:t>
            </a:r>
            <a:r>
              <a:rPr lang="en-IN" sz="1600" dirty="0" err="1">
                <a:latin typeface="Helvetica" panose="020B0604020202020204" pitchFamily="34" charset="0"/>
              </a:rPr>
              <a:t>d,%d,%f</a:t>
            </a:r>
            <a:r>
              <a:rPr lang="en-IN" sz="1600" dirty="0">
                <a:latin typeface="Helvetica" panose="020B0604020202020204" pitchFamily="34" charset="0"/>
              </a:rPr>
              <a:t>\n”, </a:t>
            </a:r>
            <a:r>
              <a:rPr lang="en-IN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IN" sz="1600" dirty="0">
                <a:latin typeface="Helvetica" panose="020B0604020202020204" pitchFamily="34" charset="0"/>
              </a:rPr>
              <a:t>, </a:t>
            </a:r>
            <a:r>
              <a:rPr lang="en-IN" sz="1600" dirty="0">
                <a:solidFill>
                  <a:schemeClr val="accent1"/>
                </a:solidFill>
                <a:latin typeface="Helvetica" panose="020B0604020202020204" pitchFamily="34" charset="0"/>
              </a:rPr>
              <a:t>b</a:t>
            </a:r>
            <a:r>
              <a:rPr lang="en-IN" sz="1600" dirty="0">
                <a:latin typeface="Helvetica" panose="020B0604020202020204" pitchFamily="34" charset="0"/>
              </a:rPr>
              <a:t>, </a:t>
            </a:r>
            <a:r>
              <a:rPr lang="en-IN" sz="1600" dirty="0">
                <a:solidFill>
                  <a:srgbClr val="00B050"/>
                </a:solidFill>
                <a:latin typeface="Helvetica" panose="020B0604020202020204" pitchFamily="34" charset="0"/>
              </a:rPr>
              <a:t>c</a:t>
            </a:r>
            <a:r>
              <a:rPr lang="en-IN" sz="1600" dirty="0">
                <a:latin typeface="Helvetica" panose="020B0604020202020204" pitchFamily="34" charset="0"/>
              </a:rPr>
              <a:t>);	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		 </a:t>
            </a:r>
            <a:r>
              <a:rPr lang="en-IN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IN" sz="1600" dirty="0">
                <a:latin typeface="Helvetica" panose="020B0604020202020204" pitchFamily="34" charset="0"/>
              </a:rPr>
              <a:t> = </a:t>
            </a:r>
            <a:r>
              <a:rPr lang="en-IN" sz="1600" dirty="0">
                <a:solidFill>
                  <a:schemeClr val="accent1"/>
                </a:solidFill>
                <a:latin typeface="Helvetica" panose="020B0604020202020204" pitchFamily="34" charset="0"/>
              </a:rPr>
              <a:t>b</a:t>
            </a:r>
            <a:r>
              <a:rPr lang="en-IN" sz="1600" dirty="0">
                <a:latin typeface="Helvetica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		 { 	</a:t>
            </a: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 </a:t>
            </a:r>
            <a:r>
              <a:rPr lang="en-IN" sz="1600" dirty="0">
                <a:solidFill>
                  <a:srgbClr val="7030A0"/>
                </a:solidFill>
                <a:latin typeface="Helvetica" panose="020B0604020202020204" pitchFamily="34" charset="0"/>
              </a:rPr>
              <a:t>c</a:t>
            </a:r>
            <a:r>
              <a:rPr lang="en-IN" sz="1600" dirty="0">
                <a:latin typeface="Helvetica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			</a:t>
            </a:r>
            <a:r>
              <a:rPr lang="en-IN" sz="1600" dirty="0">
                <a:solidFill>
                  <a:srgbClr val="7030A0"/>
                </a:solidFill>
                <a:latin typeface="Helvetica" panose="020B0604020202020204" pitchFamily="34" charset="0"/>
              </a:rPr>
              <a:t>c</a:t>
            </a:r>
            <a:r>
              <a:rPr lang="en-IN" sz="1600" dirty="0">
                <a:latin typeface="Helvetica" panose="020B0604020202020204" pitchFamily="34" charset="0"/>
              </a:rPr>
              <a:t> = </a:t>
            </a:r>
            <a:r>
              <a:rPr lang="en-IN" sz="1600" dirty="0">
                <a:solidFill>
                  <a:schemeClr val="accent1"/>
                </a:solidFill>
                <a:latin typeface="Helvetica" panose="020B0604020202020204" pitchFamily="34" charset="0"/>
              </a:rPr>
              <a:t>b</a:t>
            </a:r>
            <a:r>
              <a:rPr lang="en-IN" sz="1600" dirty="0">
                <a:latin typeface="Helvetica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			 </a:t>
            </a:r>
            <a:r>
              <a:rPr lang="en-IN" sz="1600" dirty="0" err="1">
                <a:latin typeface="Helvetica" panose="020B0604020202020204" pitchFamily="34" charset="0"/>
              </a:rPr>
              <a:t>printf</a:t>
            </a:r>
            <a:r>
              <a:rPr lang="en-IN" sz="1600" dirty="0">
                <a:latin typeface="Helvetica" panose="020B0604020202020204" pitchFamily="34" charset="0"/>
              </a:rPr>
              <a:t>(“%</a:t>
            </a:r>
            <a:r>
              <a:rPr lang="en-IN" sz="1600" dirty="0" err="1">
                <a:latin typeface="Helvetica" panose="020B0604020202020204" pitchFamily="34" charset="0"/>
              </a:rPr>
              <a:t>d,%d,%d</a:t>
            </a:r>
            <a:r>
              <a:rPr lang="en-IN" sz="1600" dirty="0">
                <a:latin typeface="Helvetica" panose="020B0604020202020204" pitchFamily="34" charset="0"/>
              </a:rPr>
              <a:t>\n”, </a:t>
            </a:r>
            <a:r>
              <a:rPr lang="en-IN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IN" sz="1600" dirty="0">
                <a:latin typeface="Helvetica" panose="020B0604020202020204" pitchFamily="34" charset="0"/>
              </a:rPr>
              <a:t>, </a:t>
            </a:r>
            <a:r>
              <a:rPr lang="en-IN" sz="1600" dirty="0">
                <a:solidFill>
                  <a:schemeClr val="accent1"/>
                </a:solidFill>
                <a:latin typeface="Helvetica" panose="020B0604020202020204" pitchFamily="34" charset="0"/>
              </a:rPr>
              <a:t>b</a:t>
            </a:r>
            <a:r>
              <a:rPr lang="en-IN" sz="1600" dirty="0">
                <a:latin typeface="Helvetica" panose="020B0604020202020204" pitchFamily="34" charset="0"/>
              </a:rPr>
              <a:t>, </a:t>
            </a:r>
            <a:r>
              <a:rPr lang="en-IN" sz="1600" dirty="0">
                <a:solidFill>
                  <a:srgbClr val="00B050"/>
                </a:solidFill>
                <a:latin typeface="Helvetica" panose="020B0604020202020204" pitchFamily="34" charset="0"/>
              </a:rPr>
              <a:t>c</a:t>
            </a:r>
            <a:r>
              <a:rPr lang="en-IN" sz="1600" dirty="0">
                <a:latin typeface="Helvetica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		}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		 </a:t>
            </a:r>
            <a:r>
              <a:rPr lang="en-IN" sz="1600" dirty="0" err="1">
                <a:latin typeface="Helvetica" panose="020B0604020202020204" pitchFamily="34" charset="0"/>
              </a:rPr>
              <a:t>printf</a:t>
            </a:r>
            <a:r>
              <a:rPr lang="en-IN" sz="1600" dirty="0">
                <a:latin typeface="Helvetica" panose="020B0604020202020204" pitchFamily="34" charset="0"/>
              </a:rPr>
              <a:t>(“%</a:t>
            </a:r>
            <a:r>
              <a:rPr lang="en-IN" sz="1600" dirty="0" err="1">
                <a:latin typeface="Helvetica" panose="020B0604020202020204" pitchFamily="34" charset="0"/>
              </a:rPr>
              <a:t>d,%d,%f</a:t>
            </a:r>
            <a:r>
              <a:rPr lang="en-IN" sz="1600" dirty="0">
                <a:latin typeface="Helvetica" panose="020B0604020202020204" pitchFamily="34" charset="0"/>
              </a:rPr>
              <a:t>\n”, </a:t>
            </a:r>
            <a:r>
              <a:rPr lang="en-IN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IN" sz="1600" dirty="0">
                <a:latin typeface="Helvetica" panose="020B0604020202020204" pitchFamily="34" charset="0"/>
              </a:rPr>
              <a:t>, </a:t>
            </a:r>
            <a:r>
              <a:rPr lang="en-IN" sz="1600" dirty="0">
                <a:solidFill>
                  <a:schemeClr val="accent1"/>
                </a:solidFill>
                <a:latin typeface="Helvetica" panose="020B0604020202020204" pitchFamily="34" charset="0"/>
              </a:rPr>
              <a:t>b</a:t>
            </a:r>
            <a:r>
              <a:rPr lang="en-IN" sz="1600" dirty="0">
                <a:latin typeface="Helvetica" panose="020B0604020202020204" pitchFamily="34" charset="0"/>
              </a:rPr>
              <a:t>, </a:t>
            </a:r>
            <a:r>
              <a:rPr lang="en-IN" sz="1600" dirty="0">
                <a:solidFill>
                  <a:srgbClr val="00B050"/>
                </a:solidFill>
                <a:latin typeface="Helvetica" panose="020B0604020202020204" pitchFamily="34" charset="0"/>
              </a:rPr>
              <a:t>c</a:t>
            </a:r>
            <a:r>
              <a:rPr lang="en-IN" sz="1600" dirty="0">
                <a:latin typeface="Helvetica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       }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</a:t>
            </a:r>
            <a:r>
              <a:rPr lang="en-IN" sz="1600" dirty="0" err="1">
                <a:latin typeface="Helvetica" panose="020B0604020202020204" pitchFamily="34" charset="0"/>
              </a:rPr>
              <a:t>printf</a:t>
            </a:r>
            <a:r>
              <a:rPr lang="en-IN" sz="1600" dirty="0">
                <a:latin typeface="Helvetica" panose="020B0604020202020204" pitchFamily="34" charset="0"/>
              </a:rPr>
              <a:t>(“%</a:t>
            </a:r>
            <a:r>
              <a:rPr lang="en-IN" sz="1600" dirty="0" err="1">
                <a:latin typeface="Helvetica" panose="020B0604020202020204" pitchFamily="34" charset="0"/>
              </a:rPr>
              <a:t>d,%d,%d</a:t>
            </a:r>
            <a:r>
              <a:rPr lang="en-IN" sz="1600" dirty="0">
                <a:latin typeface="Helvetica" panose="020B0604020202020204" pitchFamily="34" charset="0"/>
              </a:rPr>
              <a:t>\n”, </a:t>
            </a:r>
            <a:r>
              <a:rPr lang="en-IN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IN" sz="1600" dirty="0">
                <a:latin typeface="Helvetica" panose="020B0604020202020204" pitchFamily="34" charset="0"/>
              </a:rPr>
              <a:t>, </a:t>
            </a:r>
            <a:r>
              <a:rPr lang="en-IN" sz="1600" dirty="0">
                <a:solidFill>
                  <a:srgbClr val="C00000"/>
                </a:solidFill>
                <a:latin typeface="Helvetica" panose="020B0604020202020204" pitchFamily="34" charset="0"/>
              </a:rPr>
              <a:t>b</a:t>
            </a:r>
            <a:r>
              <a:rPr lang="en-IN" sz="1600" dirty="0">
                <a:latin typeface="Helvetica" panose="020B0604020202020204" pitchFamily="34" charset="0"/>
              </a:rPr>
              <a:t>, </a:t>
            </a:r>
            <a:r>
              <a:rPr lang="en-IN" sz="1600" dirty="0">
                <a:solidFill>
                  <a:srgbClr val="00B050"/>
                </a:solidFill>
                <a:latin typeface="Helvetica" panose="020B0604020202020204" pitchFamily="34" charset="0"/>
              </a:rPr>
              <a:t>c</a:t>
            </a:r>
            <a:r>
              <a:rPr lang="en-IN" sz="1600" dirty="0">
                <a:latin typeface="Helvetica" panose="020B0604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}</a:t>
            </a:r>
          </a:p>
          <a:p>
            <a:endParaRPr lang="en-IN" dirty="0"/>
          </a:p>
          <a:p>
            <a:pPr marL="0" indent="0">
              <a:buNone/>
            </a:pPr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288421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sz="2800" dirty="0"/>
              <a:t>Example: parallel blocks</a:t>
            </a:r>
            <a:endParaRPr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35752" y="943297"/>
            <a:ext cx="7170392" cy="33603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{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      </a:t>
            </a:r>
            <a:r>
              <a:rPr lang="en-US" altLang="en-US" sz="1600" dirty="0" err="1">
                <a:latin typeface="Helvetica" panose="020B0604020202020204" pitchFamily="34" charset="0"/>
              </a:rPr>
              <a:t>int</a:t>
            </a:r>
            <a:r>
              <a:rPr lang="en-US" altLang="en-US" sz="1600" dirty="0">
                <a:latin typeface="Helvetica" panose="020B0604020202020204" pitchFamily="34" charset="0"/>
              </a:rPr>
              <a:t> a, b;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      ……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      {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             float b;  // inner block 1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              …….	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       }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      {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            float a;  // inner block 2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	       …….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       }</a:t>
            </a:r>
          </a:p>
          <a:p>
            <a:pPr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}</a:t>
            </a:r>
          </a:p>
          <a:p>
            <a:pPr>
              <a:buNone/>
            </a:pPr>
            <a:endParaRPr lang="en-US" altLang="en-US" sz="20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5998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smtClean="0"/>
              <a:t>Storage class</a:t>
            </a:r>
            <a:br>
              <a:rPr lang="en-IN" dirty="0" smtClean="0"/>
            </a:br>
            <a:r>
              <a:rPr lang="en-IN" sz="1800" dirty="0" smtClean="0"/>
              <a:t>Auto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15415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Storage Class</a:t>
            </a:r>
            <a:r>
              <a:rPr lang="en-US" altLang="en-US" sz="2800" dirty="0" smtClean="0"/>
              <a:t>: auto</a:t>
            </a:r>
            <a:endParaRPr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35752" y="943297"/>
            <a:ext cx="7170392" cy="3360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latin typeface="Helvetica Neue" panose="020B0604020202020204" charset="0"/>
              </a:rPr>
              <a:t>Storage Class defines both</a:t>
            </a:r>
          </a:p>
          <a:p>
            <a:pPr lvl="1">
              <a:lnSpc>
                <a:spcPct val="150000"/>
              </a:lnSpc>
            </a:pPr>
            <a:r>
              <a:rPr lang="en-US" altLang="en-US" sz="1500" b="1" dirty="0">
                <a:latin typeface="Helvetica Neue" panose="020B0604020202020204" charset="0"/>
              </a:rPr>
              <a:t>Scope</a:t>
            </a:r>
            <a:r>
              <a:rPr lang="en-US" altLang="en-US" sz="1500" dirty="0">
                <a:latin typeface="Helvetica Neue" panose="020B0604020202020204" charset="0"/>
              </a:rPr>
              <a:t>: portion where the identifier is valid.</a:t>
            </a:r>
          </a:p>
          <a:p>
            <a:pPr lvl="1">
              <a:lnSpc>
                <a:spcPct val="150000"/>
              </a:lnSpc>
            </a:pPr>
            <a:r>
              <a:rPr lang="en-US" altLang="en-US" sz="1500" b="1" dirty="0">
                <a:latin typeface="Helvetica Neue" panose="020B0604020202020204" charset="0"/>
              </a:rPr>
              <a:t>Duration</a:t>
            </a:r>
            <a:r>
              <a:rPr lang="en-US" altLang="en-US" sz="1500" dirty="0">
                <a:latin typeface="Helvetica Neue" panose="020B0604020202020204" charset="0"/>
              </a:rPr>
              <a:t>: How long an identifier exists in memory</a:t>
            </a:r>
          </a:p>
          <a:p>
            <a:pPr lvl="1">
              <a:lnSpc>
                <a:spcPct val="150000"/>
              </a:lnSpc>
            </a:pPr>
            <a:endParaRPr lang="en-US" altLang="en-US" sz="1500" dirty="0">
              <a:latin typeface="Helvetica Neue" panose="020B0604020202020204" charset="0"/>
            </a:endParaRPr>
          </a:p>
          <a:p>
            <a:r>
              <a:rPr lang="en-US" altLang="en-US" dirty="0">
                <a:latin typeface="Helvetica Neue" panose="020B0604020202020204" charset="0"/>
              </a:rPr>
              <a:t>There are four storage classes</a:t>
            </a:r>
          </a:p>
          <a:p>
            <a:pPr lvl="1"/>
            <a:r>
              <a:rPr lang="en-US" altLang="en-US" sz="1500" b="1" dirty="0">
                <a:latin typeface="Helvetica Neue" panose="020B0604020202020204" charset="0"/>
              </a:rPr>
              <a:t>auto or automatic</a:t>
            </a:r>
          </a:p>
          <a:p>
            <a:pPr lvl="1"/>
            <a:r>
              <a:rPr lang="en-US" altLang="en-US" sz="1500" dirty="0">
                <a:latin typeface="Helvetica Neue" panose="020B0604020202020204" charset="0"/>
              </a:rPr>
              <a:t>extern</a:t>
            </a:r>
          </a:p>
          <a:p>
            <a:pPr lvl="1"/>
            <a:r>
              <a:rPr lang="en-US" altLang="en-US" sz="1500" dirty="0">
                <a:latin typeface="Helvetica Neue" panose="020B0604020202020204" charset="0"/>
              </a:rPr>
              <a:t>static</a:t>
            </a:r>
          </a:p>
          <a:p>
            <a:pPr lvl="1"/>
            <a:r>
              <a:rPr lang="en-US" altLang="en-US" sz="1500" dirty="0">
                <a:latin typeface="Helvetica Neue" panose="020B0604020202020204" charset="0"/>
              </a:rPr>
              <a:t>register</a:t>
            </a:r>
          </a:p>
          <a:p>
            <a:pPr>
              <a:buNone/>
            </a:pPr>
            <a:endParaRPr lang="en-US" altLang="en-US" sz="20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2145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Storage class auto</a:t>
            </a:r>
            <a:endParaRPr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35752" y="943297"/>
            <a:ext cx="7170392" cy="3360300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Helvetica" panose="020B0604020202020204" pitchFamily="34" charset="0"/>
              </a:rPr>
              <a:t>auto: default for local variables, hence seldom used. </a:t>
            </a:r>
          </a:p>
          <a:p>
            <a:pPr lvl="2"/>
            <a:r>
              <a:rPr lang="en-US" altLang="en-US" sz="1800" dirty="0">
                <a:latin typeface="Helvetica" panose="020B0604020202020204" pitchFamily="34" charset="0"/>
              </a:rPr>
              <a:t>auto double x, y;</a:t>
            </a:r>
          </a:p>
          <a:p>
            <a:pPr lvl="2"/>
            <a:endParaRPr lang="en-US" altLang="en-US" sz="1800" dirty="0">
              <a:latin typeface="Helvetica" panose="020B0604020202020204" pitchFamily="34" charset="0"/>
            </a:endParaRPr>
          </a:p>
          <a:p>
            <a:pPr lvl="2"/>
            <a:endParaRPr lang="en-US" altLang="en-US" sz="1800" dirty="0">
              <a:latin typeface="Helvetica" panose="020B0604020202020204" pitchFamily="34" charset="0"/>
            </a:endParaRPr>
          </a:p>
          <a:p>
            <a:r>
              <a:rPr lang="en-US" altLang="en-US" sz="1800" dirty="0">
                <a:latin typeface="Helvetica" panose="020B0604020202020204" pitchFamily="34" charset="0"/>
              </a:rPr>
              <a:t>Object created and destroyed within its block</a:t>
            </a:r>
          </a:p>
          <a:p>
            <a:pPr>
              <a:buNone/>
            </a:pPr>
            <a:endParaRPr lang="en-US" altLang="en-US" sz="20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36243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Storage class auto</a:t>
            </a:r>
            <a:endParaRPr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35751" y="943297"/>
            <a:ext cx="7502903" cy="3360300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Helvetica" panose="020B0604020202020204" pitchFamily="34" charset="0"/>
              </a:rPr>
              <a:t>auto: default for local variables, hence seldom used. </a:t>
            </a:r>
          </a:p>
          <a:p>
            <a:pPr lvl="2"/>
            <a:r>
              <a:rPr lang="en-US" altLang="en-US" sz="1800" dirty="0">
                <a:latin typeface="Helvetica" panose="020B0604020202020204" pitchFamily="34" charset="0"/>
              </a:rPr>
              <a:t>auto double x, y</a:t>
            </a:r>
            <a:r>
              <a:rPr lang="en-US" altLang="en-US" sz="1800" dirty="0" smtClean="0">
                <a:latin typeface="Helvetica" panose="020B0604020202020204" pitchFamily="34" charset="0"/>
              </a:rPr>
              <a:t>;</a:t>
            </a:r>
          </a:p>
          <a:p>
            <a:pPr lvl="2"/>
            <a:r>
              <a:rPr lang="en-US" altLang="en-US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automatically </a:t>
            </a: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defined when </a:t>
            </a:r>
            <a:r>
              <a:rPr lang="en-US" altLang="en-US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program control enters </a:t>
            </a: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 block</a:t>
            </a:r>
            <a:endParaRPr lang="en-US" altLang="en-US" sz="1800" dirty="0">
              <a:latin typeface="Helvetica" panose="020B0604020202020204" pitchFamily="34" charset="0"/>
            </a:endParaRPr>
          </a:p>
          <a:p>
            <a:pPr lvl="2"/>
            <a:r>
              <a:rPr lang="en-US" altLang="en-US" sz="1800" dirty="0" smtClean="0">
                <a:latin typeface="Helvetica" panose="020B0604020202020204" pitchFamily="34" charset="0"/>
              </a:rPr>
              <a:t>automatically memory deallocated when function returns </a:t>
            </a:r>
            <a:endParaRPr lang="en-US" altLang="en-US" sz="1800" dirty="0">
              <a:latin typeface="Helvetica" panose="020B0604020202020204" pitchFamily="34" charset="0"/>
            </a:endParaRPr>
          </a:p>
          <a:p>
            <a:pPr lvl="2"/>
            <a:endParaRPr lang="en-US" altLang="en-US" sz="1800" dirty="0">
              <a:latin typeface="Helvetica" panose="020B0604020202020204" pitchFamily="34" charset="0"/>
            </a:endParaRPr>
          </a:p>
          <a:p>
            <a:r>
              <a:rPr lang="en-US" altLang="en-US" sz="1800" dirty="0">
                <a:latin typeface="Helvetica" panose="020B0604020202020204" pitchFamily="34" charset="0"/>
              </a:rPr>
              <a:t>Object created and destroyed within its block</a:t>
            </a:r>
          </a:p>
          <a:p>
            <a:pPr>
              <a:buNone/>
            </a:pPr>
            <a:endParaRPr lang="en-US" altLang="en-US" sz="20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21225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sz="2800" dirty="0"/>
              <a:t>Ex: automatic variables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443345" y="1151282"/>
            <a:ext cx="3241964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multiply (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endParaRPr lang="en-US" altLang="en-US" sz="800" dirty="0">
              <a:latin typeface="Arial" panose="020B0604020202020204" pitchFamily="34" charset="0"/>
            </a:endParaRPr>
          </a:p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main()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{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a, b, c;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2;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b = 5;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c = multiply(</a:t>
            </a:r>
            <a:r>
              <a:rPr lang="en-US" altLang="en-US" dirty="0" err="1">
                <a:latin typeface="Arial" panose="020B0604020202020204" pitchFamily="34" charset="0"/>
              </a:rPr>
              <a:t>a,b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multiply(</a:t>
            </a:r>
            <a:r>
              <a:rPr lang="en-US" altLang="en-US" dirty="0" err="1">
                <a:latin typeface="Arial" panose="020B0604020202020204" pitchFamily="34" charset="0"/>
              </a:rPr>
              <a:t>b,c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837709" y="1751446"/>
            <a:ext cx="26323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/>
              <a:t>int</a:t>
            </a:r>
            <a:r>
              <a:rPr lang="en-US" altLang="en-US" dirty="0"/>
              <a:t> multiply (</a:t>
            </a:r>
            <a:r>
              <a:rPr lang="en-US" altLang="en-US" dirty="0" err="1"/>
              <a:t>int</a:t>
            </a:r>
            <a:r>
              <a:rPr lang="en-US" altLang="en-US" dirty="0"/>
              <a:t> x, </a:t>
            </a:r>
            <a:r>
              <a:rPr lang="en-US" altLang="en-US" dirty="0" err="1"/>
              <a:t>int</a:t>
            </a:r>
            <a:r>
              <a:rPr lang="en-US" altLang="en-US" dirty="0"/>
              <a:t> y)</a:t>
            </a:r>
          </a:p>
          <a:p>
            <a:r>
              <a:rPr lang="en-US" altLang="en-US" dirty="0"/>
              <a:t>{</a:t>
            </a:r>
          </a:p>
          <a:p>
            <a:r>
              <a:rPr lang="en-US" altLang="en-US" dirty="0"/>
              <a:t>	x = x * y;</a:t>
            </a:r>
          </a:p>
          <a:p>
            <a:r>
              <a:rPr lang="en-US" altLang="en-US" dirty="0"/>
              <a:t>	return x;</a:t>
            </a:r>
          </a:p>
          <a:p>
            <a:r>
              <a:rPr lang="en-US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5170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0036" y="2189018"/>
            <a:ext cx="734291" cy="2216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Example: call by value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443345" y="1151282"/>
            <a:ext cx="3241964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multiply (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endParaRPr lang="en-US" altLang="en-US" sz="800" dirty="0">
              <a:latin typeface="Arial" panose="020B0604020202020204" pitchFamily="34" charset="0"/>
            </a:endParaRPr>
          </a:p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main()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{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a, b, c;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2;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b = 5;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c = multiply(</a:t>
            </a:r>
            <a:r>
              <a:rPr lang="en-US" altLang="en-US" dirty="0" err="1">
                <a:latin typeface="Arial" panose="020B0604020202020204" pitchFamily="34" charset="0"/>
              </a:rPr>
              <a:t>a,b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multiply(</a:t>
            </a:r>
            <a:r>
              <a:rPr lang="en-US" altLang="en-US" dirty="0" err="1">
                <a:latin typeface="Arial" panose="020B0604020202020204" pitchFamily="34" charset="0"/>
              </a:rPr>
              <a:t>b,c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858981" y="3521162"/>
            <a:ext cx="26323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/>
              <a:t>int</a:t>
            </a:r>
            <a:r>
              <a:rPr lang="en-US" altLang="en-US" dirty="0"/>
              <a:t> multiply (</a:t>
            </a:r>
            <a:r>
              <a:rPr lang="en-US" altLang="en-US" dirty="0" err="1"/>
              <a:t>int</a:t>
            </a:r>
            <a:r>
              <a:rPr lang="en-US" altLang="en-US" dirty="0"/>
              <a:t> x, </a:t>
            </a:r>
            <a:r>
              <a:rPr lang="en-US" altLang="en-US" dirty="0" err="1"/>
              <a:t>int</a:t>
            </a:r>
            <a:r>
              <a:rPr lang="en-US" altLang="en-US" dirty="0"/>
              <a:t> y)</a:t>
            </a:r>
          </a:p>
          <a:p>
            <a:r>
              <a:rPr lang="en-US" altLang="en-US" dirty="0"/>
              <a:t>{</a:t>
            </a:r>
          </a:p>
          <a:p>
            <a:r>
              <a:rPr lang="en-US" altLang="en-US" dirty="0"/>
              <a:t>	x = x * y;</a:t>
            </a:r>
          </a:p>
          <a:p>
            <a:r>
              <a:rPr lang="en-US" altLang="en-US" dirty="0"/>
              <a:t>	return x;</a:t>
            </a:r>
          </a:p>
          <a:p>
            <a:r>
              <a:rPr lang="en-US" altLang="en-US" dirty="0"/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4471540" y="1151282"/>
            <a:ext cx="2611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Tracing the values of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1489" y="1459059"/>
            <a:ext cx="29546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</a:rPr>
              <a:t>a	b	c	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1489" y="1920724"/>
            <a:ext cx="28405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0036" y="2189018"/>
            <a:ext cx="637309" cy="221673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15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0036" y="2189018"/>
            <a:ext cx="734291" cy="2216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Example: call by value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443345" y="1151282"/>
            <a:ext cx="3241964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multiply (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endParaRPr lang="en-US" altLang="en-US" sz="800" dirty="0">
              <a:latin typeface="Arial" panose="020B0604020202020204" pitchFamily="34" charset="0"/>
            </a:endParaRPr>
          </a:p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main()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{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a, b, c;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2;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b = 5;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c = multiply(</a:t>
            </a:r>
            <a:r>
              <a:rPr lang="en-US" altLang="en-US" dirty="0" err="1">
                <a:latin typeface="Arial" panose="020B0604020202020204" pitchFamily="34" charset="0"/>
              </a:rPr>
              <a:t>a,b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multiply(</a:t>
            </a:r>
            <a:r>
              <a:rPr lang="en-US" altLang="en-US" dirty="0" err="1">
                <a:latin typeface="Arial" panose="020B0604020202020204" pitchFamily="34" charset="0"/>
              </a:rPr>
              <a:t>b,c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858981" y="3521162"/>
            <a:ext cx="26323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/>
              <a:t>int</a:t>
            </a:r>
            <a:r>
              <a:rPr lang="en-US" altLang="en-US" dirty="0"/>
              <a:t> multiply (</a:t>
            </a:r>
            <a:r>
              <a:rPr lang="en-US" altLang="en-US" dirty="0" err="1"/>
              <a:t>int</a:t>
            </a:r>
            <a:r>
              <a:rPr lang="en-US" altLang="en-US" dirty="0"/>
              <a:t> x, </a:t>
            </a:r>
            <a:r>
              <a:rPr lang="en-US" altLang="en-US" dirty="0" err="1"/>
              <a:t>int</a:t>
            </a:r>
            <a:r>
              <a:rPr lang="en-US" altLang="en-US" dirty="0"/>
              <a:t> y)</a:t>
            </a:r>
          </a:p>
          <a:p>
            <a:r>
              <a:rPr lang="en-US" altLang="en-US" dirty="0"/>
              <a:t>{</a:t>
            </a:r>
          </a:p>
          <a:p>
            <a:r>
              <a:rPr lang="en-US" altLang="en-US" dirty="0"/>
              <a:t>	x = x * y;</a:t>
            </a:r>
          </a:p>
          <a:p>
            <a:r>
              <a:rPr lang="en-US" altLang="en-US" dirty="0"/>
              <a:t>	return x;</a:t>
            </a:r>
          </a:p>
          <a:p>
            <a:r>
              <a:rPr lang="en-US" altLang="en-US" dirty="0"/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4471540" y="1151282"/>
            <a:ext cx="2611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Tracing the values of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1489" y="1459059"/>
            <a:ext cx="29546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</a:rPr>
              <a:t>a	b	c	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1489" y="1920724"/>
            <a:ext cx="28405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0036" y="2367047"/>
            <a:ext cx="637309" cy="221673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617669" y="1920724"/>
            <a:ext cx="28405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5</a:t>
            </a:r>
            <a:endParaRPr lang="en-IN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639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0036" y="2189018"/>
            <a:ext cx="734291" cy="2216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Example: call by value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443345" y="1067141"/>
            <a:ext cx="3241964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multiply (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endParaRPr lang="en-US" altLang="en-US" sz="800" dirty="0">
              <a:latin typeface="Arial" panose="020B0604020202020204" pitchFamily="34" charset="0"/>
            </a:endParaRPr>
          </a:p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main()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{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a, b, c;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2;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b = 5;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c = multiply(</a:t>
            </a:r>
            <a:r>
              <a:rPr lang="en-US" altLang="en-US" dirty="0" err="1">
                <a:latin typeface="Arial" panose="020B0604020202020204" pitchFamily="34" charset="0"/>
              </a:rPr>
              <a:t>a,b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multiply(</a:t>
            </a:r>
            <a:r>
              <a:rPr lang="en-US" altLang="en-US" dirty="0" err="1">
                <a:latin typeface="Arial" panose="020B0604020202020204" pitchFamily="34" charset="0"/>
              </a:rPr>
              <a:t>b,c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858981" y="3521162"/>
            <a:ext cx="26323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/>
              <a:t>int</a:t>
            </a:r>
            <a:r>
              <a:rPr lang="en-US" altLang="en-US" dirty="0"/>
              <a:t> multiply (</a:t>
            </a:r>
            <a:r>
              <a:rPr lang="en-US" altLang="en-US" dirty="0" err="1"/>
              <a:t>int</a:t>
            </a:r>
            <a:r>
              <a:rPr lang="en-US" altLang="en-US" dirty="0"/>
              <a:t> x, </a:t>
            </a:r>
            <a:r>
              <a:rPr lang="en-US" altLang="en-US" dirty="0" err="1"/>
              <a:t>int</a:t>
            </a:r>
            <a:r>
              <a:rPr lang="en-US" altLang="en-US" dirty="0"/>
              <a:t> y)</a:t>
            </a:r>
          </a:p>
          <a:p>
            <a:r>
              <a:rPr lang="en-US" altLang="en-US" dirty="0"/>
              <a:t>{</a:t>
            </a:r>
          </a:p>
          <a:p>
            <a:r>
              <a:rPr lang="en-US" altLang="en-US" dirty="0"/>
              <a:t>	x = x * y;</a:t>
            </a:r>
          </a:p>
          <a:p>
            <a:r>
              <a:rPr lang="en-US" altLang="en-US" dirty="0"/>
              <a:t>	return x;</a:t>
            </a:r>
          </a:p>
          <a:p>
            <a:r>
              <a:rPr lang="en-US" altLang="en-US" dirty="0"/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4471540" y="1151282"/>
            <a:ext cx="2611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Tracing the values of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1489" y="1459059"/>
            <a:ext cx="3967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</a:rPr>
              <a:t>a	b	c	</a:t>
            </a:r>
            <a:r>
              <a:rPr lang="en-US" altLang="en-US" dirty="0" smtClean="0">
                <a:latin typeface="Helvetica" panose="020B0604020202020204" pitchFamily="34" charset="0"/>
              </a:rPr>
              <a:t> x</a:t>
            </a:r>
            <a:r>
              <a:rPr lang="en-US" altLang="en-US" dirty="0">
                <a:latin typeface="Helvetica" panose="020B0604020202020204" pitchFamily="34" charset="0"/>
              </a:rPr>
              <a:t>	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1489" y="1920724"/>
            <a:ext cx="28405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57745" y="2501032"/>
            <a:ext cx="1475510" cy="24938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617669" y="1920724"/>
            <a:ext cx="28405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5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64118" y="1890934"/>
            <a:ext cx="28405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5190" y="1890934"/>
            <a:ext cx="28405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5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8981" y="3521162"/>
            <a:ext cx="1974274" cy="24072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 14"/>
          <p:cNvSpPr/>
          <p:nvPr/>
        </p:nvSpPr>
        <p:spPr bwMode="auto">
          <a:xfrm rot="21145190">
            <a:off x="2784690" y="2656970"/>
            <a:ext cx="676789" cy="935557"/>
          </a:xfrm>
          <a:custGeom>
            <a:avLst/>
            <a:gdLst>
              <a:gd name="connsiteX0" fmla="*/ 133350 w 696517"/>
              <a:gd name="connsiteY0" fmla="*/ 0 h 1371600"/>
              <a:gd name="connsiteX1" fmla="*/ 695325 w 696517"/>
              <a:gd name="connsiteY1" fmla="*/ 657225 h 1371600"/>
              <a:gd name="connsiteX2" fmla="*/ 0 w 696517"/>
              <a:gd name="connsiteY2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6517" h="1371600">
                <a:moveTo>
                  <a:pt x="133350" y="0"/>
                </a:moveTo>
                <a:cubicBezTo>
                  <a:pt x="425450" y="214312"/>
                  <a:pt x="717550" y="428625"/>
                  <a:pt x="695325" y="657225"/>
                </a:cubicBezTo>
                <a:cubicBezTo>
                  <a:pt x="673100" y="885825"/>
                  <a:pt x="336550" y="1128712"/>
                  <a:pt x="0" y="137160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58805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0036" y="2189018"/>
            <a:ext cx="734291" cy="2216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Example: call by value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443345" y="1067141"/>
            <a:ext cx="3241964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multiply (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endParaRPr lang="en-US" altLang="en-US" sz="800" dirty="0">
              <a:latin typeface="Arial" panose="020B0604020202020204" pitchFamily="34" charset="0"/>
            </a:endParaRPr>
          </a:p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main()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{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a, b, c;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2;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b = 5;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c = multiply(</a:t>
            </a:r>
            <a:r>
              <a:rPr lang="en-US" altLang="en-US" dirty="0" err="1">
                <a:latin typeface="Arial" panose="020B0604020202020204" pitchFamily="34" charset="0"/>
              </a:rPr>
              <a:t>a,b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multiply(</a:t>
            </a:r>
            <a:r>
              <a:rPr lang="en-US" altLang="en-US" dirty="0" err="1">
                <a:latin typeface="Arial" panose="020B0604020202020204" pitchFamily="34" charset="0"/>
              </a:rPr>
              <a:t>b,c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858981" y="3521162"/>
            <a:ext cx="26323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/>
              <a:t>int</a:t>
            </a:r>
            <a:r>
              <a:rPr lang="en-US" altLang="en-US" dirty="0"/>
              <a:t> multiply (</a:t>
            </a:r>
            <a:r>
              <a:rPr lang="en-US" altLang="en-US" dirty="0" err="1"/>
              <a:t>int</a:t>
            </a:r>
            <a:r>
              <a:rPr lang="en-US" altLang="en-US" dirty="0"/>
              <a:t> x, </a:t>
            </a:r>
            <a:r>
              <a:rPr lang="en-US" altLang="en-US" dirty="0" err="1"/>
              <a:t>int</a:t>
            </a:r>
            <a:r>
              <a:rPr lang="en-US" altLang="en-US" dirty="0"/>
              <a:t> y)</a:t>
            </a:r>
          </a:p>
          <a:p>
            <a:r>
              <a:rPr lang="en-US" altLang="en-US" dirty="0"/>
              <a:t>{</a:t>
            </a:r>
          </a:p>
          <a:p>
            <a:r>
              <a:rPr lang="en-US" altLang="en-US" dirty="0"/>
              <a:t>	x = x * y;</a:t>
            </a:r>
          </a:p>
          <a:p>
            <a:r>
              <a:rPr lang="en-US" altLang="en-US" dirty="0"/>
              <a:t>	return x;</a:t>
            </a:r>
          </a:p>
          <a:p>
            <a:r>
              <a:rPr lang="en-US" altLang="en-US" dirty="0"/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4471540" y="1151282"/>
            <a:ext cx="2611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Tracing the values of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1489" y="1459059"/>
            <a:ext cx="3967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</a:rPr>
              <a:t>a	b	c	</a:t>
            </a:r>
            <a:r>
              <a:rPr lang="en-US" altLang="en-US" dirty="0" smtClean="0">
                <a:latin typeface="Helvetica" panose="020B0604020202020204" pitchFamily="34" charset="0"/>
              </a:rPr>
              <a:t> x</a:t>
            </a:r>
            <a:r>
              <a:rPr lang="en-US" altLang="en-US" dirty="0">
                <a:latin typeface="Helvetica" panose="020B0604020202020204" pitchFamily="34" charset="0"/>
              </a:rPr>
              <a:t>	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1489" y="1920724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17669" y="1920724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5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64118" y="1890934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trike="sngStrike" dirty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5190" y="1890934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5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30036" y="3946770"/>
            <a:ext cx="1974274" cy="24072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423629" y="2320922"/>
            <a:ext cx="383438" cy="307777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3950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0036" y="2189018"/>
            <a:ext cx="734291" cy="2216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Example: call by value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443345" y="1067141"/>
            <a:ext cx="3241964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multiply (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endParaRPr lang="en-US" altLang="en-US" sz="800" dirty="0">
              <a:latin typeface="Arial" panose="020B0604020202020204" pitchFamily="34" charset="0"/>
            </a:endParaRPr>
          </a:p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main()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{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a, b, c;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2;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b = 5;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c = multiply(</a:t>
            </a:r>
            <a:r>
              <a:rPr lang="en-US" altLang="en-US" dirty="0" err="1">
                <a:latin typeface="Arial" panose="020B0604020202020204" pitchFamily="34" charset="0"/>
              </a:rPr>
              <a:t>a,b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multiply(</a:t>
            </a:r>
            <a:r>
              <a:rPr lang="en-US" altLang="en-US" dirty="0" err="1">
                <a:latin typeface="Arial" panose="020B0604020202020204" pitchFamily="34" charset="0"/>
              </a:rPr>
              <a:t>b,c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820881" y="3521162"/>
            <a:ext cx="26323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/>
              <a:t>int</a:t>
            </a:r>
            <a:r>
              <a:rPr lang="en-US" altLang="en-US" dirty="0"/>
              <a:t> multiply (</a:t>
            </a:r>
            <a:r>
              <a:rPr lang="en-US" altLang="en-US" dirty="0" err="1"/>
              <a:t>int</a:t>
            </a:r>
            <a:r>
              <a:rPr lang="en-US" altLang="en-US" dirty="0"/>
              <a:t> x, </a:t>
            </a:r>
            <a:r>
              <a:rPr lang="en-US" altLang="en-US" dirty="0" err="1"/>
              <a:t>int</a:t>
            </a:r>
            <a:r>
              <a:rPr lang="en-US" altLang="en-US" dirty="0"/>
              <a:t> y)</a:t>
            </a:r>
          </a:p>
          <a:p>
            <a:r>
              <a:rPr lang="en-US" altLang="en-US" dirty="0"/>
              <a:t>{</a:t>
            </a:r>
          </a:p>
          <a:p>
            <a:r>
              <a:rPr lang="en-US" altLang="en-US" dirty="0"/>
              <a:t>	x = x * y;</a:t>
            </a:r>
          </a:p>
          <a:p>
            <a:r>
              <a:rPr lang="en-US" altLang="en-US" dirty="0"/>
              <a:t>	return x;</a:t>
            </a:r>
          </a:p>
          <a:p>
            <a:r>
              <a:rPr lang="en-US" altLang="en-US" dirty="0"/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4471540" y="1151282"/>
            <a:ext cx="2611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Tracing the values of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1489" y="1459059"/>
            <a:ext cx="3967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</a:rPr>
              <a:t>a	b	c	</a:t>
            </a:r>
            <a:r>
              <a:rPr lang="en-US" altLang="en-US" dirty="0" smtClean="0">
                <a:latin typeface="Helvetica" panose="020B0604020202020204" pitchFamily="34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</a:rPr>
              <a:t>	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1489" y="1920724"/>
            <a:ext cx="28405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57745" y="2501032"/>
            <a:ext cx="1475510" cy="24938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617669" y="1920724"/>
            <a:ext cx="28405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5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16181" y="4184305"/>
            <a:ext cx="1974274" cy="24072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0"/>
          <p:cNvSpPr txBox="1"/>
          <p:nvPr/>
        </p:nvSpPr>
        <p:spPr>
          <a:xfrm>
            <a:off x="6434543" y="1920723"/>
            <a:ext cx="401644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400" dirty="0">
                <a:solidFill>
                  <a:srgbClr val="000000"/>
                </a:solidFill>
                <a:latin typeface="Helvetica" panose="020B0604020202020204" pitchFamily="34" charset="0"/>
                <a:ea typeface="Arial"/>
                <a:cs typeface="Arial"/>
              </a:rPr>
              <a:t>10</a:t>
            </a:r>
          </a:p>
        </p:txBody>
      </p:sp>
      <p:sp>
        <p:nvSpPr>
          <p:cNvPr id="17" name="Freeform 16"/>
          <p:cNvSpPr/>
          <p:nvPr/>
        </p:nvSpPr>
        <p:spPr bwMode="auto">
          <a:xfrm rot="20688793">
            <a:off x="3015283" y="2497264"/>
            <a:ext cx="794529" cy="1662643"/>
          </a:xfrm>
          <a:custGeom>
            <a:avLst/>
            <a:gdLst>
              <a:gd name="connsiteX0" fmla="*/ 0 w 952516"/>
              <a:gd name="connsiteY0" fmla="*/ 2314575 h 2314575"/>
              <a:gd name="connsiteX1" fmla="*/ 952500 w 952516"/>
              <a:gd name="connsiteY1" fmla="*/ 1143000 h 2314575"/>
              <a:gd name="connsiteX2" fmla="*/ 19050 w 952516"/>
              <a:gd name="connsiteY2" fmla="*/ 0 h 2314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16" h="2314575">
                <a:moveTo>
                  <a:pt x="0" y="2314575"/>
                </a:moveTo>
                <a:cubicBezTo>
                  <a:pt x="474662" y="1921668"/>
                  <a:pt x="949325" y="1528762"/>
                  <a:pt x="952500" y="1143000"/>
                </a:cubicBezTo>
                <a:cubicBezTo>
                  <a:pt x="955675" y="757238"/>
                  <a:pt x="487362" y="378619"/>
                  <a:pt x="19050" y="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5871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0036" y="2189018"/>
            <a:ext cx="734291" cy="2216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Example: call by value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443345" y="1067141"/>
            <a:ext cx="3241964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multiply (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endParaRPr lang="en-US" altLang="en-US" sz="800" dirty="0">
              <a:latin typeface="Arial" panose="020B0604020202020204" pitchFamily="34" charset="0"/>
            </a:endParaRPr>
          </a:p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main()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{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a, b, c;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2;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b = 5;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c = multiply(</a:t>
            </a:r>
            <a:r>
              <a:rPr lang="en-US" altLang="en-US" dirty="0" err="1">
                <a:latin typeface="Arial" panose="020B0604020202020204" pitchFamily="34" charset="0"/>
              </a:rPr>
              <a:t>a,b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multiply(</a:t>
            </a:r>
            <a:r>
              <a:rPr lang="en-US" altLang="en-US" dirty="0" err="1">
                <a:latin typeface="Arial" panose="020B0604020202020204" pitchFamily="34" charset="0"/>
              </a:rPr>
              <a:t>b,c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858981" y="3521162"/>
            <a:ext cx="26323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/>
              <a:t>int</a:t>
            </a:r>
            <a:r>
              <a:rPr lang="en-US" altLang="en-US" dirty="0"/>
              <a:t> multiply (</a:t>
            </a:r>
            <a:r>
              <a:rPr lang="en-US" altLang="en-US" dirty="0" err="1"/>
              <a:t>int</a:t>
            </a:r>
            <a:r>
              <a:rPr lang="en-US" altLang="en-US" dirty="0"/>
              <a:t> x, </a:t>
            </a:r>
            <a:r>
              <a:rPr lang="en-US" altLang="en-US" dirty="0" err="1"/>
              <a:t>int</a:t>
            </a:r>
            <a:r>
              <a:rPr lang="en-US" altLang="en-US" dirty="0"/>
              <a:t> y)</a:t>
            </a:r>
          </a:p>
          <a:p>
            <a:r>
              <a:rPr lang="en-US" altLang="en-US" dirty="0"/>
              <a:t>{</a:t>
            </a:r>
          </a:p>
          <a:p>
            <a:r>
              <a:rPr lang="en-US" altLang="en-US" dirty="0"/>
              <a:t>	x = x * y;</a:t>
            </a:r>
          </a:p>
          <a:p>
            <a:r>
              <a:rPr lang="en-US" altLang="en-US" dirty="0"/>
              <a:t>	return x;</a:t>
            </a:r>
          </a:p>
          <a:p>
            <a:r>
              <a:rPr lang="en-US" altLang="en-US" dirty="0"/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4471540" y="1151282"/>
            <a:ext cx="2611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Tracing the values of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1489" y="1459059"/>
            <a:ext cx="3967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</a:rPr>
              <a:t>a	b	c	</a:t>
            </a:r>
            <a:r>
              <a:rPr lang="en-US" altLang="en-US" dirty="0" smtClean="0">
                <a:latin typeface="Helvetica" panose="020B0604020202020204" pitchFamily="34" charset="0"/>
              </a:rPr>
              <a:t> x</a:t>
            </a:r>
            <a:r>
              <a:rPr lang="en-US" altLang="en-US" dirty="0">
                <a:latin typeface="Helvetica" panose="020B0604020202020204" pitchFamily="34" charset="0"/>
              </a:rPr>
              <a:t>	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1489" y="1920724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57745" y="2729919"/>
            <a:ext cx="1475510" cy="24938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617669" y="1920724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5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443075" y="1944305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5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8981" y="3521162"/>
            <a:ext cx="1974274" cy="24072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 14"/>
          <p:cNvSpPr/>
          <p:nvPr/>
        </p:nvSpPr>
        <p:spPr bwMode="auto">
          <a:xfrm rot="21145190">
            <a:off x="2797107" y="2844417"/>
            <a:ext cx="676789" cy="747288"/>
          </a:xfrm>
          <a:custGeom>
            <a:avLst/>
            <a:gdLst>
              <a:gd name="connsiteX0" fmla="*/ 133350 w 696517"/>
              <a:gd name="connsiteY0" fmla="*/ 0 h 1371600"/>
              <a:gd name="connsiteX1" fmla="*/ 695325 w 696517"/>
              <a:gd name="connsiteY1" fmla="*/ 657225 h 1371600"/>
              <a:gd name="connsiteX2" fmla="*/ 0 w 696517"/>
              <a:gd name="connsiteY2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6517" h="1371600">
                <a:moveTo>
                  <a:pt x="133350" y="0"/>
                </a:moveTo>
                <a:cubicBezTo>
                  <a:pt x="425450" y="214312"/>
                  <a:pt x="717550" y="428625"/>
                  <a:pt x="695325" y="657225"/>
                </a:cubicBezTo>
                <a:cubicBezTo>
                  <a:pt x="673100" y="885825"/>
                  <a:pt x="336550" y="1128712"/>
                  <a:pt x="0" y="137160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ea typeface="ＭＳ Ｐゴシック" pitchFamily="48" charset="-12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43646" y="1944304"/>
            <a:ext cx="3834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10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14761" y="1944304"/>
            <a:ext cx="3834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10</a:t>
            </a:r>
            <a:endParaRPr lang="en-IN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901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0036" y="2189018"/>
            <a:ext cx="734291" cy="2216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Example: call by value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443345" y="1067141"/>
            <a:ext cx="3241964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multiply (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endParaRPr lang="en-US" altLang="en-US" sz="800" dirty="0">
              <a:latin typeface="Arial" panose="020B0604020202020204" pitchFamily="34" charset="0"/>
            </a:endParaRPr>
          </a:p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main()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{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a, b, c;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2;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b = 5;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c = multiply(</a:t>
            </a:r>
            <a:r>
              <a:rPr lang="en-US" altLang="en-US" dirty="0" err="1">
                <a:latin typeface="Arial" panose="020B0604020202020204" pitchFamily="34" charset="0"/>
              </a:rPr>
              <a:t>a,b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multiply(</a:t>
            </a:r>
            <a:r>
              <a:rPr lang="en-US" altLang="en-US" dirty="0" err="1">
                <a:latin typeface="Arial" panose="020B0604020202020204" pitchFamily="34" charset="0"/>
              </a:rPr>
              <a:t>b,c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858981" y="3521162"/>
            <a:ext cx="26323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/>
              <a:t>int</a:t>
            </a:r>
            <a:r>
              <a:rPr lang="en-US" altLang="en-US" dirty="0"/>
              <a:t> multiply (</a:t>
            </a:r>
            <a:r>
              <a:rPr lang="en-US" altLang="en-US" dirty="0" err="1"/>
              <a:t>int</a:t>
            </a:r>
            <a:r>
              <a:rPr lang="en-US" altLang="en-US" dirty="0"/>
              <a:t> x, </a:t>
            </a:r>
            <a:r>
              <a:rPr lang="en-US" altLang="en-US" dirty="0" err="1"/>
              <a:t>int</a:t>
            </a:r>
            <a:r>
              <a:rPr lang="en-US" altLang="en-US" dirty="0"/>
              <a:t> y)</a:t>
            </a:r>
          </a:p>
          <a:p>
            <a:r>
              <a:rPr lang="en-US" altLang="en-US" dirty="0"/>
              <a:t>{</a:t>
            </a:r>
          </a:p>
          <a:p>
            <a:r>
              <a:rPr lang="en-US" altLang="en-US" dirty="0"/>
              <a:t>	x = x * y;</a:t>
            </a:r>
          </a:p>
          <a:p>
            <a:r>
              <a:rPr lang="en-US" altLang="en-US" dirty="0"/>
              <a:t>	return x;</a:t>
            </a:r>
          </a:p>
          <a:p>
            <a:r>
              <a:rPr lang="en-US" altLang="en-US" dirty="0"/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4471540" y="1151282"/>
            <a:ext cx="2611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Tracing the values of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1489" y="1459059"/>
            <a:ext cx="3967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</a:rPr>
              <a:t>a	b	c	</a:t>
            </a:r>
            <a:r>
              <a:rPr lang="en-US" altLang="en-US" dirty="0" smtClean="0">
                <a:latin typeface="Helvetica" panose="020B0604020202020204" pitchFamily="34" charset="0"/>
              </a:rPr>
              <a:t> x</a:t>
            </a:r>
            <a:r>
              <a:rPr lang="en-US" altLang="en-US" dirty="0">
                <a:latin typeface="Helvetica" panose="020B0604020202020204" pitchFamily="34" charset="0"/>
              </a:rPr>
              <a:t>	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1489" y="1920724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17669" y="1920724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5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424665" y="1907207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trike="sngStrike" dirty="0" smtClean="0">
                <a:latin typeface="Helvetica" panose="020B0604020202020204" pitchFamily="34" charset="0"/>
              </a:rPr>
              <a:t>5</a:t>
            </a:r>
            <a:endParaRPr lang="en-IN" strike="sngStrike" dirty="0">
              <a:latin typeface="Helvetica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88026" y="3985576"/>
            <a:ext cx="1974274" cy="24072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6392130" y="1917973"/>
            <a:ext cx="3834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10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58310" y="2344395"/>
            <a:ext cx="383438" cy="307777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Helvetica" panose="020B0604020202020204" pitchFamily="34" charset="0"/>
              </a:rPr>
              <a:t>5</a:t>
            </a:r>
            <a:r>
              <a:rPr lang="en-US" dirty="0" smtClean="0">
                <a:latin typeface="Helvetica" panose="020B0604020202020204" pitchFamily="34" charset="0"/>
              </a:rPr>
              <a:t>0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35959" y="1881241"/>
            <a:ext cx="3834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10</a:t>
            </a:r>
            <a:endParaRPr lang="en-IN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285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0036" y="2189018"/>
            <a:ext cx="734291" cy="2216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699" y="88000"/>
            <a:ext cx="7294445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sz="2800" dirty="0"/>
              <a:t>Example: call by value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443345" y="1067141"/>
            <a:ext cx="3241964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multiply (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endParaRPr lang="en-US" altLang="en-US" sz="800" dirty="0">
              <a:latin typeface="Arial" panose="020B0604020202020204" pitchFamily="34" charset="0"/>
            </a:endParaRPr>
          </a:p>
          <a:p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main()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{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a, b, c;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2;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b = 5;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c = multiply(</a:t>
            </a:r>
            <a:r>
              <a:rPr lang="en-US" altLang="en-US" dirty="0" err="1">
                <a:latin typeface="Arial" panose="020B0604020202020204" pitchFamily="34" charset="0"/>
              </a:rPr>
              <a:t>a,b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a = multiply(</a:t>
            </a:r>
            <a:r>
              <a:rPr lang="en-US" altLang="en-US" dirty="0" err="1">
                <a:latin typeface="Arial" panose="020B0604020202020204" pitchFamily="34" charset="0"/>
              </a:rPr>
              <a:t>b,c</a:t>
            </a:r>
            <a:r>
              <a:rPr lang="en-US" altLang="en-US" dirty="0">
                <a:latin typeface="Arial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858981" y="3521162"/>
            <a:ext cx="26323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/>
              <a:t>int</a:t>
            </a:r>
            <a:r>
              <a:rPr lang="en-US" altLang="en-US" dirty="0"/>
              <a:t> multiply (</a:t>
            </a:r>
            <a:r>
              <a:rPr lang="en-US" altLang="en-US" dirty="0" err="1"/>
              <a:t>int</a:t>
            </a:r>
            <a:r>
              <a:rPr lang="en-US" altLang="en-US" dirty="0"/>
              <a:t> x, </a:t>
            </a:r>
            <a:r>
              <a:rPr lang="en-US" altLang="en-US" dirty="0" err="1"/>
              <a:t>int</a:t>
            </a:r>
            <a:r>
              <a:rPr lang="en-US" altLang="en-US" dirty="0"/>
              <a:t> y)</a:t>
            </a:r>
          </a:p>
          <a:p>
            <a:r>
              <a:rPr lang="en-US" altLang="en-US" dirty="0"/>
              <a:t>{</a:t>
            </a:r>
          </a:p>
          <a:p>
            <a:r>
              <a:rPr lang="en-US" altLang="en-US" dirty="0"/>
              <a:t>	x = x * y;</a:t>
            </a:r>
          </a:p>
          <a:p>
            <a:r>
              <a:rPr lang="en-US" altLang="en-US" dirty="0"/>
              <a:t>	return x;</a:t>
            </a:r>
          </a:p>
          <a:p>
            <a:r>
              <a:rPr lang="en-US" altLang="en-US" dirty="0"/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4471540" y="1151282"/>
            <a:ext cx="2611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Tracing the values of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1489" y="1459059"/>
            <a:ext cx="3967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</a:rPr>
              <a:t>a	b	c	</a:t>
            </a:r>
            <a:r>
              <a:rPr lang="en-US" altLang="en-US" dirty="0" smtClean="0">
                <a:latin typeface="Helvetica" panose="020B0604020202020204" pitchFamily="34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</a:rPr>
              <a:t>	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1489" y="1900660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trike="sngStrike" dirty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57745" y="2729919"/>
            <a:ext cx="1475510" cy="24938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617669" y="1920724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5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61226" y="4146592"/>
            <a:ext cx="1997609" cy="314571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6443646" y="1900659"/>
            <a:ext cx="3834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>
                <a:latin typeface="Helvetica" panose="020B0604020202020204" pitchFamily="34" charset="0"/>
              </a:rPr>
              <a:t>10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54969" y="2422142"/>
            <a:ext cx="383438" cy="307777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Helvetica" panose="020B0604020202020204" pitchFamily="34" charset="0"/>
              </a:rPr>
              <a:t>5</a:t>
            </a:r>
            <a:r>
              <a:rPr lang="en-US" dirty="0" smtClean="0">
                <a:latin typeface="Helvetica" panose="020B0604020202020204" pitchFamily="34" charset="0"/>
              </a:rPr>
              <a:t>0</a:t>
            </a:r>
            <a:endParaRPr lang="en-IN" dirty="0">
              <a:latin typeface="Helvetica" panose="020B0604020202020204" pitchFamily="34" charset="0"/>
            </a:endParaRPr>
          </a:p>
        </p:txBody>
      </p:sp>
      <p:sp>
        <p:nvSpPr>
          <p:cNvPr id="19" name="Freeform 18"/>
          <p:cNvSpPr/>
          <p:nvPr/>
        </p:nvSpPr>
        <p:spPr bwMode="auto">
          <a:xfrm rot="20896394">
            <a:off x="2989560" y="2715050"/>
            <a:ext cx="721865" cy="1612225"/>
          </a:xfrm>
          <a:custGeom>
            <a:avLst/>
            <a:gdLst>
              <a:gd name="connsiteX0" fmla="*/ 0 w 952516"/>
              <a:gd name="connsiteY0" fmla="*/ 2314575 h 2314575"/>
              <a:gd name="connsiteX1" fmla="*/ 952500 w 952516"/>
              <a:gd name="connsiteY1" fmla="*/ 1143000 h 2314575"/>
              <a:gd name="connsiteX2" fmla="*/ 19050 w 952516"/>
              <a:gd name="connsiteY2" fmla="*/ 0 h 2314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16" h="2314575">
                <a:moveTo>
                  <a:pt x="0" y="2314575"/>
                </a:moveTo>
                <a:cubicBezTo>
                  <a:pt x="474662" y="1921668"/>
                  <a:pt x="949325" y="1528762"/>
                  <a:pt x="952500" y="1143000"/>
                </a:cubicBezTo>
                <a:cubicBezTo>
                  <a:pt x="955675" y="757238"/>
                  <a:pt x="487362" y="378619"/>
                  <a:pt x="19050" y="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0607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034278" cy="33603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1600" dirty="0"/>
              <a:t>Recall that a function can have either one return value or no return </a:t>
            </a:r>
            <a:r>
              <a:rPr lang="en-US" altLang="en-US" sz="1600" dirty="0" smtClean="0"/>
              <a:t>value</a:t>
            </a:r>
          </a:p>
          <a:p>
            <a:pPr algn="just">
              <a:lnSpc>
                <a:spcPct val="90000"/>
              </a:lnSpc>
            </a:pPr>
            <a:endParaRPr lang="en-US" altLang="en-US" sz="1600" dirty="0"/>
          </a:p>
          <a:p>
            <a:pPr algn="just">
              <a:lnSpc>
                <a:spcPct val="90000"/>
              </a:lnSpc>
            </a:pPr>
            <a:endParaRPr lang="en-US" altLang="en-US" sz="1600" dirty="0" smtClean="0"/>
          </a:p>
          <a:p>
            <a:pPr algn="just">
              <a:lnSpc>
                <a:spcPct val="90000"/>
              </a:lnSpc>
            </a:pPr>
            <a:endParaRPr lang="en-US" altLang="en-US" sz="1600" dirty="0"/>
          </a:p>
          <a:p>
            <a:pPr algn="just">
              <a:lnSpc>
                <a:spcPct val="90000"/>
              </a:lnSpc>
            </a:pPr>
            <a:endParaRPr lang="en-US" altLang="en-US" sz="800" dirty="0"/>
          </a:p>
          <a:p>
            <a:pPr algn="just">
              <a:lnSpc>
                <a:spcPct val="90000"/>
              </a:lnSpc>
            </a:pPr>
            <a:r>
              <a:rPr lang="en-US" altLang="en-US" sz="1600" dirty="0" smtClean="0"/>
              <a:t>Want </a:t>
            </a:r>
            <a:r>
              <a:rPr lang="en-US" altLang="en-US" sz="1600" dirty="0"/>
              <a:t>a function’s action to affect more than one </a:t>
            </a:r>
            <a:r>
              <a:rPr lang="en-US" altLang="en-US" sz="1600" dirty="0" smtClean="0"/>
              <a:t>variable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1400" dirty="0" smtClean="0"/>
              <a:t>Can’t </a:t>
            </a:r>
            <a:r>
              <a:rPr lang="en-US" altLang="en-US" sz="1400" dirty="0"/>
              <a:t>achieve this goal using return value alone – remember, our options are one or none</a:t>
            </a:r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Limitations of call by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71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7"/>
            <a:ext cx="7917900" cy="3454479"/>
          </a:xfrm>
        </p:spPr>
        <p:txBody>
          <a:bodyPr/>
          <a:lstStyle/>
          <a:p>
            <a:r>
              <a:rPr lang="en-US" altLang="en-US" dirty="0"/>
              <a:t>W</a:t>
            </a:r>
            <a:r>
              <a:rPr lang="en-US" altLang="en-US" dirty="0">
                <a:latin typeface="Arial" panose="020B0604020202020204" pitchFamily="34" charset="0"/>
              </a:rPr>
              <a:t>rite a function that swaps two values: that is, value a is replaced by value b, and value b is replaced by the original value of a</a:t>
            </a:r>
            <a:r>
              <a:rPr lang="en-US" altLang="en-US" sz="1200" dirty="0">
                <a:latin typeface="Arial" panose="020B0604020202020204" pitchFamily="34" charset="0"/>
              </a:rPr>
              <a:t>.  </a:t>
            </a:r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Ex: Swap 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432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705765" y="1696517"/>
            <a:ext cx="4270500" cy="3360300"/>
          </a:xfrm>
        </p:spPr>
        <p:txBody>
          <a:bodyPr/>
          <a:lstStyle/>
          <a:p>
            <a:pPr marL="133350" indent="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void swap (</a:t>
            </a:r>
            <a:r>
              <a:rPr lang="en-US" altLang="en-US" dirty="0" err="1" smtClean="0">
                <a:latin typeface="Helvetica" panose="020B0604020202020204" pitchFamily="34" charset="0"/>
              </a:rPr>
              <a:t>int</a:t>
            </a:r>
            <a:r>
              <a:rPr lang="en-US" altLang="en-US" dirty="0" smtClean="0">
                <a:latin typeface="Helvetica" panose="020B0604020202020204" pitchFamily="34" charset="0"/>
              </a:rPr>
              <a:t> x, </a:t>
            </a:r>
            <a:r>
              <a:rPr lang="en-US" altLang="en-US" dirty="0" err="1" smtClean="0">
                <a:latin typeface="Helvetica" panose="020B0604020202020204" pitchFamily="34" charset="0"/>
              </a:rPr>
              <a:t>int</a:t>
            </a:r>
            <a:r>
              <a:rPr lang="en-US" altLang="en-US" dirty="0" smtClean="0">
                <a:latin typeface="Helvetica" panose="020B0604020202020204" pitchFamily="34" charset="0"/>
              </a:rPr>
              <a:t> y)</a:t>
            </a:r>
          </a:p>
          <a:p>
            <a:pPr marL="133350" indent="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{</a:t>
            </a:r>
          </a:p>
          <a:p>
            <a:pPr marL="133350" indent="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	</a:t>
            </a:r>
            <a:r>
              <a:rPr lang="en-US" altLang="en-US" dirty="0" err="1" smtClean="0">
                <a:latin typeface="Helvetica" panose="020B0604020202020204" pitchFamily="34" charset="0"/>
              </a:rPr>
              <a:t>int</a:t>
            </a:r>
            <a:r>
              <a:rPr lang="en-US" altLang="en-US" dirty="0" smtClean="0">
                <a:latin typeface="Helvetica" panose="020B0604020202020204" pitchFamily="34" charset="0"/>
              </a:rPr>
              <a:t> </a:t>
            </a:r>
            <a:r>
              <a:rPr lang="en-US" altLang="en-US" dirty="0" err="1" smtClean="0">
                <a:latin typeface="Helvetica" panose="020B0604020202020204" pitchFamily="34" charset="0"/>
              </a:rPr>
              <a:t>tmp</a:t>
            </a:r>
            <a:r>
              <a:rPr lang="en-US" altLang="en-US" dirty="0" smtClean="0">
                <a:latin typeface="Helvetica" panose="020B0604020202020204" pitchFamily="34" charset="0"/>
              </a:rPr>
              <a:t> = x;</a:t>
            </a:r>
          </a:p>
          <a:p>
            <a:pPr marL="133350" indent="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	x = y;</a:t>
            </a:r>
          </a:p>
          <a:p>
            <a:pPr marL="133350" indent="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	y = </a:t>
            </a:r>
            <a:r>
              <a:rPr lang="en-US" altLang="en-US" dirty="0" err="1" smtClean="0">
                <a:latin typeface="Helvetica" panose="020B0604020202020204" pitchFamily="34" charset="0"/>
              </a:rPr>
              <a:t>tmp</a:t>
            </a:r>
            <a:r>
              <a:rPr lang="en-US" altLang="en-US" dirty="0" smtClean="0">
                <a:latin typeface="Helvetica" panose="020B0604020202020204" pitchFamily="34" charset="0"/>
              </a:rPr>
              <a:t>;</a:t>
            </a:r>
          </a:p>
          <a:p>
            <a:pPr marL="133350" indent="0">
              <a:buNone/>
            </a:pPr>
            <a:r>
              <a:rPr lang="en-US" altLang="en-US" dirty="0" smtClean="0">
                <a:latin typeface="Helvetica" panose="020B0604020202020204" pitchFamily="34" charset="0"/>
              </a:rPr>
              <a:t>}</a:t>
            </a:r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7178067" cy="793500"/>
          </a:xfrm>
        </p:spPr>
        <p:txBody>
          <a:bodyPr/>
          <a:lstStyle/>
          <a:p>
            <a:r>
              <a:rPr lang="en-IN" dirty="0"/>
              <a:t>Ex: Swap function</a:t>
            </a:r>
          </a:p>
        </p:txBody>
      </p:sp>
    </p:spTree>
    <p:extLst>
      <p:ext uri="{BB962C8B-B14F-4D97-AF65-F5344CB8AC3E}">
        <p14:creationId xmlns:p14="http://schemas.microsoft.com/office/powerpoint/2010/main" val="125924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7917900" cy="3360300"/>
          </a:xfrm>
        </p:spPr>
        <p:txBody>
          <a:bodyPr/>
          <a:lstStyle/>
          <a:p>
            <a:r>
              <a:rPr lang="en-US" altLang="en-US" dirty="0"/>
              <a:t>W</a:t>
            </a:r>
            <a:r>
              <a:rPr lang="en-US" altLang="en-US" dirty="0">
                <a:latin typeface="Arial" panose="020B0604020202020204" pitchFamily="34" charset="0"/>
              </a:rPr>
              <a:t>rite a function that swaps two values: that is, value a is replaced by value b, and value b is replaced by the original value of a</a:t>
            </a:r>
            <a:r>
              <a:rPr lang="en-US" altLang="en-US" sz="1200" dirty="0">
                <a:latin typeface="Arial" panose="020B0604020202020204" pitchFamily="34" charset="0"/>
              </a:rPr>
              <a:t>.  </a:t>
            </a:r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Ex: Swap function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831272" y="2013631"/>
            <a:ext cx="270163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>
                <a:latin typeface="Helvetica" panose="020B0604020202020204" pitchFamily="34" charset="0"/>
              </a:rPr>
              <a:t>int</a:t>
            </a:r>
            <a:r>
              <a:rPr lang="en-US" altLang="en-US" dirty="0">
                <a:latin typeface="Helvetica" panose="020B0604020202020204" pitchFamily="34" charset="0"/>
              </a:rPr>
              <a:t> main(void)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{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   </a:t>
            </a:r>
            <a:r>
              <a:rPr lang="en-US" altLang="en-US" dirty="0" err="1">
                <a:latin typeface="Helvetica" panose="020B0604020202020204" pitchFamily="34" charset="0"/>
              </a:rPr>
              <a:t>int</a:t>
            </a:r>
            <a:r>
              <a:rPr lang="en-US" altLang="en-US" dirty="0">
                <a:latin typeface="Helvetica" panose="020B0604020202020204" pitchFamily="34" charset="0"/>
              </a:rPr>
              <a:t> </a:t>
            </a:r>
            <a:r>
              <a:rPr lang="en-US" altLang="en-US" dirty="0" smtClean="0">
                <a:latin typeface="Helvetica" panose="020B0604020202020204" pitchFamily="34" charset="0"/>
              </a:rPr>
              <a:t>a=5, b=10;</a:t>
            </a:r>
            <a:endParaRPr lang="en-US" altLang="en-US" dirty="0">
              <a:latin typeface="Helvetica" panose="020B0604020202020204" pitchFamily="34" charset="0"/>
            </a:endParaRPr>
          </a:p>
          <a:p>
            <a:r>
              <a:rPr lang="en-US" altLang="en-US" dirty="0">
                <a:latin typeface="Helvetica" panose="020B0604020202020204" pitchFamily="34" charset="0"/>
              </a:rPr>
              <a:t>   </a:t>
            </a:r>
            <a:r>
              <a:rPr lang="en-US" altLang="en-US" dirty="0" err="1">
                <a:latin typeface="Helvetica" panose="020B0604020202020204" pitchFamily="34" charset="0"/>
              </a:rPr>
              <a:t>printf</a:t>
            </a:r>
            <a:r>
              <a:rPr lang="en-US" altLang="en-US" dirty="0">
                <a:latin typeface="Helvetica" panose="020B0604020202020204" pitchFamily="34" charset="0"/>
              </a:rPr>
              <a:t>(“Before swap:”);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   </a:t>
            </a:r>
            <a:r>
              <a:rPr lang="en-US" altLang="en-US" dirty="0" err="1">
                <a:latin typeface="Helvetica" panose="020B0604020202020204" pitchFamily="34" charset="0"/>
              </a:rPr>
              <a:t>printf</a:t>
            </a:r>
            <a:r>
              <a:rPr lang="en-US" altLang="en-US" dirty="0">
                <a:latin typeface="Helvetica" panose="020B0604020202020204" pitchFamily="34" charset="0"/>
              </a:rPr>
              <a:t>(“a=%</a:t>
            </a:r>
            <a:r>
              <a:rPr lang="en-US" altLang="en-US" dirty="0" err="1">
                <a:latin typeface="Helvetica" panose="020B0604020202020204" pitchFamily="34" charset="0"/>
              </a:rPr>
              <a:t>d,b</a:t>
            </a:r>
            <a:r>
              <a:rPr lang="en-US" altLang="en-US" dirty="0">
                <a:latin typeface="Helvetica" panose="020B0604020202020204" pitchFamily="34" charset="0"/>
              </a:rPr>
              <a:t>=%d\n”,</a:t>
            </a:r>
            <a:r>
              <a:rPr lang="en-US" altLang="en-US" dirty="0" err="1">
                <a:latin typeface="Helvetica" panose="020B0604020202020204" pitchFamily="34" charset="0"/>
              </a:rPr>
              <a:t>a,b</a:t>
            </a:r>
            <a:r>
              <a:rPr lang="en-US" altLang="en-US" dirty="0">
                <a:latin typeface="Helvetica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   swap(</a:t>
            </a:r>
            <a:r>
              <a:rPr lang="en-US" altLang="en-US" dirty="0" err="1">
                <a:latin typeface="Helvetica" panose="020B0604020202020204" pitchFamily="34" charset="0"/>
              </a:rPr>
              <a:t>a,b</a:t>
            </a:r>
            <a:r>
              <a:rPr lang="en-US" altLang="en-US" dirty="0">
                <a:latin typeface="Helvetica" panose="020B0604020202020204" pitchFamily="34" charset="0"/>
              </a:rPr>
              <a:t>); 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  </a:t>
            </a:r>
            <a:r>
              <a:rPr lang="en-US" altLang="en-US" dirty="0" err="1">
                <a:latin typeface="Helvetica" panose="020B0604020202020204" pitchFamily="34" charset="0"/>
              </a:rPr>
              <a:t>printf</a:t>
            </a:r>
            <a:r>
              <a:rPr lang="en-US" altLang="en-US" dirty="0">
                <a:latin typeface="Helvetica" panose="020B0604020202020204" pitchFamily="34" charset="0"/>
              </a:rPr>
              <a:t>(“After swap:”);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   </a:t>
            </a:r>
            <a:r>
              <a:rPr lang="en-US" altLang="en-US" dirty="0" err="1">
                <a:latin typeface="Helvetica" panose="020B0604020202020204" pitchFamily="34" charset="0"/>
              </a:rPr>
              <a:t>printf</a:t>
            </a:r>
            <a:r>
              <a:rPr lang="en-US" altLang="en-US" dirty="0">
                <a:latin typeface="Helvetica" panose="020B0604020202020204" pitchFamily="34" charset="0"/>
              </a:rPr>
              <a:t>(“a=%</a:t>
            </a:r>
            <a:r>
              <a:rPr lang="en-US" altLang="en-US" dirty="0" err="1">
                <a:latin typeface="Helvetica" panose="020B0604020202020204" pitchFamily="34" charset="0"/>
              </a:rPr>
              <a:t>d,b</a:t>
            </a:r>
            <a:r>
              <a:rPr lang="en-US" altLang="en-US" dirty="0">
                <a:latin typeface="Helvetica" panose="020B0604020202020204" pitchFamily="34" charset="0"/>
              </a:rPr>
              <a:t>=%d\n”,</a:t>
            </a:r>
            <a:r>
              <a:rPr lang="en-US" altLang="en-US" dirty="0" err="1">
                <a:latin typeface="Helvetica" panose="020B0604020202020204" pitchFamily="34" charset="0"/>
              </a:rPr>
              <a:t>a,b</a:t>
            </a:r>
            <a:r>
              <a:rPr lang="en-US" altLang="en-US" dirty="0">
                <a:latin typeface="Helvetica" panose="020B0604020202020204" pitchFamily="34" charset="0"/>
              </a:rPr>
              <a:t>);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   return 0;</a:t>
            </a:r>
          </a:p>
          <a:p>
            <a:r>
              <a:rPr lang="en-US" altLang="en-US" dirty="0">
                <a:latin typeface="Helvetica" panose="020B0604020202020204" pitchFamily="34" charset="0"/>
              </a:rPr>
              <a:t>} </a:t>
            </a:r>
          </a:p>
        </p:txBody>
      </p:sp>
      <p:sp>
        <p:nvSpPr>
          <p:cNvPr id="6" name="Rectangle 5"/>
          <p:cNvSpPr/>
          <p:nvPr/>
        </p:nvSpPr>
        <p:spPr>
          <a:xfrm>
            <a:off x="4770179" y="2096637"/>
            <a:ext cx="2275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void swap (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x, 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y)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{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latin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tmp</a:t>
            </a:r>
            <a:r>
              <a:rPr lang="en-US" altLang="en-US" dirty="0">
                <a:latin typeface="Arial" panose="020B0604020202020204" pitchFamily="34" charset="0"/>
              </a:rPr>
              <a:t> = x;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x = y;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y = </a:t>
            </a:r>
            <a:r>
              <a:rPr lang="en-US" altLang="en-US" dirty="0" err="1">
                <a:latin typeface="Arial" panose="020B0604020202020204" pitchFamily="34" charset="0"/>
              </a:rPr>
              <a:t>tmp</a:t>
            </a:r>
            <a:r>
              <a:rPr lang="en-US" altLang="en-US" dirty="0">
                <a:latin typeface="Arial" panose="020B0604020202020204" pitchFamily="34" charset="0"/>
              </a:rPr>
              <a:t>;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5904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IN" dirty="0" smtClean="0"/>
              <a:t>In the swap </a:t>
            </a:r>
            <a:r>
              <a:rPr lang="en-IN" dirty="0"/>
              <a:t>function, parameters x and y were passed the values of variables a and b via the function call swap(a, b);</a:t>
            </a:r>
          </a:p>
          <a:p>
            <a:pPr lvl="1"/>
            <a:r>
              <a:rPr lang="en-IN" dirty="0"/>
              <a:t>Then the values of x and y were </a:t>
            </a:r>
            <a:r>
              <a:rPr lang="en-IN" dirty="0" smtClean="0"/>
              <a:t>swapped</a:t>
            </a:r>
          </a:p>
          <a:p>
            <a:pPr lvl="1"/>
            <a:endParaRPr lang="en-IN" dirty="0"/>
          </a:p>
          <a:p>
            <a:r>
              <a:rPr lang="en-IN" dirty="0"/>
              <a:t>When the function returned, x and y were no longer in memory, and a and b retained their original values</a:t>
            </a:r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went wrong?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570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smtClean="0"/>
              <a:t>Storage class</a:t>
            </a:r>
            <a:br>
              <a:rPr lang="en-IN" dirty="0" smtClean="0"/>
            </a:br>
            <a:r>
              <a:rPr lang="en-IN" sz="1800" dirty="0" smtClean="0"/>
              <a:t>Extern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424940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1600" dirty="0">
                <a:latin typeface="Helvetica Neue" panose="020B0604020202020204" charset="0"/>
              </a:rPr>
              <a:t>Storage Class defines both</a:t>
            </a:r>
          </a:p>
          <a:p>
            <a:pPr lvl="1">
              <a:lnSpc>
                <a:spcPct val="150000"/>
              </a:lnSpc>
            </a:pPr>
            <a:r>
              <a:rPr lang="en-US" altLang="en-US" sz="1600" b="1" dirty="0">
                <a:latin typeface="Helvetica Neue" panose="020B0604020202020204" charset="0"/>
              </a:rPr>
              <a:t>Scope</a:t>
            </a:r>
            <a:r>
              <a:rPr lang="en-US" altLang="en-US" sz="1600" dirty="0">
                <a:latin typeface="Helvetica Neue" panose="020B0604020202020204" charset="0"/>
              </a:rPr>
              <a:t>: portion where the identifier is valid.</a:t>
            </a:r>
          </a:p>
          <a:p>
            <a:pPr lvl="1">
              <a:lnSpc>
                <a:spcPct val="150000"/>
              </a:lnSpc>
            </a:pPr>
            <a:r>
              <a:rPr lang="en-US" altLang="en-US" sz="1600" b="1" dirty="0">
                <a:latin typeface="Helvetica Neue" panose="020B0604020202020204" charset="0"/>
              </a:rPr>
              <a:t>Duration</a:t>
            </a:r>
            <a:r>
              <a:rPr lang="en-US" altLang="en-US" sz="1600" dirty="0">
                <a:latin typeface="Helvetica Neue" panose="020B0604020202020204" charset="0"/>
              </a:rPr>
              <a:t>: How long an identifier exists in memory</a:t>
            </a:r>
          </a:p>
          <a:p>
            <a:pPr lvl="1">
              <a:lnSpc>
                <a:spcPct val="150000"/>
              </a:lnSpc>
            </a:pPr>
            <a:endParaRPr lang="en-US" altLang="en-US" sz="1600" dirty="0">
              <a:latin typeface="Helvetica Neue" panose="020B0604020202020204" charset="0"/>
            </a:endParaRPr>
          </a:p>
          <a:p>
            <a:r>
              <a:rPr lang="en-US" altLang="en-US" sz="1600" dirty="0">
                <a:latin typeface="Helvetica Neue" panose="020B0604020202020204" charset="0"/>
              </a:rPr>
              <a:t>There are four storage classes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auto or automatic</a:t>
            </a:r>
          </a:p>
          <a:p>
            <a:pPr lvl="1"/>
            <a:r>
              <a:rPr lang="en-US" altLang="en-US" sz="1600" b="1" dirty="0">
                <a:latin typeface="Helvetica Neue" panose="020B0604020202020204" charset="0"/>
              </a:rPr>
              <a:t>extern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static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register</a:t>
            </a:r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Storage Class</a:t>
            </a:r>
            <a:r>
              <a:rPr lang="en-US" altLang="en-US" dirty="0" smtClean="0"/>
              <a:t>: extern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056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Ex: Storage class extern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251039" y="881500"/>
            <a:ext cx="2794755" cy="221086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#include &lt;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stdio.h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 err="1">
                <a:solidFill>
                  <a:srgbClr val="FF0000"/>
                </a:solidFill>
                <a:latin typeface="Helvetica" panose="020B0604020202020204" pitchFamily="34" charset="0"/>
                <a:ea typeface="+mn-ea"/>
                <a:cs typeface="+mn-cs"/>
              </a:rPr>
              <a:t>int</a:t>
            </a:r>
            <a:r>
              <a:rPr lang="en-US" altLang="en-US" sz="1400" dirty="0">
                <a:solidFill>
                  <a:srgbClr val="FF0000"/>
                </a:solidFill>
                <a:latin typeface="Helvetica" panose="020B0604020202020204" pitchFamily="34" charset="0"/>
                <a:ea typeface="+mn-ea"/>
                <a:cs typeface="+mn-cs"/>
              </a:rPr>
              <a:t> a = 1, b = 2, c = 3;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int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 f(void);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int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 main(void) {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	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printf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(“%d”, f());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	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printf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(“%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d,%d,%d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”, a, b ,c);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	return 0;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}</a:t>
            </a:r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251038" y="3092367"/>
            <a:ext cx="2794755" cy="15204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 err="1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US" sz="1600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f(void) {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       </a:t>
            </a:r>
            <a:r>
              <a:rPr lang="en-US" sz="1600" dirty="0" err="1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US" sz="1600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b, c;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	     a = b = c = 4;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       return (a + b + c);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7891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Ex: Storage class extern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209475" y="993649"/>
            <a:ext cx="2794755" cy="221086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#include &lt;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stdio.h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 err="1">
                <a:solidFill>
                  <a:srgbClr val="FF0000"/>
                </a:solidFill>
                <a:latin typeface="Helvetica" panose="020B0604020202020204" pitchFamily="34" charset="0"/>
                <a:ea typeface="+mn-ea"/>
                <a:cs typeface="+mn-cs"/>
              </a:rPr>
              <a:t>int</a:t>
            </a:r>
            <a:r>
              <a:rPr lang="en-US" altLang="en-US" sz="1400" dirty="0">
                <a:solidFill>
                  <a:srgbClr val="FF0000"/>
                </a:solidFill>
                <a:latin typeface="Helvetica" panose="020B0604020202020204" pitchFamily="34" charset="0"/>
                <a:ea typeface="+mn-ea"/>
                <a:cs typeface="+mn-cs"/>
              </a:rPr>
              <a:t> a = 1, b = 2, c = 3;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int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 f(void);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int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 main(void) {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	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printf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(“%d”, f());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	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printf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(“%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d,%d,%d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”, a, b ,c);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	return 0;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}</a:t>
            </a:r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209475" y="3142801"/>
            <a:ext cx="2794755" cy="15204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 err="1">
                <a:latin typeface="Helvetica" panose="020B0604020202020204" pitchFamily="34" charset="0"/>
              </a:rPr>
              <a:t>int</a:t>
            </a:r>
            <a:r>
              <a:rPr lang="en-US" sz="1600" dirty="0">
                <a:latin typeface="Helvetica" panose="020B0604020202020204" pitchFamily="34" charset="0"/>
              </a:rPr>
              <a:t> f(void) {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Helvetica" panose="020B0604020202020204" pitchFamily="34" charset="0"/>
              </a:rPr>
              <a:t>        </a:t>
            </a:r>
            <a:r>
              <a:rPr lang="en-US" sz="1600" dirty="0" err="1">
                <a:latin typeface="Helvetica" panose="020B0604020202020204" pitchFamily="34" charset="0"/>
              </a:rPr>
              <a:t>int</a:t>
            </a:r>
            <a:r>
              <a:rPr lang="en-US" sz="1600" dirty="0">
                <a:latin typeface="Helvetica" panose="020B0604020202020204" pitchFamily="34" charset="0"/>
              </a:rPr>
              <a:t>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b</a:t>
            </a:r>
            <a:r>
              <a:rPr lang="en-US" sz="1600" dirty="0">
                <a:latin typeface="Helvetica" panose="020B0604020202020204" pitchFamily="34" charset="0"/>
              </a:rPr>
              <a:t>,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c</a:t>
            </a:r>
            <a:r>
              <a:rPr lang="en-US" sz="1600" dirty="0">
                <a:latin typeface="Helvetica" panose="020B0604020202020204" pitchFamily="34" charset="0"/>
              </a:rPr>
              <a:t>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Helvetica" panose="020B0604020202020204" pitchFamily="34" charset="0"/>
              </a:rPr>
              <a:t>	     </a:t>
            </a:r>
            <a:r>
              <a:rPr lang="en-US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US" sz="1600" dirty="0">
                <a:latin typeface="Helvetica" panose="020B0604020202020204" pitchFamily="34" charset="0"/>
              </a:rPr>
              <a:t> =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b</a:t>
            </a:r>
            <a:r>
              <a:rPr lang="en-US" sz="1600" dirty="0">
                <a:latin typeface="Helvetica" panose="020B0604020202020204" pitchFamily="34" charset="0"/>
              </a:rPr>
              <a:t> =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c</a:t>
            </a:r>
            <a:r>
              <a:rPr lang="en-US" sz="1600" dirty="0">
                <a:latin typeface="Helvetica" panose="020B0604020202020204" pitchFamily="34" charset="0"/>
              </a:rPr>
              <a:t> = 4;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Helvetica" panose="020B0604020202020204" pitchFamily="34" charset="0"/>
              </a:rPr>
              <a:t>        return (</a:t>
            </a:r>
            <a:r>
              <a:rPr lang="en-US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US" sz="1600" dirty="0">
                <a:latin typeface="Helvetica" panose="020B0604020202020204" pitchFamily="34" charset="0"/>
              </a:rPr>
              <a:t> +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b</a:t>
            </a:r>
            <a:r>
              <a:rPr lang="en-US" sz="1600" dirty="0">
                <a:latin typeface="Helvetica" panose="020B0604020202020204" pitchFamily="34" charset="0"/>
              </a:rPr>
              <a:t> +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c</a:t>
            </a:r>
            <a:r>
              <a:rPr lang="en-US" sz="1600" dirty="0">
                <a:latin typeface="Helvetica" panose="020B0604020202020204" pitchFamily="34" charset="0"/>
              </a:rPr>
              <a:t>);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Helvetica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79424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Helvetica Neue" panose="020B0604020202020204" charset="0"/>
              </a:rPr>
              <a:t>Identifiers defined outside a function (global variable) is of storage class extern.</a:t>
            </a:r>
          </a:p>
          <a:p>
            <a:pPr lvl="1"/>
            <a:r>
              <a:rPr lang="en-US" altLang="en-US" sz="1800" dirty="0" smtClean="0">
                <a:latin typeface="Helvetica Neue" panose="020B0604020202020204" charset="0"/>
              </a:rPr>
              <a:t>scope : program scope</a:t>
            </a:r>
          </a:p>
          <a:p>
            <a:pPr lvl="1"/>
            <a:r>
              <a:rPr lang="en-US" altLang="en-US" sz="1800" dirty="0" smtClean="0">
                <a:latin typeface="Helvetica Neue" panose="020B0604020202020204" charset="0"/>
              </a:rPr>
              <a:t>lifetime: program lifetime</a:t>
            </a:r>
          </a:p>
          <a:p>
            <a:pPr lvl="1"/>
            <a:r>
              <a:rPr lang="en-US" altLang="en-US" sz="1800" dirty="0" smtClean="0">
                <a:latin typeface="Helvetica Neue" panose="020B0604020202020204" charset="0"/>
              </a:rPr>
              <a:t>use: exchange information across functions</a:t>
            </a:r>
            <a:endParaRPr lang="en-US" altLang="en-US" sz="1800" dirty="0">
              <a:latin typeface="Helvetica Neue" panose="020B0604020202020204" charset="0"/>
            </a:endParaRPr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Storage Class</a:t>
            </a:r>
            <a:r>
              <a:rPr lang="en-US" altLang="en-US" dirty="0" smtClean="0"/>
              <a:t>: extern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7417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Ex: Storage class extern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4085" y="1158861"/>
            <a:ext cx="2794755" cy="221086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#include &lt;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stdio.h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 err="1">
                <a:solidFill>
                  <a:srgbClr val="FF0000"/>
                </a:solidFill>
                <a:latin typeface="Helvetica" panose="020B0604020202020204" pitchFamily="34" charset="0"/>
                <a:ea typeface="+mn-ea"/>
                <a:cs typeface="+mn-cs"/>
              </a:rPr>
              <a:t>int</a:t>
            </a:r>
            <a:r>
              <a:rPr lang="en-US" altLang="en-US" sz="1400" dirty="0">
                <a:solidFill>
                  <a:srgbClr val="FF0000"/>
                </a:solidFill>
                <a:latin typeface="Helvetica" panose="020B0604020202020204" pitchFamily="34" charset="0"/>
                <a:ea typeface="+mn-ea"/>
                <a:cs typeface="+mn-cs"/>
              </a:rPr>
              <a:t> a = 1, b = 2, c = 3;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int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 f(void);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int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 main(void) {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	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printf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(“%d”, f());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	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printf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(“%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d,%d,%d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”, a, b ,c);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	return 0;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rPr>
              <a:t>}</a:t>
            </a:r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900746" y="1230931"/>
            <a:ext cx="2970119" cy="21113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 err="1">
                <a:latin typeface="Helvetica" panose="020B0604020202020204" pitchFamily="34" charset="0"/>
              </a:rPr>
              <a:t>int</a:t>
            </a:r>
            <a:r>
              <a:rPr lang="en-US" sz="1600" dirty="0">
                <a:latin typeface="Helvetica" panose="020B0604020202020204" pitchFamily="34" charset="0"/>
              </a:rPr>
              <a:t> f(void) </a:t>
            </a:r>
            <a:r>
              <a:rPr lang="en-US" sz="1600" dirty="0" smtClean="0">
                <a:latin typeface="Helvetica" panose="020B0604020202020204" pitchFamily="34" charset="0"/>
              </a:rPr>
              <a:t>{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endParaRPr lang="en-US" sz="1600" dirty="0">
              <a:latin typeface="Helvetica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endParaRPr lang="en-US" sz="1600" dirty="0">
              <a:latin typeface="Helvetica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Helvetica" panose="020B0604020202020204" pitchFamily="34" charset="0"/>
              </a:rPr>
              <a:t>        </a:t>
            </a:r>
            <a:r>
              <a:rPr lang="en-US" sz="1600" dirty="0" err="1">
                <a:latin typeface="Helvetica" panose="020B0604020202020204" pitchFamily="34" charset="0"/>
              </a:rPr>
              <a:t>int</a:t>
            </a:r>
            <a:r>
              <a:rPr lang="en-US" sz="1600" dirty="0">
                <a:latin typeface="Helvetica" panose="020B0604020202020204" pitchFamily="34" charset="0"/>
              </a:rPr>
              <a:t>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b</a:t>
            </a:r>
            <a:r>
              <a:rPr lang="en-US" sz="1600" dirty="0">
                <a:latin typeface="Helvetica" panose="020B0604020202020204" pitchFamily="34" charset="0"/>
              </a:rPr>
              <a:t>,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c</a:t>
            </a:r>
            <a:r>
              <a:rPr lang="en-US" sz="1600" dirty="0">
                <a:latin typeface="Helvetica" panose="020B0604020202020204" pitchFamily="34" charset="0"/>
              </a:rPr>
              <a:t>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Helvetica" panose="020B0604020202020204" pitchFamily="34" charset="0"/>
              </a:rPr>
              <a:t>	     </a:t>
            </a:r>
            <a:r>
              <a:rPr lang="en-US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US" sz="1600" dirty="0">
                <a:latin typeface="Helvetica" panose="020B0604020202020204" pitchFamily="34" charset="0"/>
              </a:rPr>
              <a:t> =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b</a:t>
            </a:r>
            <a:r>
              <a:rPr lang="en-US" sz="1600" dirty="0">
                <a:latin typeface="Helvetica" panose="020B0604020202020204" pitchFamily="34" charset="0"/>
              </a:rPr>
              <a:t> =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c</a:t>
            </a:r>
            <a:r>
              <a:rPr lang="en-US" sz="1600" dirty="0">
                <a:latin typeface="Helvetica" panose="020B0604020202020204" pitchFamily="34" charset="0"/>
              </a:rPr>
              <a:t> = 4;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Helvetica" panose="020B0604020202020204" pitchFamily="34" charset="0"/>
              </a:rPr>
              <a:t>        return (</a:t>
            </a:r>
            <a:r>
              <a:rPr lang="en-US" sz="1600" dirty="0">
                <a:solidFill>
                  <a:srgbClr val="FF0000"/>
                </a:solidFill>
                <a:latin typeface="Helvetica" panose="020B0604020202020204" pitchFamily="34" charset="0"/>
              </a:rPr>
              <a:t>a</a:t>
            </a:r>
            <a:r>
              <a:rPr lang="en-US" sz="1600" dirty="0">
                <a:latin typeface="Helvetica" panose="020B0604020202020204" pitchFamily="34" charset="0"/>
              </a:rPr>
              <a:t> +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b</a:t>
            </a:r>
            <a:r>
              <a:rPr lang="en-US" sz="1600" dirty="0">
                <a:latin typeface="Helvetica" panose="020B0604020202020204" pitchFamily="34" charset="0"/>
              </a:rPr>
              <a:t> +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</a:rPr>
              <a:t>c</a:t>
            </a:r>
            <a:r>
              <a:rPr lang="en-US" sz="1600" dirty="0">
                <a:latin typeface="Helvetica" panose="020B0604020202020204" pitchFamily="34" charset="0"/>
              </a:rPr>
              <a:t>);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Helvetica" panose="020B0604020202020204" pitchFamily="34" charset="0"/>
              </a:rPr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1586355" y="3369728"/>
            <a:ext cx="10102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File: eg1.c</a:t>
            </a:r>
          </a:p>
        </p:txBody>
      </p:sp>
      <p:sp>
        <p:nvSpPr>
          <p:cNvPr id="7" name="Rectangle 6"/>
          <p:cNvSpPr/>
          <p:nvPr/>
        </p:nvSpPr>
        <p:spPr>
          <a:xfrm>
            <a:off x="4672882" y="3342278"/>
            <a:ext cx="10102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File: eg2.c</a:t>
            </a:r>
          </a:p>
        </p:txBody>
      </p:sp>
    </p:spTree>
    <p:extLst>
      <p:ext uri="{BB962C8B-B14F-4D97-AF65-F5344CB8AC3E}">
        <p14:creationId xmlns:p14="http://schemas.microsoft.com/office/powerpoint/2010/main" val="354045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Helvetica Neue" panose="020B0604020202020204" charset="0"/>
              </a:rPr>
              <a:t>Write two different C functions to compute area and perimeter of a triangle whose sides </a:t>
            </a:r>
            <a:r>
              <a:rPr lang="en-IN" sz="1600" b="1" dirty="0">
                <a:latin typeface="Helvetica Neue" panose="020B0604020202020204" charset="0"/>
              </a:rPr>
              <a:t>a</a:t>
            </a:r>
            <a:r>
              <a:rPr lang="en-IN" sz="1600" dirty="0">
                <a:latin typeface="Helvetica Neue" panose="020B0604020202020204" charset="0"/>
              </a:rPr>
              <a:t>, </a:t>
            </a:r>
            <a:r>
              <a:rPr lang="en-IN" sz="1600" b="1" dirty="0">
                <a:latin typeface="Helvetica Neue" panose="020B0604020202020204" charset="0"/>
              </a:rPr>
              <a:t>b</a:t>
            </a:r>
            <a:r>
              <a:rPr lang="en-IN" sz="1600" dirty="0">
                <a:latin typeface="Helvetica Neue" panose="020B0604020202020204" charset="0"/>
              </a:rPr>
              <a:t>, and </a:t>
            </a:r>
            <a:r>
              <a:rPr lang="en-IN" sz="1600" b="1" dirty="0">
                <a:latin typeface="Helvetica Neue" panose="020B0604020202020204" charset="0"/>
              </a:rPr>
              <a:t>c</a:t>
            </a:r>
            <a:r>
              <a:rPr lang="en-IN" sz="1600" dirty="0">
                <a:latin typeface="Helvetica Neue" panose="020B0604020202020204" charset="0"/>
              </a:rPr>
              <a:t> are given by the user as inputs. Both the functions should be in different files.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600" kern="1200" dirty="0" smtClean="0">
                <a:solidFill>
                  <a:srgbClr val="000000"/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		Formula </a:t>
            </a:r>
            <a:r>
              <a:rPr lang="en-IN" sz="1600" kern="1200" dirty="0">
                <a:solidFill>
                  <a:srgbClr val="000000"/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to compute perimeter = a + b + c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600" kern="1200" dirty="0" smtClean="0">
                <a:solidFill>
                  <a:srgbClr val="000000"/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		Formula </a:t>
            </a:r>
            <a:r>
              <a:rPr lang="en-IN" sz="1600" kern="1200" dirty="0">
                <a:solidFill>
                  <a:srgbClr val="000000"/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to compute area = [s(s-a)(s-b)(s-c)]0.5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600" kern="1200" dirty="0" smtClean="0">
                <a:solidFill>
                  <a:srgbClr val="000000"/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		Where </a:t>
            </a:r>
            <a:r>
              <a:rPr lang="en-IN" sz="1600" kern="1200" dirty="0">
                <a:solidFill>
                  <a:srgbClr val="000000"/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s = 0.5 * (</a:t>
            </a:r>
            <a:r>
              <a:rPr lang="en-IN" sz="1600" kern="1200" dirty="0" err="1">
                <a:solidFill>
                  <a:srgbClr val="000000"/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a+b+c</a:t>
            </a:r>
            <a:r>
              <a:rPr lang="en-IN" sz="1600" kern="1200" dirty="0">
                <a:solidFill>
                  <a:srgbClr val="000000"/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endParaRPr lang="en-IN" sz="1200" dirty="0">
              <a:latin typeface="Helvetica Neue" panose="020B060402020202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Ex: Using global variables</a:t>
            </a:r>
          </a:p>
        </p:txBody>
      </p:sp>
    </p:spTree>
    <p:extLst>
      <p:ext uri="{BB962C8B-B14F-4D97-AF65-F5344CB8AC3E}">
        <p14:creationId xmlns:p14="http://schemas.microsoft.com/office/powerpoint/2010/main" val="1974072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  <p:sp>
        <p:nvSpPr>
          <p:cNvPr id="8" name="Rectangle 7"/>
          <p:cNvSpPr/>
          <p:nvPr/>
        </p:nvSpPr>
        <p:spPr>
          <a:xfrm>
            <a:off x="577336" y="1076489"/>
            <a:ext cx="4572000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#include&lt;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math.h</a:t>
            </a: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IN" kern="1200" dirty="0"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float area(){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</a:t>
            </a:r>
            <a:r>
              <a:rPr lang="en-IN" b="1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extern</a:t>
            </a: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float a, b, c;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float s = (a + b + c)/2;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float area = 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sqrt</a:t>
            </a: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(s * (s-a) * (s-b) * (s-c));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return area;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1643" y="1076489"/>
            <a:ext cx="2567836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float perimeter(){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</a:t>
            </a:r>
            <a:r>
              <a:rPr lang="en-IN" b="1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extern</a:t>
            </a: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float a, b, c;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return 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a+b+c</a:t>
            </a: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60376" y="2892371"/>
            <a:ext cx="13978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file: 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perimeter.c</a:t>
            </a:r>
            <a:endParaRPr lang="en-IN" kern="1200" dirty="0"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05348" y="2831345"/>
            <a:ext cx="10102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file: 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area.c</a:t>
            </a:r>
            <a:endParaRPr lang="en-IN" kern="1200" dirty="0"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719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  <p:sp>
        <p:nvSpPr>
          <p:cNvPr id="7" name="Rectangle 6"/>
          <p:cNvSpPr/>
          <p:nvPr/>
        </p:nvSpPr>
        <p:spPr>
          <a:xfrm>
            <a:off x="281836" y="344659"/>
            <a:ext cx="4572000" cy="2708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600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#include&lt;</a:t>
            </a:r>
            <a:r>
              <a:rPr lang="en-IN" sz="1600" kern="1200" dirty="0" err="1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stdio.h</a:t>
            </a: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#</a:t>
            </a:r>
            <a:r>
              <a:rPr lang="en-IN" kern="1200" dirty="0" err="1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include"myheader.h</a:t>
            </a: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IN" kern="1200" dirty="0" smtClean="0"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 err="1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main(){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</a:t>
            </a:r>
            <a:r>
              <a:rPr lang="en-IN" kern="1200" dirty="0" err="1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scanf</a:t>
            </a: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("%f %f %f", &amp;a, &amp;b, &amp;c);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if ((a + b) &gt; c || (b + c) &gt; a 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</a:t>
            </a:r>
            <a:r>
              <a:rPr lang="en-IN" kern="1200" dirty="0" err="1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("perimeter: %f\</a:t>
            </a:r>
            <a:r>
              <a:rPr lang="en-IN" kern="1200" dirty="0" err="1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n",perimeter</a:t>
            </a: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());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</a:t>
            </a:r>
            <a:r>
              <a:rPr lang="en-IN" kern="1200" dirty="0" err="1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("Area: %f\</a:t>
            </a:r>
            <a:r>
              <a:rPr lang="en-IN" kern="1200" dirty="0" err="1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n",area</a:t>
            </a: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());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else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</a:t>
            </a:r>
            <a:r>
              <a:rPr lang="en-IN" kern="1200" dirty="0" err="1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("Invalid input");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 smtClean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}</a:t>
            </a:r>
            <a:endParaRPr lang="en-IN" kern="1200" dirty="0"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9518" y="3165104"/>
            <a:ext cx="4572000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#include&lt;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math.h</a:t>
            </a: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IN" kern="1200" dirty="0"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float area(){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extern float a, b, c;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float s = (a + b + c)/2;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float area = 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sqrt</a:t>
            </a: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(s * (s-a) * (s-b) * (s-c));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return area;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2672" y="501648"/>
            <a:ext cx="1734855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>
                <a:latin typeface="Helvetica" panose="020B0604020202020204" pitchFamily="34" charset="0"/>
              </a:rPr>
              <a:t>float a, b, c;</a:t>
            </a:r>
          </a:p>
          <a:p>
            <a:r>
              <a:rPr lang="en-IN" dirty="0">
                <a:latin typeface="Helvetica" panose="020B0604020202020204" pitchFamily="34" charset="0"/>
              </a:rPr>
              <a:t>float perimeter();</a:t>
            </a:r>
          </a:p>
          <a:p>
            <a:r>
              <a:rPr lang="en-IN" dirty="0">
                <a:latin typeface="Helvetica" panose="020B0604020202020204" pitchFamily="34" charset="0"/>
              </a:rPr>
              <a:t>float area();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2672" y="1665530"/>
            <a:ext cx="2567836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float perimeter(){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extern float a, b, c;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       return 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a+b+c</a:t>
            </a: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836" y="0"/>
            <a:ext cx="11657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600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file: </a:t>
            </a:r>
            <a:r>
              <a:rPr lang="en-IN" sz="1600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main.c</a:t>
            </a:r>
            <a:endParaRPr lang="en-IN" sz="1600" kern="1200" dirty="0"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52216" y="3165104"/>
            <a:ext cx="13978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file: 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perimeter.c</a:t>
            </a:r>
            <a:endParaRPr lang="en-IN" kern="1200" dirty="0"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86744" y="1343367"/>
            <a:ext cx="10102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file: 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area.c</a:t>
            </a:r>
            <a:endParaRPr lang="en-IN" kern="1200" dirty="0"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33193" y="193871"/>
            <a:ext cx="14379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kern="1200" dirty="0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file: </a:t>
            </a:r>
            <a:r>
              <a:rPr lang="en-IN" kern="1200" dirty="0" err="1"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myheader.c</a:t>
            </a:r>
            <a:endParaRPr lang="en-IN" kern="1200" dirty="0"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10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smtClean="0"/>
              <a:t>Storage class</a:t>
            </a:r>
            <a:br>
              <a:rPr lang="en-IN" dirty="0" smtClean="0"/>
            </a:br>
            <a:r>
              <a:rPr lang="en-IN" sz="1800" dirty="0" smtClean="0"/>
              <a:t>Static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735697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+mn-ea"/>
                <a:cs typeface="+mn-cs"/>
              </a:rPr>
              <a:t>Storage Class defines both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b="1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Scope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: portion where the identifier is valid.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b="1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Duration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: How long an identifier exists in memory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600" dirty="0" smtClean="0">
              <a:solidFill>
                <a:schemeClr val="bg2">
                  <a:lumMod val="75000"/>
                </a:schemeClr>
              </a:solidFill>
              <a:latin typeface="Helvetica Neue" panose="020B060402020202020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00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+mn-ea"/>
                <a:cs typeface="+mn-cs"/>
              </a:rPr>
              <a:t>There 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+mn-ea"/>
                <a:cs typeface="+mn-cs"/>
              </a:rPr>
              <a:t>are four storage classes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auto or automatic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extern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b="1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static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register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800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Storage Class</a:t>
            </a:r>
            <a:r>
              <a:rPr lang="en-US" altLang="en-US" dirty="0" smtClean="0"/>
              <a:t>: static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7884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41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625637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Storage class static - example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11699" y="1070063"/>
            <a:ext cx="65525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Write a program to count the number of times a function is called.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9110" y="1524995"/>
            <a:ext cx="338350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#include &lt;</a:t>
            </a: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stdio.h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bg2">
                  <a:lumMod val="75000"/>
                </a:schemeClr>
              </a:solidFill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f(void);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main(void)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	</a:t>
            </a: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(“%d\n”, f());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	</a:t>
            </a: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(“%d\n”, f());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	</a:t>
            </a: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(“%d\n”, f());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	return 0;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617" y="1524995"/>
            <a:ext cx="3117273" cy="14711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		</a:t>
            </a:r>
            <a:r>
              <a:rPr lang="en-US" sz="1600" dirty="0" err="1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f(void) {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   			</a:t>
            </a:r>
            <a:r>
              <a:rPr lang="en-US" sz="1600" dirty="0" err="1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cnt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=0</a:t>
            </a: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;    		 ++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cnt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     </a:t>
            </a: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	 	 return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cnt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);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			}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Helvetica Neue" panose="020B060402020202020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430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42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625637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Storage class static - example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11699" y="1070063"/>
            <a:ext cx="65525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Write a program to count the number of times a function is called.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7096" y="1408617"/>
            <a:ext cx="305008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#include &lt;</a:t>
            </a: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stdio.h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bg2">
                  <a:lumMod val="75000"/>
                </a:schemeClr>
              </a:solidFill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f(void);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 main(void)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	</a:t>
            </a: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(“%d\n”, f());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	</a:t>
            </a: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(“%d\n”, f());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	</a:t>
            </a:r>
            <a:r>
              <a:rPr lang="en-US" altLang="en-US" sz="1600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(“%d\n”, f());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	return 0;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3552581" y="1408617"/>
            <a:ext cx="2171814" cy="15204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f(void) {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	   </a:t>
            </a:r>
            <a:r>
              <a:rPr lang="en-US" sz="1600" dirty="0" smtClean="0">
                <a:solidFill>
                  <a:srgbClr val="C00000"/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static</a:t>
            </a: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cnt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=0;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	     ++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cnt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       return (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cnt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);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30231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+mn-ea"/>
                <a:cs typeface="+mn-cs"/>
              </a:rPr>
              <a:t>Variables </a:t>
            </a:r>
            <a:r>
              <a:rPr lang="en-US" altLang="en-US" sz="1800" b="1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+mn-ea"/>
                <a:cs typeface="+mn-cs"/>
              </a:rPr>
              <a:t>exists</a:t>
            </a: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ea typeface="+mn-ea"/>
                <a:cs typeface="+mn-cs"/>
              </a:rPr>
              <a:t> for entire program duration.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</a:rPr>
              <a:t>Allow a local variable to retain its previous value when the block is re-entered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43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Storage class static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1738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Helvetica Neue" panose="020B0604020202020204" charset="0"/>
              </a:rPr>
              <a:t>Write a function “sum” that keeps a running total of the sum of every value passed to “sum”. </a:t>
            </a:r>
          </a:p>
          <a:p>
            <a:pPr marL="0" indent="0">
              <a:buNone/>
            </a:pPr>
            <a:r>
              <a:rPr lang="en-IN" sz="1600" dirty="0">
                <a:latin typeface="Helvetica Neue" panose="020B0604020202020204" charset="0"/>
              </a:rPr>
              <a:t>	Input:    1   2   3   4   5 …. EOF</a:t>
            </a:r>
          </a:p>
          <a:p>
            <a:pPr marL="0" indent="0">
              <a:buNone/>
            </a:pPr>
            <a:r>
              <a:rPr lang="en-IN" sz="1600" dirty="0">
                <a:latin typeface="Helvetica Neue" panose="020B0604020202020204" charset="0"/>
              </a:rPr>
              <a:t>	Output:  1  3   6   10  15 ….</a:t>
            </a:r>
          </a:p>
          <a:p>
            <a:endParaRPr lang="en-IN" sz="1600" dirty="0">
              <a:latin typeface="Helvetica Neue" panose="020B0604020202020204" charset="0"/>
            </a:endParaRPr>
          </a:p>
          <a:p>
            <a:r>
              <a:rPr lang="en-IN" sz="1600" dirty="0">
                <a:latin typeface="Helvetica Neue" panose="020B0604020202020204" charset="0"/>
              </a:rPr>
              <a:t>The program should keep on reading values until the user inputs EOF.</a:t>
            </a:r>
            <a:r>
              <a:rPr lang="en-IN" sz="2000" dirty="0">
                <a:latin typeface="Helvetica Neue" panose="020B0604020202020204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44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Ex2: Using static </a:t>
            </a:r>
          </a:p>
        </p:txBody>
      </p:sp>
    </p:spTree>
    <p:extLst>
      <p:ext uri="{BB962C8B-B14F-4D97-AF65-F5344CB8AC3E}">
        <p14:creationId xmlns:p14="http://schemas.microsoft.com/office/powerpoint/2010/main" val="1130954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36391" y="1150549"/>
            <a:ext cx="4270500" cy="3360300"/>
          </a:xfrm>
        </p:spPr>
        <p:txBody>
          <a:bodyPr/>
          <a:lstStyle/>
          <a:p>
            <a:pPr marL="133350" indent="0">
              <a:buNone/>
            </a:pP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45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Ex2: Using static </a:t>
            </a:r>
          </a:p>
        </p:txBody>
      </p:sp>
    </p:spTree>
    <p:extLst>
      <p:ext uri="{BB962C8B-B14F-4D97-AF65-F5344CB8AC3E}">
        <p14:creationId xmlns:p14="http://schemas.microsoft.com/office/powerpoint/2010/main" val="25039035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388307"/>
            <a:ext cx="8160758" cy="41807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</a:t>
            </a:r>
          </a:p>
          <a:p>
            <a:pPr marL="0" indent="0">
              <a:buNone/>
            </a:pPr>
            <a:r>
              <a:rPr lang="en-IN" sz="1600" dirty="0" err="1"/>
              <a:t>int</a:t>
            </a:r>
            <a:r>
              <a:rPr lang="en-IN" sz="1600" dirty="0"/>
              <a:t> sum(</a:t>
            </a:r>
            <a:r>
              <a:rPr lang="en-IN" sz="1600" dirty="0" err="1"/>
              <a:t>int</a:t>
            </a:r>
            <a:r>
              <a:rPr lang="en-IN" sz="1600" dirty="0"/>
              <a:t>); /* function </a:t>
            </a:r>
            <a:r>
              <a:rPr lang="en-IN" sz="1600" dirty="0" err="1"/>
              <a:t>protoype</a:t>
            </a:r>
            <a:r>
              <a:rPr lang="en-IN" sz="1600" dirty="0"/>
              <a:t> */</a:t>
            </a:r>
          </a:p>
          <a:p>
            <a:pPr marL="0" indent="0">
              <a:buNone/>
            </a:pPr>
            <a:r>
              <a:rPr lang="en-IN" sz="1600" dirty="0"/>
              <a:t>void main(void) {</a:t>
            </a:r>
          </a:p>
          <a:p>
            <a:pPr marL="0" indent="0">
              <a:buNone/>
            </a:pPr>
            <a:r>
              <a:rPr lang="en-IN" sz="1600" dirty="0"/>
              <a:t>	</a:t>
            </a:r>
            <a:r>
              <a:rPr lang="en-IN" sz="1600" dirty="0" err="1"/>
              <a:t>int</a:t>
            </a:r>
            <a:r>
              <a:rPr lang="en-IN" sz="1600" dirty="0"/>
              <a:t> value;</a:t>
            </a:r>
          </a:p>
          <a:p>
            <a:pPr marL="0" indent="0">
              <a:buNone/>
            </a:pPr>
            <a:r>
              <a:rPr lang="en-IN" sz="1600" dirty="0"/>
              <a:t>	</a:t>
            </a:r>
            <a:r>
              <a:rPr lang="en-IN" sz="1600" dirty="0" err="1"/>
              <a:t>scanf</a:t>
            </a:r>
            <a:r>
              <a:rPr lang="en-IN" sz="1600" dirty="0"/>
              <a:t>(“%</a:t>
            </a:r>
            <a:r>
              <a:rPr lang="en-IN" sz="1600" dirty="0" err="1"/>
              <a:t>d”,&amp;value</a:t>
            </a:r>
            <a:r>
              <a:rPr lang="en-IN" sz="1600" dirty="0"/>
              <a:t>);</a:t>
            </a:r>
          </a:p>
          <a:p>
            <a:pPr marL="0" indent="0">
              <a:buNone/>
            </a:pPr>
            <a:r>
              <a:rPr lang="en-IN" sz="1600" dirty="0"/>
              <a:t>                while (value !=  EOF) {</a:t>
            </a:r>
          </a:p>
          <a:p>
            <a:pPr marL="0" indent="0">
              <a:buNone/>
            </a:pPr>
            <a:r>
              <a:rPr lang="en-IN" sz="1600" dirty="0"/>
              <a:t>		</a:t>
            </a:r>
            <a:r>
              <a:rPr lang="en-IN" sz="1600" dirty="0" err="1"/>
              <a:t>printf</a:t>
            </a:r>
            <a:r>
              <a:rPr lang="en-IN" sz="1600" dirty="0"/>
              <a:t>("Running sum: %d\</a:t>
            </a:r>
            <a:r>
              <a:rPr lang="en-IN" sz="1600" dirty="0" err="1"/>
              <a:t>n",sum</a:t>
            </a:r>
            <a:r>
              <a:rPr lang="en-IN" sz="1600" dirty="0"/>
              <a:t>(value));</a:t>
            </a:r>
          </a:p>
          <a:p>
            <a:pPr marL="0" indent="0">
              <a:buNone/>
            </a:pPr>
            <a:r>
              <a:rPr lang="en-IN" sz="1600" dirty="0"/>
              <a:t>		</a:t>
            </a:r>
            <a:r>
              <a:rPr lang="en-IN" sz="1600" dirty="0" err="1"/>
              <a:t>scanf</a:t>
            </a:r>
            <a:r>
              <a:rPr lang="en-IN" sz="1600" dirty="0"/>
              <a:t>(“%</a:t>
            </a:r>
            <a:r>
              <a:rPr lang="en-IN" sz="1600" dirty="0" err="1"/>
              <a:t>d”,&amp;value</a:t>
            </a:r>
            <a:r>
              <a:rPr lang="en-IN" sz="1600" dirty="0"/>
              <a:t>);</a:t>
            </a:r>
          </a:p>
          <a:p>
            <a:pPr marL="0" indent="0">
              <a:buNone/>
            </a:pPr>
            <a:r>
              <a:rPr lang="en-IN" sz="1600" dirty="0"/>
              <a:t>	}</a:t>
            </a:r>
          </a:p>
          <a:p>
            <a:pPr marL="0" indent="0">
              <a:buNone/>
            </a:pPr>
            <a:r>
              <a:rPr lang="en-IN" sz="1600" dirty="0"/>
              <a:t>     }</a:t>
            </a:r>
          </a:p>
          <a:p>
            <a:pPr marL="0" indent="0">
              <a:buNone/>
            </a:pPr>
            <a:r>
              <a:rPr lang="en-IN" sz="1600" dirty="0"/>
              <a:t>          </a:t>
            </a:r>
            <a:r>
              <a:rPr lang="en-IN" sz="1600" dirty="0" err="1"/>
              <a:t>int</a:t>
            </a:r>
            <a:r>
              <a:rPr lang="en-IN" sz="1600" dirty="0"/>
              <a:t> sum(</a:t>
            </a:r>
            <a:r>
              <a:rPr lang="en-IN" sz="1600" dirty="0" err="1"/>
              <a:t>int</a:t>
            </a:r>
            <a:r>
              <a:rPr lang="en-IN" sz="1600" dirty="0"/>
              <a:t> value) { /* function header */</a:t>
            </a:r>
          </a:p>
          <a:p>
            <a:pPr marL="0" indent="0">
              <a:buNone/>
            </a:pPr>
            <a:r>
              <a:rPr lang="en-IN" sz="1600" dirty="0"/>
              <a:t>	        static </a:t>
            </a:r>
            <a:r>
              <a:rPr lang="en-IN" sz="1600" dirty="0" err="1"/>
              <a:t>int</a:t>
            </a:r>
            <a:r>
              <a:rPr lang="en-IN" sz="1600" dirty="0"/>
              <a:t> sum = 0;   /* static variable, */</a:t>
            </a:r>
          </a:p>
          <a:p>
            <a:pPr marL="0" indent="0">
              <a:buNone/>
            </a:pPr>
            <a:r>
              <a:rPr lang="en-IN" sz="1600" dirty="0"/>
              <a:t>                        sum += value;</a:t>
            </a:r>
          </a:p>
          <a:p>
            <a:pPr marL="0" indent="0">
              <a:buNone/>
            </a:pPr>
            <a:r>
              <a:rPr lang="en-IN" sz="1600" dirty="0"/>
              <a:t>                        return sum;</a:t>
            </a:r>
          </a:p>
          <a:p>
            <a:pPr marL="0" indent="0">
              <a:buNone/>
            </a:pPr>
            <a:r>
              <a:rPr lang="en-IN" sz="1600" dirty="0"/>
              <a:t>                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03883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sz="1600" dirty="0">
                <a:latin typeface="Helvetica Neue" panose="020B0604020202020204" charset="0"/>
              </a:rPr>
              <a:t>Variables </a:t>
            </a:r>
            <a:r>
              <a:rPr lang="en-US" altLang="en-US" sz="1600" b="1" dirty="0">
                <a:latin typeface="Helvetica Neue" panose="020B0604020202020204" charset="0"/>
              </a:rPr>
              <a:t>exists</a:t>
            </a:r>
            <a:r>
              <a:rPr lang="en-US" altLang="en-US" sz="1600" dirty="0">
                <a:latin typeface="Helvetica Neue" panose="020B0604020202020204" charset="0"/>
              </a:rPr>
              <a:t> for entire program duration.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Allow a local variable to retain its previous value when the block is re-entered.</a:t>
            </a:r>
          </a:p>
          <a:p>
            <a:pPr marL="457200" lvl="1" indent="0">
              <a:buNone/>
            </a:pPr>
            <a:endParaRPr lang="en-US" altLang="en-US" sz="1600" dirty="0">
              <a:latin typeface="Helvetica Neue" panose="020B0604020202020204" charset="0"/>
            </a:endParaRP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When used with external variables, static external variables are scope restricted. </a:t>
            </a:r>
            <a:endParaRPr lang="en-US" altLang="en-US" sz="1600" dirty="0" smtClean="0">
              <a:latin typeface="Helvetica Neue" panose="020B0604020202020204" charset="0"/>
            </a:endParaRPr>
          </a:p>
          <a:p>
            <a:pPr lvl="1"/>
            <a:endParaRPr lang="en-US" altLang="en-US" sz="1600" dirty="0">
              <a:latin typeface="Helvetica Neue" panose="020B0604020202020204" charset="0"/>
            </a:endParaRP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Static functions only visible within the file in which they are defined.</a:t>
            </a:r>
            <a:endParaRPr lang="en-IN" altLang="en-US" sz="1600" dirty="0">
              <a:latin typeface="Helvetica Neue" panose="020B060402020202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47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Storage class static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55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404040"/>
                </a:solidFill>
                <a:latin typeface="Helvetica Neue" panose="020B0604020202020204" charset="0"/>
              </a:rPr>
              <a:t>	</a:t>
            </a:r>
            <a:r>
              <a:rPr lang="en-US" altLang="en-US" sz="2000" dirty="0" err="1">
                <a:solidFill>
                  <a:srgbClr val="404040"/>
                </a:solidFill>
                <a:latin typeface="Helvetica Neue" panose="020B0604020202020204" charset="0"/>
              </a:rPr>
              <a:t>int</a:t>
            </a:r>
            <a:r>
              <a:rPr lang="en-US" altLang="en-US" sz="2000" dirty="0">
                <a:solidFill>
                  <a:srgbClr val="404040"/>
                </a:solidFill>
                <a:latin typeface="Helvetica Neue" panose="020B0604020202020204" charset="0"/>
              </a:rPr>
              <a:t> passcode = 12345;                </a:t>
            </a:r>
            <a:r>
              <a:rPr lang="en-US" altLang="en-US" sz="2000" dirty="0">
                <a:solidFill>
                  <a:srgbClr val="009900"/>
                </a:solidFill>
                <a:latin typeface="Helvetica Neue" panose="020B0604020202020204" charset="0"/>
              </a:rPr>
              <a:t>// public</a:t>
            </a:r>
            <a:endParaRPr lang="en-US" altLang="en-US" sz="2000" b="1" dirty="0">
              <a:solidFill>
                <a:srgbClr val="009900"/>
              </a:solidFill>
              <a:latin typeface="Helvetica Neue" panose="020B0604020202020204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404040"/>
                </a:solidFill>
                <a:latin typeface="Helvetica Neue" panose="020B0604020202020204" charset="0"/>
              </a:rPr>
              <a:t>	static </a:t>
            </a:r>
            <a:r>
              <a:rPr lang="en-US" altLang="en-US" sz="2000" dirty="0" err="1">
                <a:solidFill>
                  <a:srgbClr val="404040"/>
                </a:solidFill>
                <a:latin typeface="Helvetica Neue" panose="020B0604020202020204" charset="0"/>
              </a:rPr>
              <a:t>int</a:t>
            </a:r>
            <a:r>
              <a:rPr lang="en-US" altLang="en-US" sz="2000" dirty="0">
                <a:solidFill>
                  <a:srgbClr val="404040"/>
                </a:solidFill>
                <a:latin typeface="Helvetica Neue" panose="020B0604020202020204" charset="0"/>
              </a:rPr>
              <a:t> </a:t>
            </a:r>
            <a:r>
              <a:rPr lang="en-US" altLang="en-US" sz="2000" dirty="0" err="1">
                <a:solidFill>
                  <a:srgbClr val="404040"/>
                </a:solidFill>
                <a:latin typeface="Helvetica Neue" panose="020B0604020202020204" charset="0"/>
              </a:rPr>
              <a:t>admin_passcode</a:t>
            </a:r>
            <a:r>
              <a:rPr lang="en-US" altLang="en-US" sz="2000" dirty="0">
                <a:solidFill>
                  <a:srgbClr val="404040"/>
                </a:solidFill>
                <a:latin typeface="Helvetica Neue" panose="020B0604020202020204" charset="0"/>
              </a:rPr>
              <a:t> = 67890;   </a:t>
            </a:r>
            <a:r>
              <a:rPr lang="en-US" altLang="en-US" sz="2000" dirty="0">
                <a:solidFill>
                  <a:srgbClr val="009900"/>
                </a:solidFill>
                <a:latin typeface="Helvetica Neue" panose="020B0604020202020204" charset="0"/>
              </a:rPr>
              <a:t>// </a:t>
            </a:r>
            <a:r>
              <a:rPr lang="en-US" altLang="en-US" sz="2000" dirty="0" smtClean="0">
                <a:solidFill>
                  <a:srgbClr val="009900"/>
                </a:solidFill>
                <a:latin typeface="Helvetica Neue" panose="020B0604020202020204" charset="0"/>
              </a:rPr>
              <a:t>private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dirty="0">
              <a:solidFill>
                <a:srgbClr val="009900"/>
              </a:solidFill>
              <a:latin typeface="Helvetica Neue" panose="020B0604020202020204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 smtClean="0">
                <a:solidFill>
                  <a:schemeClr val="tx1"/>
                </a:solidFill>
                <a:latin typeface="Helvetica Neue" panose="020B0604020202020204" charset="0"/>
              </a:rPr>
              <a:t>     </a:t>
            </a:r>
            <a:r>
              <a:rPr lang="en-US" altLang="en-US" sz="2000" dirty="0" err="1" smtClean="0">
                <a:solidFill>
                  <a:schemeClr val="tx1"/>
                </a:solidFill>
                <a:latin typeface="Helvetica Neue" panose="020B0604020202020204" charset="0"/>
              </a:rPr>
              <a:t>int</a:t>
            </a:r>
            <a:r>
              <a:rPr lang="en-US" altLang="en-US" sz="2000" dirty="0" smtClean="0">
                <a:solidFill>
                  <a:schemeClr val="tx1"/>
                </a:solidFill>
                <a:latin typeface="Helvetica Neue" panose="020B0604020202020204" charset="0"/>
              </a:rPr>
              <a:t> main(){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 smtClean="0">
                <a:solidFill>
                  <a:schemeClr val="tx1"/>
                </a:solidFill>
                <a:latin typeface="Helvetica Neue" panose="020B0604020202020204" charset="0"/>
              </a:rPr>
              <a:t>	……..</a:t>
            </a:r>
            <a:endParaRPr lang="en-US" altLang="en-US" sz="2000" dirty="0">
              <a:solidFill>
                <a:schemeClr val="tx1"/>
              </a:solidFill>
              <a:latin typeface="Helvetica Neue" panose="020B0604020202020204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dirty="0" smtClean="0">
              <a:solidFill>
                <a:schemeClr val="tx1"/>
              </a:solidFill>
              <a:latin typeface="Helvetica Neue" panose="020B0604020202020204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chemeClr val="tx1"/>
                </a:solidFill>
                <a:latin typeface="Helvetica Neue" panose="020B0604020202020204" charset="0"/>
              </a:rPr>
              <a:t> </a:t>
            </a:r>
            <a:r>
              <a:rPr lang="en-US" altLang="en-US" sz="2000" dirty="0" smtClean="0">
                <a:solidFill>
                  <a:schemeClr val="tx1"/>
                </a:solidFill>
                <a:latin typeface="Helvetica Neue" panose="020B0604020202020204" charset="0"/>
              </a:rPr>
              <a:t>    }</a:t>
            </a:r>
            <a:endParaRPr lang="en-US" altLang="en-US" sz="2000" dirty="0">
              <a:solidFill>
                <a:schemeClr val="tx1"/>
              </a:solidFill>
              <a:latin typeface="Helvetica Neue" panose="020B060402020202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48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700" y="88000"/>
            <a:ext cx="5074492" cy="793500"/>
          </a:xfrm>
        </p:spPr>
        <p:txBody>
          <a:bodyPr>
            <a:noAutofit/>
          </a:bodyPr>
          <a:lstStyle/>
          <a:p>
            <a:r>
              <a:rPr lang="en-US" altLang="en-US" dirty="0">
                <a:latin typeface="Consolas" panose="020B0609020204030204" pitchFamily="49" charset="0"/>
              </a:rPr>
              <a:t>Example: static variables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6426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1800" dirty="0">
                <a:latin typeface="Helvetica" panose="020B0604020202020204" pitchFamily="34" charset="0"/>
              </a:rPr>
              <a:t>Storage Class defines both</a:t>
            </a:r>
          </a:p>
          <a:p>
            <a:pPr lvl="1">
              <a:lnSpc>
                <a:spcPct val="150000"/>
              </a:lnSpc>
            </a:pPr>
            <a:r>
              <a:rPr lang="en-US" altLang="en-US" sz="1800" b="1" dirty="0">
                <a:latin typeface="Helvetica" panose="020B0604020202020204" pitchFamily="34" charset="0"/>
              </a:rPr>
              <a:t>Scope</a:t>
            </a:r>
            <a:r>
              <a:rPr lang="en-US" altLang="en-US" sz="1800" dirty="0">
                <a:latin typeface="Helvetica" panose="020B0604020202020204" pitchFamily="34" charset="0"/>
              </a:rPr>
              <a:t>: portion where the identifier is valid.</a:t>
            </a:r>
          </a:p>
          <a:p>
            <a:pPr lvl="1">
              <a:lnSpc>
                <a:spcPct val="150000"/>
              </a:lnSpc>
            </a:pPr>
            <a:r>
              <a:rPr lang="en-US" altLang="en-US" sz="1800" b="1" dirty="0">
                <a:latin typeface="Helvetica" panose="020B0604020202020204" pitchFamily="34" charset="0"/>
              </a:rPr>
              <a:t>Duration</a:t>
            </a:r>
            <a:r>
              <a:rPr lang="en-US" altLang="en-US" sz="1800" dirty="0">
                <a:latin typeface="Helvetica" panose="020B0604020202020204" pitchFamily="34" charset="0"/>
              </a:rPr>
              <a:t>: How long an identifier exists in memory</a:t>
            </a:r>
          </a:p>
          <a:p>
            <a:pPr lvl="1">
              <a:lnSpc>
                <a:spcPct val="150000"/>
              </a:lnSpc>
            </a:pPr>
            <a:endParaRPr lang="en-US" altLang="en-US" sz="1800" dirty="0">
              <a:latin typeface="Helvetica" panose="020B0604020202020204" pitchFamily="34" charset="0"/>
            </a:endParaRPr>
          </a:p>
          <a:p>
            <a:r>
              <a:rPr lang="en-US" altLang="en-US" sz="1800" dirty="0">
                <a:latin typeface="Helvetica" panose="020B0604020202020204" pitchFamily="34" charset="0"/>
              </a:rPr>
              <a:t>There are four storage classes</a:t>
            </a:r>
          </a:p>
          <a:p>
            <a:pPr lvl="1"/>
            <a:r>
              <a:rPr lang="en-US" altLang="en-US" sz="1800" dirty="0">
                <a:latin typeface="Helvetica" panose="020B0604020202020204" pitchFamily="34" charset="0"/>
              </a:rPr>
              <a:t>auto or automatic</a:t>
            </a:r>
          </a:p>
          <a:p>
            <a:pPr lvl="1"/>
            <a:r>
              <a:rPr lang="en-US" altLang="en-US" sz="1800" dirty="0">
                <a:latin typeface="Helvetica" panose="020B0604020202020204" pitchFamily="34" charset="0"/>
              </a:rPr>
              <a:t>extern</a:t>
            </a:r>
          </a:p>
          <a:p>
            <a:pPr lvl="1"/>
            <a:r>
              <a:rPr lang="en-US" altLang="en-US" sz="1800" dirty="0">
                <a:latin typeface="Helvetica" panose="020B0604020202020204" pitchFamily="34" charset="0"/>
              </a:rPr>
              <a:t>static</a:t>
            </a:r>
          </a:p>
          <a:p>
            <a:pPr lvl="1"/>
            <a:r>
              <a:rPr lang="en-US" altLang="en-US" sz="1800" b="1" dirty="0">
                <a:latin typeface="Helvetica" panose="020B0604020202020204" pitchFamily="34" charset="0"/>
              </a:rPr>
              <a:t>register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49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Storage Class</a:t>
            </a:r>
            <a:r>
              <a:rPr lang="en-US" altLang="en-US" dirty="0" smtClean="0"/>
              <a:t>: register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8908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Helvetica" panose="020B0604020202020204" pitchFamily="34" charset="0"/>
              </a:rPr>
              <a:t>register </a:t>
            </a:r>
            <a:r>
              <a:rPr lang="en-US" altLang="en-US" sz="1800" dirty="0" err="1">
                <a:latin typeface="Helvetica" panose="020B0604020202020204" pitchFamily="34" charset="0"/>
              </a:rPr>
              <a:t>int</a:t>
            </a:r>
            <a:r>
              <a:rPr lang="en-US" altLang="en-US" sz="1800" dirty="0">
                <a:latin typeface="Helvetica" panose="020B0604020202020204" pitchFamily="34" charset="0"/>
              </a:rPr>
              <a:t> </a:t>
            </a:r>
            <a:r>
              <a:rPr lang="en-US" altLang="en-US" sz="1800" dirty="0" err="1">
                <a:latin typeface="Helvetica" panose="020B0604020202020204" pitchFamily="34" charset="0"/>
              </a:rPr>
              <a:t>i</a:t>
            </a:r>
            <a:r>
              <a:rPr lang="en-US" altLang="en-US" sz="1800" dirty="0">
                <a:latin typeface="Helvetica" panose="020B0604020202020204" pitchFamily="34" charset="0"/>
              </a:rPr>
              <a:t>;</a:t>
            </a:r>
          </a:p>
          <a:p>
            <a:r>
              <a:rPr lang="en-US" altLang="en-US" sz="1800" dirty="0">
                <a:latin typeface="Helvetica" panose="020B0604020202020204" pitchFamily="34" charset="0"/>
              </a:rPr>
              <a:t>Suggests the compiler the variable </a:t>
            </a:r>
            <a:r>
              <a:rPr lang="en-US" altLang="en-US" sz="1800" dirty="0" err="1">
                <a:latin typeface="Helvetica" panose="020B0604020202020204" pitchFamily="34" charset="0"/>
              </a:rPr>
              <a:t>i</a:t>
            </a:r>
            <a:r>
              <a:rPr lang="en-US" altLang="en-US" sz="1800" dirty="0">
                <a:latin typeface="Helvetica" panose="020B0604020202020204" pitchFamily="34" charset="0"/>
              </a:rPr>
              <a:t> be stored in high speed registers</a:t>
            </a:r>
          </a:p>
          <a:p>
            <a:pPr lvl="1"/>
            <a:r>
              <a:rPr lang="en-US" altLang="en-US" sz="1800" dirty="0">
                <a:latin typeface="Helvetica" panose="020B0604020202020204" pitchFamily="34" charset="0"/>
              </a:rPr>
              <a:t>Not mandatory for the compiler to store in high speed registers</a:t>
            </a:r>
          </a:p>
          <a:p>
            <a:endParaRPr lang="en-US" altLang="en-US" sz="1800" dirty="0">
              <a:latin typeface="Helvetica" panose="020B0604020202020204" pitchFamily="34" charset="0"/>
            </a:endParaRPr>
          </a:p>
          <a:p>
            <a:r>
              <a:rPr lang="en-US" altLang="en-US" sz="1800" dirty="0">
                <a:latin typeface="Helvetica" panose="020B0604020202020204" pitchFamily="34" charset="0"/>
              </a:rPr>
              <a:t>Modern compilers are intelligent and optimize accordingly, hence not necessary.</a:t>
            </a:r>
            <a:endParaRPr lang="en-IN" altLang="en-US" sz="1800" dirty="0">
              <a:latin typeface="Helvetica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50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Register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8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smtClean="0"/>
              <a:t>Recursion</a:t>
            </a:r>
            <a:br>
              <a:rPr lang="en-IN" dirty="0" smtClean="0"/>
            </a:br>
            <a:r>
              <a:rPr lang="en-IN" sz="1800" dirty="0" smtClean="0"/>
              <a:t>The handshake problem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67414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872774"/>
            <a:ext cx="8160758" cy="1045947"/>
          </a:xfrm>
        </p:spPr>
        <p:txBody>
          <a:bodyPr>
            <a:normAutofit/>
          </a:bodyPr>
          <a:lstStyle/>
          <a:p>
            <a:pPr>
              <a:buFont typeface="Monotype Sorts" pitchFamily="2" charset="2"/>
              <a:buNone/>
            </a:pPr>
            <a:r>
              <a:rPr lang="en-US" altLang="en-US" sz="1800" dirty="0"/>
              <a:t>There are n people in a room. If each person shakes hands once with </a:t>
            </a:r>
            <a:r>
              <a:rPr lang="en-US" altLang="en-US" sz="1800" dirty="0" smtClean="0"/>
              <a:t>every other </a:t>
            </a:r>
            <a:r>
              <a:rPr lang="en-US" altLang="en-US" sz="1800" dirty="0"/>
              <a:t>person. What is the total number </a:t>
            </a:r>
            <a:r>
              <a:rPr lang="en-US" altLang="en-US" sz="1800" b="1" dirty="0">
                <a:solidFill>
                  <a:srgbClr val="FF0000"/>
                </a:solidFill>
              </a:rPr>
              <a:t>h(n) </a:t>
            </a:r>
            <a:r>
              <a:rPr lang="en-US" altLang="en-US" sz="1800" dirty="0"/>
              <a:t>of handshakes?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52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Handshake Problem</a:t>
            </a:r>
            <a:endParaRPr lang="en-IN" dirty="0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173647"/>
              </p:ext>
            </p:extLst>
          </p:nvPr>
        </p:nvGraphicFramePr>
        <p:xfrm>
          <a:off x="400131" y="2537247"/>
          <a:ext cx="2743366" cy="1721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" name="Clip" r:id="rId4" imgW="4038840" imgH="2534400" progId="MS_ClipArt_Gallery.2">
                  <p:embed/>
                </p:oleObj>
              </mc:Choice>
              <mc:Fallback>
                <p:oleObj name="Clip" r:id="rId4" imgW="4038840" imgH="253440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131" y="2537247"/>
                        <a:ext cx="2743366" cy="17216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823578"/>
              </p:ext>
            </p:extLst>
          </p:nvPr>
        </p:nvGraphicFramePr>
        <p:xfrm>
          <a:off x="3724127" y="2537247"/>
          <a:ext cx="793117" cy="167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" name="Clip" r:id="rId6" imgW="520200" imgH="1094040" progId="MS_ClipArt_Gallery.2">
                  <p:embed/>
                </p:oleObj>
              </mc:Choice>
              <mc:Fallback>
                <p:oleObj name="Clip" r:id="rId6" imgW="520200" imgH="109404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127" y="2537247"/>
                        <a:ext cx="793117" cy="167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677016"/>
              </p:ext>
            </p:extLst>
          </p:nvPr>
        </p:nvGraphicFramePr>
        <p:xfrm>
          <a:off x="4972746" y="2631945"/>
          <a:ext cx="773941" cy="162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" name="Clip" r:id="rId8" imgW="520200" imgH="1087920" progId="MS_ClipArt_Gallery.2">
                  <p:embed/>
                </p:oleObj>
              </mc:Choice>
              <mc:Fallback>
                <p:oleObj name="Clip" r:id="rId8" imgW="520200" imgH="108792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746" y="2631945"/>
                        <a:ext cx="773941" cy="162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662579"/>
              </p:ext>
            </p:extLst>
          </p:nvPr>
        </p:nvGraphicFramePr>
        <p:xfrm>
          <a:off x="6202189" y="2396523"/>
          <a:ext cx="1440453" cy="1856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" name="Clip" r:id="rId10" imgW="913320" imgH="1176480" progId="MS_ClipArt_Gallery.2">
                  <p:embed/>
                </p:oleObj>
              </mc:Choice>
              <mc:Fallback>
                <p:oleObj name="Clip" r:id="rId10" imgW="913320" imgH="117648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2189" y="2396523"/>
                        <a:ext cx="1440453" cy="1856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926069" y="2208470"/>
            <a:ext cx="16914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h(n) = h(n-1) + n-1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72896" y="2147881"/>
            <a:ext cx="13452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h(4) = h(3) + 3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6949" y="2171715"/>
            <a:ext cx="13452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h(3) = h(2) + 2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3393" y="2047394"/>
            <a:ext cx="8146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h(2) 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131" y="4387522"/>
            <a:ext cx="30171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h(n): Sum of integer from 1 to n-1</a:t>
            </a:r>
          </a:p>
        </p:txBody>
      </p:sp>
    </p:spTree>
    <p:extLst>
      <p:ext uri="{BB962C8B-B14F-4D97-AF65-F5344CB8AC3E}">
        <p14:creationId xmlns:p14="http://schemas.microsoft.com/office/powerpoint/2010/main" val="370743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IN" sz="1800" dirty="0"/>
              <a:t>Write a recursive function to solve the handshake problem</a:t>
            </a:r>
            <a:r>
              <a:rPr lang="en-IN" sz="1800" dirty="0" smtClean="0"/>
              <a:t>?</a:t>
            </a:r>
          </a:p>
          <a:p>
            <a:endParaRPr lang="en-IN" sz="1800" dirty="0"/>
          </a:p>
          <a:p>
            <a:endParaRPr lang="en-IN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53</a:t>
            </a:fld>
            <a:endParaRPr lang="en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1699" y="88000"/>
            <a:ext cx="5638163" cy="793500"/>
          </a:xfrm>
        </p:spPr>
        <p:txBody>
          <a:bodyPr>
            <a:normAutofit/>
          </a:bodyPr>
          <a:lstStyle/>
          <a:p>
            <a:r>
              <a:rPr lang="en-IN" dirty="0"/>
              <a:t>Solution to handshake problem</a:t>
            </a:r>
          </a:p>
        </p:txBody>
      </p:sp>
    </p:spTree>
    <p:extLst>
      <p:ext uri="{BB962C8B-B14F-4D97-AF65-F5344CB8AC3E}">
        <p14:creationId xmlns:p14="http://schemas.microsoft.com/office/powerpoint/2010/main" val="224721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54</a:t>
            </a:fld>
            <a:endParaRPr lang="en"/>
          </a:p>
        </p:txBody>
      </p:sp>
      <p:sp>
        <p:nvSpPr>
          <p:cNvPr id="7" name="Rectangle 6"/>
          <p:cNvSpPr/>
          <p:nvPr/>
        </p:nvSpPr>
        <p:spPr>
          <a:xfrm>
            <a:off x="419621" y="1007784"/>
            <a:ext cx="3425869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#include &lt;</a:t>
            </a:r>
            <a:r>
              <a:rPr lang="en-IN" sz="1600" dirty="0" err="1">
                <a:latin typeface="Helvetica" panose="020B0604020202020204" pitchFamily="34" charset="0"/>
              </a:rPr>
              <a:t>stdio.h</a:t>
            </a:r>
            <a:r>
              <a:rPr lang="en-IN" sz="1600" dirty="0">
                <a:latin typeface="Helvetica" panose="020B0604020202020204" pitchFamily="34" charset="0"/>
              </a:rPr>
              <a:t>&gt;</a:t>
            </a:r>
          </a:p>
          <a:p>
            <a:pPr marL="0" indent="0">
              <a:buNone/>
            </a:pPr>
            <a:endParaRPr lang="en-IN" sz="1600" dirty="0">
              <a:latin typeface="Helvetica" panose="020B0604020202020204" pitchFamily="34" charset="0"/>
            </a:endParaRPr>
          </a:p>
          <a:p>
            <a:pPr marL="0" indent="0">
              <a:buNone/>
            </a:pP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  h(</a:t>
            </a: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);</a:t>
            </a:r>
          </a:p>
          <a:p>
            <a:pPr marL="0" indent="0">
              <a:buNone/>
            </a:pPr>
            <a:endParaRPr lang="en-IN" sz="1600" dirty="0">
              <a:latin typeface="Helvetica" panose="020B0604020202020204" pitchFamily="34" charset="0"/>
            </a:endParaRPr>
          </a:p>
          <a:p>
            <a:pPr marL="0" indent="0">
              <a:buNone/>
            </a:pP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 main() {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    </a:t>
            </a: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 n;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</a:t>
            </a:r>
            <a:r>
              <a:rPr lang="en-IN" sz="1600" dirty="0" err="1">
                <a:latin typeface="Helvetica" panose="020B0604020202020204" pitchFamily="34" charset="0"/>
              </a:rPr>
              <a:t>printf</a:t>
            </a:r>
            <a:r>
              <a:rPr lang="en-IN" sz="1600" dirty="0">
                <a:latin typeface="Helvetica" panose="020B0604020202020204" pitchFamily="34" charset="0"/>
              </a:rPr>
              <a:t>("Enter no. of persons: ");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</a:t>
            </a:r>
            <a:r>
              <a:rPr lang="en-IN" sz="1600" dirty="0" err="1">
                <a:latin typeface="Helvetica" panose="020B0604020202020204" pitchFamily="34" charset="0"/>
              </a:rPr>
              <a:t>scanf</a:t>
            </a:r>
            <a:r>
              <a:rPr lang="en-IN" sz="1600" dirty="0">
                <a:latin typeface="Helvetica" panose="020B0604020202020204" pitchFamily="34" charset="0"/>
              </a:rPr>
              <a:t>("%d", &amp;n);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</a:t>
            </a:r>
            <a:r>
              <a:rPr lang="en-IN" sz="1600" dirty="0" err="1">
                <a:latin typeface="Helvetica" panose="020B0604020202020204" pitchFamily="34" charset="0"/>
              </a:rPr>
              <a:t>printf</a:t>
            </a:r>
            <a:r>
              <a:rPr lang="en-IN" sz="1600" dirty="0">
                <a:latin typeface="Helvetica" panose="020B0604020202020204" pitchFamily="34" charset="0"/>
              </a:rPr>
              <a:t>("Total handshakes: %d\n", h(n));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return 0;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4935" y="1007784"/>
            <a:ext cx="4695809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 h(</a:t>
            </a: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 n) {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if (n == 0 || n == 1)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       return 0;  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// No handshakes possible with 0 or 1 person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 else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        return (n - 1) + h(n - 1);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699" y="88000"/>
            <a:ext cx="5638163" cy="793500"/>
          </a:xfrm>
        </p:spPr>
        <p:txBody>
          <a:bodyPr>
            <a:normAutofit/>
          </a:bodyPr>
          <a:lstStyle/>
          <a:p>
            <a:r>
              <a:rPr lang="en-IN" dirty="0"/>
              <a:t>Solution to handshake problem</a:t>
            </a:r>
          </a:p>
        </p:txBody>
      </p:sp>
    </p:spTree>
    <p:extLst>
      <p:ext uri="{BB962C8B-B14F-4D97-AF65-F5344CB8AC3E}">
        <p14:creationId xmlns:p14="http://schemas.microsoft.com/office/powerpoint/2010/main" val="185499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IN" sz="1800" dirty="0" smtClean="0"/>
              <a:t>How </a:t>
            </a:r>
            <a:r>
              <a:rPr lang="en-IN" sz="1800" dirty="0"/>
              <a:t>does recursion work?</a:t>
            </a:r>
          </a:p>
          <a:p>
            <a:pPr lvl="1"/>
            <a:r>
              <a:rPr lang="en-IN" sz="1600" dirty="0"/>
              <a:t>That is, the total number of function calls.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55</a:t>
            </a:fld>
            <a:endParaRPr lang="en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411453" y="129564"/>
            <a:ext cx="4270500" cy="793500"/>
          </a:xfrm>
        </p:spPr>
        <p:txBody>
          <a:bodyPr/>
          <a:lstStyle/>
          <a:p>
            <a:r>
              <a:rPr lang="en-IN" dirty="0"/>
              <a:t>How does recursion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867910" y="2321195"/>
            <a:ext cx="332170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 h(</a:t>
            </a:r>
            <a:r>
              <a:rPr lang="en-IN" sz="1600" dirty="0" err="1">
                <a:latin typeface="Helvetica" panose="020B0604020202020204" pitchFamily="34" charset="0"/>
              </a:rPr>
              <a:t>int</a:t>
            </a:r>
            <a:r>
              <a:rPr lang="en-IN" sz="1600" dirty="0">
                <a:latin typeface="Helvetica" panose="020B0604020202020204" pitchFamily="34" charset="0"/>
              </a:rPr>
              <a:t> n) {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if (n == 0 || n == 1)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       return 0;  </a:t>
            </a:r>
          </a:p>
          <a:p>
            <a:pPr marL="0" indent="0">
              <a:buNone/>
            </a:pPr>
            <a:r>
              <a:rPr lang="en-IN" sz="1600" dirty="0" smtClean="0">
                <a:latin typeface="Helvetica" panose="020B0604020202020204" pitchFamily="34" charset="0"/>
              </a:rPr>
              <a:t>else</a:t>
            </a:r>
            <a:endParaRPr lang="en-IN" sz="1600" dirty="0">
              <a:latin typeface="Helvetica" panose="020B0604020202020204" pitchFamily="34" charset="0"/>
            </a:endParaRP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        return (n - 1) + h(n - 1);</a:t>
            </a:r>
          </a:p>
          <a:p>
            <a:pPr marL="0" indent="0">
              <a:buNone/>
            </a:pPr>
            <a:r>
              <a:rPr lang="en-IN" sz="1600" dirty="0">
                <a:latin typeface="Helvetica" panose="020B0604020202020204" pitchFamily="34" charset="0"/>
              </a:rPr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67109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sz="1600" dirty="0">
                <a:latin typeface="Helvetica Neue" panose="020B0604020202020204" charset="0"/>
              </a:rPr>
              <a:t>Recursive Functions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Functions that call themselves.</a:t>
            </a:r>
          </a:p>
          <a:p>
            <a:pPr lvl="1"/>
            <a:endParaRPr lang="en-US" altLang="en-US" sz="1600" dirty="0">
              <a:latin typeface="Helvetica Neue" panose="020B060402020202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56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Recursion definition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96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sz="1600" dirty="0">
                <a:latin typeface="Helvetica Neue" panose="020B0604020202020204" charset="0"/>
              </a:rPr>
              <a:t>Recursive Functions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Functions that call themselves.</a:t>
            </a:r>
          </a:p>
          <a:p>
            <a:pPr lvl="1"/>
            <a:endParaRPr lang="en-US" altLang="en-US" sz="1600" dirty="0">
              <a:latin typeface="Helvetica Neue" panose="020B0604020202020204" charset="0"/>
            </a:endParaRPr>
          </a:p>
          <a:p>
            <a:r>
              <a:rPr lang="en-US" altLang="en-US" sz="1600" dirty="0">
                <a:latin typeface="Helvetica Neue" panose="020B0604020202020204" charset="0"/>
              </a:rPr>
              <a:t>Two fundamental rules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A base case (solvable without recursion) should exist.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recursive </a:t>
            </a:r>
            <a:r>
              <a:rPr lang="en-US" altLang="en-US" sz="1600" dirty="0" err="1">
                <a:latin typeface="Helvetica Neue" panose="020B0604020202020204" charset="0"/>
              </a:rPr>
              <a:t>cae</a:t>
            </a:r>
            <a:r>
              <a:rPr lang="en-US" altLang="en-US" sz="1600" dirty="0">
                <a:latin typeface="Helvetica Neue" panose="020B0604020202020204" charset="0"/>
              </a:rPr>
              <a:t>: recursion proceeds towards  base case</a:t>
            </a:r>
          </a:p>
          <a:p>
            <a:pPr lvl="1"/>
            <a:endParaRPr lang="en-US" altLang="en-US" sz="1600" dirty="0">
              <a:latin typeface="Helvetica Neue" panose="020B060402020202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57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Recursion definition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17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sz="1600" dirty="0">
                <a:latin typeface="Helvetica Neue" panose="020B0604020202020204" charset="0"/>
              </a:rPr>
              <a:t>Recursive Functions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Functions that call themselves.</a:t>
            </a:r>
          </a:p>
          <a:p>
            <a:pPr lvl="1"/>
            <a:endParaRPr lang="en-US" altLang="en-US" sz="1600" dirty="0">
              <a:latin typeface="Helvetica Neue" panose="020B0604020202020204" charset="0"/>
            </a:endParaRPr>
          </a:p>
          <a:p>
            <a:r>
              <a:rPr lang="en-US" altLang="en-US" sz="1600" dirty="0">
                <a:latin typeface="Helvetica Neue" panose="020B0604020202020204" charset="0"/>
              </a:rPr>
              <a:t>Two fundamental rules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A base case (solvable without recursion) should exist.</a:t>
            </a:r>
          </a:p>
          <a:p>
            <a:pPr lvl="1"/>
            <a:r>
              <a:rPr lang="en-US" altLang="en-US" sz="1600" dirty="0">
                <a:latin typeface="Helvetica Neue" panose="020B0604020202020204" charset="0"/>
              </a:rPr>
              <a:t>recursive </a:t>
            </a:r>
            <a:r>
              <a:rPr lang="en-US" altLang="en-US" sz="1600" dirty="0" err="1">
                <a:latin typeface="Helvetica Neue" panose="020B0604020202020204" charset="0"/>
              </a:rPr>
              <a:t>cae</a:t>
            </a:r>
            <a:r>
              <a:rPr lang="en-US" altLang="en-US" sz="1600" dirty="0">
                <a:latin typeface="Helvetica Neue" panose="020B0604020202020204" charset="0"/>
              </a:rPr>
              <a:t>: recursion proceeds towards  base case</a:t>
            </a:r>
          </a:p>
          <a:p>
            <a:pPr lvl="1"/>
            <a:endParaRPr lang="en-US" altLang="en-US" sz="1600" dirty="0">
              <a:latin typeface="Helvetica Neue" panose="020B0604020202020204" charset="0"/>
            </a:endParaRPr>
          </a:p>
          <a:p>
            <a:r>
              <a:rPr lang="en-US" altLang="en-US" sz="1600" dirty="0">
                <a:latin typeface="Helvetica Neue" panose="020B0604020202020204" charset="0"/>
              </a:rPr>
              <a:t>Eventually base  case gets solved, plugged in, works its way up and solves the whole problem</a:t>
            </a:r>
            <a:endParaRPr lang="en-IN" altLang="en-US" sz="1600" dirty="0">
              <a:latin typeface="Helvetica Neue" panose="020B060402020202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58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Recursion definition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89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smtClean="0"/>
              <a:t>Recursion</a:t>
            </a:r>
            <a:br>
              <a:rPr lang="en-IN" dirty="0" smtClean="0"/>
            </a:br>
            <a:r>
              <a:rPr lang="en-IN" sz="1800" dirty="0" err="1" smtClean="0"/>
              <a:t>Recursion</a:t>
            </a:r>
            <a:r>
              <a:rPr lang="en-IN" sz="1800" dirty="0" smtClean="0"/>
              <a:t> vs. Iteration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97638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IN" sz="1600" dirty="0"/>
              <a:t>Write a program to compute factorial using recursion.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60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Ex: Using Recursion</a:t>
            </a:r>
          </a:p>
        </p:txBody>
      </p:sp>
    </p:spTree>
    <p:extLst>
      <p:ext uri="{BB962C8B-B14F-4D97-AF65-F5344CB8AC3E}">
        <p14:creationId xmlns:p14="http://schemas.microsoft.com/office/powerpoint/2010/main" val="165891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dirty="0"/>
              <a:t>4! = 4 * 3 * 2 * 1</a:t>
            </a:r>
          </a:p>
          <a:p>
            <a:r>
              <a:rPr lang="en-US" altLang="en-US" dirty="0"/>
              <a:t>Observation</a:t>
            </a:r>
          </a:p>
          <a:p>
            <a:pPr lvl="1"/>
            <a:r>
              <a:rPr lang="en-US" altLang="en-US" dirty="0"/>
              <a:t>4! = 4 * 3!  - Recursive call 1</a:t>
            </a:r>
          </a:p>
          <a:p>
            <a:pPr lvl="1"/>
            <a:r>
              <a:rPr lang="en-US" altLang="en-US" dirty="0"/>
              <a:t>3! = 3 * 2!  - Recursive  call 2</a:t>
            </a:r>
          </a:p>
          <a:p>
            <a:pPr lvl="1"/>
            <a:r>
              <a:rPr lang="en-US" altLang="en-US" dirty="0"/>
              <a:t>2! = 2 * 1!  - Recursive call 3</a:t>
            </a:r>
          </a:p>
          <a:p>
            <a:pPr lvl="1"/>
            <a:r>
              <a:rPr lang="en-US" altLang="en-US" dirty="0"/>
              <a:t>1! = 1  - Base Case</a:t>
            </a:r>
          </a:p>
          <a:p>
            <a:r>
              <a:rPr lang="en-US" altLang="en-US" dirty="0"/>
              <a:t>Put the solution of the base case in recursive call 3 and so on. Work up the solution to the problem.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61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Recursion Example - Factorial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60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1600" dirty="0" err="1">
                <a:latin typeface="Helvetica" panose="020B0604020202020204" pitchFamily="34" charset="0"/>
              </a:rPr>
              <a:t>int</a:t>
            </a:r>
            <a:r>
              <a:rPr lang="en-US" altLang="en-US" sz="1600" dirty="0">
                <a:latin typeface="Helvetica" panose="020B0604020202020204" pitchFamily="34" charset="0"/>
              </a:rPr>
              <a:t> factorial(</a:t>
            </a:r>
            <a:r>
              <a:rPr lang="en-US" altLang="en-US" sz="1600" dirty="0" err="1">
                <a:latin typeface="Helvetica" panose="020B0604020202020204" pitchFamily="34" charset="0"/>
              </a:rPr>
              <a:t>int</a:t>
            </a:r>
            <a:r>
              <a:rPr lang="en-US" altLang="en-US" sz="1600" dirty="0">
                <a:latin typeface="Helvetica" panose="020B0604020202020204" pitchFamily="34" charset="0"/>
              </a:rPr>
              <a:t> n)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	if (n == 1 || n == 0)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		return 1; // Base Case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	else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		return (n * factorial(n-1));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>
                <a:latin typeface="Helvetica" panose="020B0604020202020204" pitchFamily="34" charset="0"/>
              </a:rPr>
              <a:t>}</a:t>
            </a:r>
            <a:endParaRPr lang="en-IN" altLang="en-US" sz="1600" dirty="0">
              <a:latin typeface="Helvetica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62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Factorial Function – </a:t>
            </a:r>
            <a:r>
              <a:rPr lang="en-US" altLang="en-US" sz="1800" dirty="0"/>
              <a:t>Recursive Version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79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sz="1600" dirty="0">
                <a:latin typeface="Helvetica" panose="020B0604020202020204" pitchFamily="34" charset="0"/>
              </a:rPr>
              <a:t>We have to pay a price for recursion:</a:t>
            </a:r>
          </a:p>
          <a:p>
            <a:pPr lvl="1"/>
            <a:r>
              <a:rPr lang="en-US" altLang="en-US" sz="1400" dirty="0">
                <a:latin typeface="Helvetica" panose="020B0604020202020204" pitchFamily="34" charset="0"/>
              </a:rPr>
              <a:t>calling function </a:t>
            </a:r>
            <a:r>
              <a:rPr lang="en-US" altLang="en-US" sz="1400" dirty="0">
                <a:solidFill>
                  <a:srgbClr val="FF0000"/>
                </a:solidFill>
                <a:latin typeface="Helvetica" panose="020B0604020202020204" pitchFamily="34" charset="0"/>
              </a:rPr>
              <a:t>consumes more time and memory</a:t>
            </a:r>
            <a:r>
              <a:rPr lang="en-US" altLang="en-US" sz="1400" dirty="0">
                <a:latin typeface="Helvetica" panose="020B0604020202020204" pitchFamily="34" charset="0"/>
              </a:rPr>
              <a:t> than adjusting  loop counter. </a:t>
            </a:r>
          </a:p>
          <a:p>
            <a:pPr lvl="1"/>
            <a:endParaRPr lang="en-US" altLang="en-US" sz="1400" dirty="0">
              <a:latin typeface="Helvetica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63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Recursion limitations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08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sz="1600" dirty="0">
                <a:latin typeface="Helvetica" panose="020B0604020202020204" pitchFamily="34" charset="0"/>
              </a:rPr>
              <a:t>We have to pay a price for recursion:</a:t>
            </a:r>
          </a:p>
          <a:p>
            <a:pPr lvl="1"/>
            <a:r>
              <a:rPr lang="en-US" altLang="en-US" sz="1400" dirty="0">
                <a:latin typeface="Helvetica" panose="020B0604020202020204" pitchFamily="34" charset="0"/>
              </a:rPr>
              <a:t>calling function </a:t>
            </a:r>
            <a:r>
              <a:rPr lang="en-US" altLang="en-US" sz="1400" dirty="0">
                <a:solidFill>
                  <a:srgbClr val="FF0000"/>
                </a:solidFill>
                <a:latin typeface="Helvetica" panose="020B0604020202020204" pitchFamily="34" charset="0"/>
              </a:rPr>
              <a:t>consumes more time and memory</a:t>
            </a:r>
            <a:r>
              <a:rPr lang="en-US" altLang="en-US" sz="1400" dirty="0">
                <a:latin typeface="Helvetica" panose="020B0604020202020204" pitchFamily="34" charset="0"/>
              </a:rPr>
              <a:t> than adjusting  loop counter. </a:t>
            </a:r>
          </a:p>
          <a:p>
            <a:pPr lvl="1"/>
            <a:endParaRPr lang="en-US" altLang="en-US" sz="1400" dirty="0" smtClean="0">
              <a:latin typeface="Helvetica" panose="020B0604020202020204" pitchFamily="34" charset="0"/>
            </a:endParaRPr>
          </a:p>
          <a:p>
            <a:pPr lvl="1"/>
            <a:endParaRPr lang="en-US" altLang="en-US" sz="1400" dirty="0" smtClean="0">
              <a:latin typeface="Helvetica" panose="020B0604020202020204" pitchFamily="34" charset="0"/>
            </a:endParaRPr>
          </a:p>
          <a:p>
            <a:pPr lvl="1"/>
            <a:endParaRPr lang="en-US" altLang="en-US" sz="1400" dirty="0">
              <a:latin typeface="Helvetica" panose="020B0604020202020204" pitchFamily="34" charset="0"/>
            </a:endParaRPr>
          </a:p>
          <a:p>
            <a:r>
              <a:rPr lang="en-US" altLang="en-US" sz="1600" dirty="0">
                <a:latin typeface="Helvetica" panose="020B0604020202020204" pitchFamily="34" charset="0"/>
              </a:rPr>
              <a:t>In less demanding </a:t>
            </a:r>
            <a:r>
              <a:rPr lang="en-US" altLang="en-US" sz="1600" dirty="0" smtClean="0">
                <a:latin typeface="Helvetica" panose="020B0604020202020204" pitchFamily="34" charset="0"/>
              </a:rPr>
              <a:t>applications, </a:t>
            </a:r>
            <a:r>
              <a:rPr lang="en-US" altLang="en-US" sz="1600" dirty="0">
                <a:latin typeface="Helvetica" panose="020B0604020202020204" pitchFamily="34" charset="0"/>
              </a:rPr>
              <a:t>recursion is an attractive alternative for iteration (for the right problems!)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64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Recursion limitations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84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Repetition</a:t>
            </a:r>
          </a:p>
          <a:p>
            <a:pPr lvl="1" eaLnBrk="1" hangingPunct="1"/>
            <a:r>
              <a:rPr lang="en-US" altLang="en-US" dirty="0"/>
              <a:t>Iteration:  explicit loop</a:t>
            </a:r>
          </a:p>
          <a:p>
            <a:pPr lvl="1" eaLnBrk="1" hangingPunct="1"/>
            <a:r>
              <a:rPr lang="en-US" altLang="en-US" dirty="0"/>
              <a:t>Recursion:  repeated function </a:t>
            </a:r>
            <a:r>
              <a:rPr lang="en-US" altLang="en-US" dirty="0" smtClean="0"/>
              <a:t>calls</a:t>
            </a: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65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Recursion vs. Iteration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5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Repetition</a:t>
            </a:r>
          </a:p>
          <a:p>
            <a:pPr lvl="1" eaLnBrk="1" hangingPunct="1"/>
            <a:r>
              <a:rPr lang="en-US" altLang="en-US" dirty="0"/>
              <a:t>Iteration:  explicit loop</a:t>
            </a:r>
          </a:p>
          <a:p>
            <a:pPr lvl="1" eaLnBrk="1" hangingPunct="1"/>
            <a:r>
              <a:rPr lang="en-US" altLang="en-US" dirty="0"/>
              <a:t>Recursion:  repeated function calls</a:t>
            </a:r>
          </a:p>
          <a:p>
            <a:pPr eaLnBrk="1" hangingPunct="1"/>
            <a:r>
              <a:rPr lang="en-US" altLang="en-US" dirty="0"/>
              <a:t>Termination</a:t>
            </a:r>
          </a:p>
          <a:p>
            <a:pPr lvl="1" eaLnBrk="1" hangingPunct="1"/>
            <a:r>
              <a:rPr lang="en-US" altLang="en-US" dirty="0"/>
              <a:t>Iteration: loop condition fails</a:t>
            </a:r>
          </a:p>
          <a:p>
            <a:pPr lvl="1" eaLnBrk="1" hangingPunct="1"/>
            <a:r>
              <a:rPr lang="en-US" altLang="en-US" dirty="0"/>
              <a:t>Recursion: base case </a:t>
            </a:r>
            <a:r>
              <a:rPr lang="en-US" altLang="en-US" dirty="0" smtClean="0"/>
              <a:t>recognized</a:t>
            </a: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66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Recursion vs. Iteration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924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Repetition</a:t>
            </a:r>
          </a:p>
          <a:p>
            <a:pPr lvl="1" eaLnBrk="1" hangingPunct="1"/>
            <a:r>
              <a:rPr lang="en-US" altLang="en-US" dirty="0"/>
              <a:t>Iteration:  explicit loop</a:t>
            </a:r>
          </a:p>
          <a:p>
            <a:pPr lvl="1" eaLnBrk="1" hangingPunct="1"/>
            <a:r>
              <a:rPr lang="en-US" altLang="en-US" dirty="0"/>
              <a:t>Recursion:  repeated function calls</a:t>
            </a:r>
          </a:p>
          <a:p>
            <a:pPr eaLnBrk="1" hangingPunct="1"/>
            <a:r>
              <a:rPr lang="en-US" altLang="en-US" dirty="0"/>
              <a:t>Termination</a:t>
            </a:r>
          </a:p>
          <a:p>
            <a:pPr lvl="1" eaLnBrk="1" hangingPunct="1"/>
            <a:r>
              <a:rPr lang="en-US" altLang="en-US" dirty="0"/>
              <a:t>Iteration: loop condition fails</a:t>
            </a:r>
          </a:p>
          <a:p>
            <a:pPr lvl="1" eaLnBrk="1" hangingPunct="1"/>
            <a:r>
              <a:rPr lang="en-US" altLang="en-US" dirty="0"/>
              <a:t>Recursion: base case recognized</a:t>
            </a:r>
          </a:p>
          <a:p>
            <a:pPr eaLnBrk="1" hangingPunct="1"/>
            <a:r>
              <a:rPr lang="en-US" altLang="en-US" dirty="0"/>
              <a:t>Which one?</a:t>
            </a:r>
          </a:p>
          <a:p>
            <a:pPr lvl="1" eaLnBrk="1" hangingPunct="1"/>
            <a:r>
              <a:rPr lang="en-US" altLang="en-US" dirty="0"/>
              <a:t>Choice between performance (iteration) and good software engineering (recursion)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67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Recursion vs. Iteration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61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smtClean="0"/>
              <a:t>Recursion</a:t>
            </a:r>
            <a:br>
              <a:rPr lang="en-IN" dirty="0" smtClean="0"/>
            </a:br>
            <a:r>
              <a:rPr lang="en-IN" sz="1800" dirty="0" smtClean="0"/>
              <a:t>When not to </a:t>
            </a:r>
            <a:r>
              <a:rPr lang="en-IN" sz="1800" smtClean="0"/>
              <a:t>use recursion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46238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sz="1800" dirty="0">
                <a:latin typeface="Helvetica Neue" panose="020B0604020202020204" charset="0"/>
              </a:rPr>
              <a:t>How many pairs of rabbits can be produced from a single pair in a year's time? </a:t>
            </a:r>
          </a:p>
          <a:p>
            <a:pPr>
              <a:lnSpc>
                <a:spcPct val="90000"/>
              </a:lnSpc>
            </a:pPr>
            <a:r>
              <a:rPr lang="en-US" altLang="en-US" sz="1800" dirty="0">
                <a:latin typeface="Helvetica Neue" panose="020B0604020202020204" charset="0"/>
              </a:rPr>
              <a:t>Assumptions: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>
                <a:latin typeface="Helvetica Neue" panose="020B0604020202020204" charset="0"/>
              </a:rPr>
              <a:t>Each pair of rabbits produces a new pair of offspring every month; 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>
                <a:latin typeface="Helvetica Neue" panose="020B0604020202020204" charset="0"/>
              </a:rPr>
              <a:t>E</a:t>
            </a:r>
            <a:r>
              <a:rPr lang="en-US" altLang="en-US" sz="1600" dirty="0" smtClean="0">
                <a:latin typeface="Helvetica Neue" panose="020B0604020202020204" charset="0"/>
              </a:rPr>
              <a:t>ach </a:t>
            </a:r>
            <a:r>
              <a:rPr lang="en-US" altLang="en-US" sz="1600" dirty="0">
                <a:latin typeface="Helvetica Neue" panose="020B0604020202020204" charset="0"/>
              </a:rPr>
              <a:t>new pair becomes fertile at the age of one month; 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 smtClean="0">
                <a:latin typeface="Helvetica Neue" panose="020B0604020202020204" charset="0"/>
              </a:rPr>
              <a:t>None </a:t>
            </a:r>
            <a:r>
              <a:rPr lang="en-US" altLang="en-US" sz="1600" dirty="0">
                <a:latin typeface="Helvetica Neue" panose="020B0604020202020204" charset="0"/>
              </a:rPr>
              <a:t>of the rabbits dies in that year.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69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IN" dirty="0"/>
              <a:t>The rabbit problem</a:t>
            </a:r>
          </a:p>
        </p:txBody>
      </p:sp>
    </p:spTree>
    <p:extLst>
      <p:ext uri="{BB962C8B-B14F-4D97-AF65-F5344CB8AC3E}">
        <p14:creationId xmlns:p14="http://schemas.microsoft.com/office/powerpoint/2010/main" val="91870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70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IN" dirty="0"/>
              <a:t>Example of the rabbit problem</a:t>
            </a: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28" y="776475"/>
            <a:ext cx="5820587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9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800" dirty="0">
                <a:latin typeface="Helvetica Neue" panose="020B0604020202020204" charset="0"/>
                <a:hlinkClick r:id="rId3"/>
              </a:rPr>
              <a:t>Fibonacci numbers</a:t>
            </a:r>
            <a:r>
              <a:rPr lang="en-US" altLang="en-US" sz="1800" dirty="0">
                <a:latin typeface="Helvetica Neue" panose="020B0604020202020204" charset="0"/>
              </a:rPr>
              <a:t>:	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600" b="1" dirty="0">
                <a:latin typeface="Helvetica Neue" panose="020B0604020202020204" charset="0"/>
              </a:rPr>
              <a:t>0, 1, 1, 2, 3, 5, 8, 13, 21, 34, ...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dirty="0">
                <a:latin typeface="Helvetica Neue" panose="020B0604020202020204" charset="0"/>
              </a:rPr>
              <a:t>	where each number is the sum of the preceding two.</a:t>
            </a:r>
          </a:p>
          <a:p>
            <a:pPr>
              <a:lnSpc>
                <a:spcPct val="90000"/>
              </a:lnSpc>
            </a:pPr>
            <a:r>
              <a:rPr lang="en-US" altLang="en-US" sz="1800" dirty="0">
                <a:latin typeface="Helvetica Neue" panose="020B0604020202020204" charset="0"/>
              </a:rPr>
              <a:t>Write a function to generate Fibonacci numbers.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71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IN" dirty="0"/>
              <a:t>Fibonacci numbers</a:t>
            </a:r>
          </a:p>
        </p:txBody>
      </p:sp>
    </p:spTree>
    <p:extLst>
      <p:ext uri="{BB962C8B-B14F-4D97-AF65-F5344CB8AC3E}">
        <p14:creationId xmlns:p14="http://schemas.microsoft.com/office/powerpoint/2010/main" val="2494436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US" altLang="en-US" sz="1600" dirty="0"/>
              <a:t>Fibonacci series: 0, 1, 1, 2, 3, 5, 8...</a:t>
            </a:r>
          </a:p>
          <a:p>
            <a:pPr lvl="1"/>
            <a:r>
              <a:rPr lang="en-US" altLang="en-US" sz="1600" dirty="0"/>
              <a:t>fib(0) = 0, fib(1) = 1</a:t>
            </a:r>
          </a:p>
          <a:p>
            <a:pPr lvl="1"/>
            <a:r>
              <a:rPr lang="en-US" altLang="en-US" sz="1600" dirty="0"/>
              <a:t>fib(i+1) = fib(</a:t>
            </a:r>
            <a:r>
              <a:rPr lang="en-US" altLang="en-US" sz="1600" dirty="0" err="1"/>
              <a:t>i</a:t>
            </a:r>
            <a:r>
              <a:rPr lang="en-US" altLang="en-US" sz="1600" dirty="0"/>
              <a:t>) + fib(i-1)</a:t>
            </a:r>
            <a:endParaRPr lang="en-US" altLang="en-US" sz="1400" dirty="0"/>
          </a:p>
          <a:p>
            <a:r>
              <a:rPr lang="en-US" altLang="en-US" sz="1600" dirty="0"/>
              <a:t>Can be solved recursively</a:t>
            </a:r>
          </a:p>
          <a:p>
            <a:pPr lvl="1"/>
            <a:r>
              <a:rPr lang="en-US" altLang="en-US" sz="1600" dirty="0" smtClean="0"/>
              <a:t>fib(n) = fib(n-1) + fib(n-2)</a:t>
            </a:r>
          </a:p>
          <a:p>
            <a:pPr lvl="1"/>
            <a:endParaRPr lang="en-US" altLang="en-US" sz="1600" dirty="0"/>
          </a:p>
          <a:p>
            <a:pPr lvl="1"/>
            <a:endParaRPr lang="en-US" altLang="en-US" sz="1600" dirty="0" smtClean="0"/>
          </a:p>
          <a:p>
            <a:pPr lvl="1"/>
            <a:endParaRPr lang="en-US" altLang="en-US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72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Fibonacci Series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648974"/>
              </p:ext>
            </p:extLst>
          </p:nvPr>
        </p:nvGraphicFramePr>
        <p:xfrm>
          <a:off x="513947" y="3196179"/>
          <a:ext cx="3351471" cy="741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48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3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Input -&gt;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 0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1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2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3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4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Helvetica" panose="020B0604020202020204" pitchFamily="34" charset="0"/>
                        </a:rPr>
                        <a:t>Output-&gt;</a:t>
                      </a:r>
                      <a:endParaRPr lang="en-IN" b="1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 0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1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1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2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Helvetica" panose="020B0604020202020204" pitchFamily="34" charset="0"/>
                        </a:rPr>
                        <a:t>3</a:t>
                      </a:r>
                      <a:endParaRPr lang="en-IN" dirty="0">
                        <a:latin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83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800" dirty="0"/>
              <a:t>long </a:t>
            </a:r>
            <a:r>
              <a:rPr lang="en-US" altLang="en-US" sz="1800" dirty="0" err="1"/>
              <a:t>fibonacci</a:t>
            </a:r>
            <a:r>
              <a:rPr lang="en-US" altLang="en-US" sz="1800" dirty="0"/>
              <a:t>( long n )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800" dirty="0"/>
              <a:t>{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800" dirty="0"/>
              <a:t>	if (n == 0 || n == 1)  // base case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800" dirty="0"/>
              <a:t>    return n;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800" dirty="0"/>
              <a:t>	else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800" dirty="0"/>
              <a:t>    return </a:t>
            </a:r>
            <a:r>
              <a:rPr lang="en-US" altLang="en-US" sz="1800" dirty="0" err="1"/>
              <a:t>fibonacci</a:t>
            </a:r>
            <a:r>
              <a:rPr lang="en-US" altLang="en-US" sz="1800" dirty="0"/>
              <a:t>( n - 1) +</a:t>
            </a:r>
            <a:br>
              <a:rPr lang="en-US" altLang="en-US" sz="1800" dirty="0"/>
            </a:br>
            <a:r>
              <a:rPr lang="en-US" altLang="en-US" sz="1800" dirty="0"/>
              <a:t>     </a:t>
            </a:r>
            <a:r>
              <a:rPr lang="en-US" altLang="en-US" sz="1800" dirty="0" err="1"/>
              <a:t>fibonacci</a:t>
            </a:r>
            <a:r>
              <a:rPr lang="en-US" altLang="en-US" sz="1800" dirty="0"/>
              <a:t>( n – 2 );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800" dirty="0"/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73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Fibonacci Series - recursion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19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208738"/>
            <a:ext cx="8160758" cy="3360300"/>
          </a:xfrm>
        </p:spPr>
        <p:txBody>
          <a:bodyPr>
            <a:normAutofit/>
          </a:bodyPr>
          <a:lstStyle/>
          <a:p>
            <a:r>
              <a:rPr lang="en-IN" sz="1600" dirty="0"/>
              <a:t>What is the number of function calls for say n=3?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74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Fibonacci Series - recursion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20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0312" y="1208738"/>
            <a:ext cx="8870846" cy="33603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en-US" sz="1600" dirty="0"/>
              <a:t>Avoid use of recursive programs which result in an “exponential” explosion of </a:t>
            </a:r>
            <a:r>
              <a:rPr lang="en-US" altLang="en-US" sz="1600" dirty="0" smtClean="0"/>
              <a:t>function calls</a:t>
            </a:r>
            <a:r>
              <a:rPr lang="en-US" altLang="en-US" sz="1600" dirty="0"/>
              <a:t>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75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5450273" cy="793500"/>
          </a:xfrm>
        </p:spPr>
        <p:txBody>
          <a:bodyPr>
            <a:normAutofit/>
          </a:bodyPr>
          <a:lstStyle/>
          <a:p>
            <a:r>
              <a:rPr lang="en-US" altLang="en-US" dirty="0"/>
              <a:t>Programming Tip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25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2289</TotalTime>
  <Words>2495</Words>
  <Application>Microsoft Office PowerPoint</Application>
  <PresentationFormat>On-screen Show (16:9)</PresentationFormat>
  <Paragraphs>748</Paragraphs>
  <Slides>75</Slides>
  <Notes>74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4" baseType="lpstr">
      <vt:lpstr>ＭＳ Ｐゴシック</vt:lpstr>
      <vt:lpstr>Wingdings</vt:lpstr>
      <vt:lpstr>Consolas</vt:lpstr>
      <vt:lpstr>Arial</vt:lpstr>
      <vt:lpstr>Helvetica</vt:lpstr>
      <vt:lpstr>Monotype Sorts</vt:lpstr>
      <vt:lpstr>Helvetica Neue</vt:lpstr>
      <vt:lpstr>Simple Light</vt:lpstr>
      <vt:lpstr>Clip</vt:lpstr>
      <vt:lpstr>Bachelor of Science (Honours) in Data Science and Artificial Intelligence</vt:lpstr>
      <vt:lpstr>Storage class and recursion</vt:lpstr>
      <vt:lpstr>Learning Objectives</vt:lpstr>
      <vt:lpstr>Storage class Scope and lifetime of variables</vt:lpstr>
      <vt:lpstr>Storage Class</vt:lpstr>
      <vt:lpstr>Storage Class</vt:lpstr>
      <vt:lpstr>Storage Class</vt:lpstr>
      <vt:lpstr>Ex: Scope rules</vt:lpstr>
      <vt:lpstr>Scope in nested blocks</vt:lpstr>
      <vt:lpstr>Ex: Scope in nested blocks</vt:lpstr>
      <vt:lpstr>Example: parallel blocks</vt:lpstr>
      <vt:lpstr>Storage class Auto</vt:lpstr>
      <vt:lpstr>Storage Class: auto</vt:lpstr>
      <vt:lpstr>Storage class auto</vt:lpstr>
      <vt:lpstr>Storage class auto</vt:lpstr>
      <vt:lpstr>Ex: automatic variables</vt:lpstr>
      <vt:lpstr>Example: call by value</vt:lpstr>
      <vt:lpstr>Example: call by value</vt:lpstr>
      <vt:lpstr>Example: call by value</vt:lpstr>
      <vt:lpstr>Example: call by value</vt:lpstr>
      <vt:lpstr>Example: call by value</vt:lpstr>
      <vt:lpstr>Example: call by value</vt:lpstr>
      <vt:lpstr>Example: call by value</vt:lpstr>
      <vt:lpstr>Example: call by value</vt:lpstr>
      <vt:lpstr>Limitations of call by value</vt:lpstr>
      <vt:lpstr>Ex: Swap function</vt:lpstr>
      <vt:lpstr>Ex: Swap function</vt:lpstr>
      <vt:lpstr>Ex: Swap function</vt:lpstr>
      <vt:lpstr>What went wrong?</vt:lpstr>
      <vt:lpstr>Storage class Extern</vt:lpstr>
      <vt:lpstr>Storage Class: extern</vt:lpstr>
      <vt:lpstr>Ex: Storage class extern</vt:lpstr>
      <vt:lpstr>Ex: Storage class extern</vt:lpstr>
      <vt:lpstr>Storage Class: extern</vt:lpstr>
      <vt:lpstr>Ex: Storage class extern</vt:lpstr>
      <vt:lpstr>Ex: Using global variables</vt:lpstr>
      <vt:lpstr>PowerPoint Presentation</vt:lpstr>
      <vt:lpstr>PowerPoint Presentation</vt:lpstr>
      <vt:lpstr>Storage class Static</vt:lpstr>
      <vt:lpstr>Storage Class: static</vt:lpstr>
      <vt:lpstr>Storage class static - example</vt:lpstr>
      <vt:lpstr>Storage class static - example</vt:lpstr>
      <vt:lpstr>Storage class static</vt:lpstr>
      <vt:lpstr>Ex2: Using static </vt:lpstr>
      <vt:lpstr>Ex2: Using static </vt:lpstr>
      <vt:lpstr>PowerPoint Presentation</vt:lpstr>
      <vt:lpstr>Storage class static</vt:lpstr>
      <vt:lpstr>Example: static variables</vt:lpstr>
      <vt:lpstr>Storage Class: register</vt:lpstr>
      <vt:lpstr>Register</vt:lpstr>
      <vt:lpstr>Recursion The handshake problem</vt:lpstr>
      <vt:lpstr>The Handshake Problem</vt:lpstr>
      <vt:lpstr>Solution to handshake problem</vt:lpstr>
      <vt:lpstr>Solution to handshake problem</vt:lpstr>
      <vt:lpstr>How does recursion work?</vt:lpstr>
      <vt:lpstr>Recursion definition</vt:lpstr>
      <vt:lpstr>Recursion definition</vt:lpstr>
      <vt:lpstr>Recursion definition</vt:lpstr>
      <vt:lpstr>Recursion Recursion vs. Iteration</vt:lpstr>
      <vt:lpstr>Ex: Using Recursion</vt:lpstr>
      <vt:lpstr>Recursion Example - Factorial</vt:lpstr>
      <vt:lpstr>Factorial Function – Recursive Version</vt:lpstr>
      <vt:lpstr>Recursion limitations</vt:lpstr>
      <vt:lpstr>Recursion limitations</vt:lpstr>
      <vt:lpstr>Recursion vs. Iteration</vt:lpstr>
      <vt:lpstr>Recursion vs. Iteration</vt:lpstr>
      <vt:lpstr>Recursion vs. Iteration</vt:lpstr>
      <vt:lpstr>Recursion When not to use recursion</vt:lpstr>
      <vt:lpstr>The rabbit problem</vt:lpstr>
      <vt:lpstr>Example of the rabbit problem</vt:lpstr>
      <vt:lpstr>Fibonacci numbers</vt:lpstr>
      <vt:lpstr>Fibonacci Series</vt:lpstr>
      <vt:lpstr>Fibonacci Series - recursion</vt:lpstr>
      <vt:lpstr>Fibonacci Series - recursion</vt:lpstr>
      <vt:lpstr>Programming Tip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Ashok Singh</dc:creator>
  <cp:lastModifiedBy>Ashok Singh Sairam</cp:lastModifiedBy>
  <cp:revision>66</cp:revision>
  <dcterms:modified xsi:type="dcterms:W3CDTF">2024-09-20T13:41:00Z</dcterms:modified>
</cp:coreProperties>
</file>